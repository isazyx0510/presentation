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607E319-0FEF-4486-A5AD-94F3180314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7B1AC2-17E5-4594-838C-3766581A1C32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B847F-2359-4EF0-880E-5E5B39CCC02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3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DETR 网络架构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2CD1D-A40B-400A-90B7-74EF1119F1A9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从观测张量到路径参数估计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6466BE-1C42-446C-A93E-ECF6EEFBFD4D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输入观测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N_sc x N_obs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F2C9B99-5154-45F5-90E4-CF3318B3BB94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7CAB6D-0A7B-4B33-A457-C08EA921BA3D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局部特征 + 通道投影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8EC3C4F-8CEB-402D-A656-43700B705D3F}"/>
              </a:ext>
            </a:extLst>
          </p:cNvPr>
          <p:cNvSpPr>
            <a:spLocks noGrp="1"/>
          </p:cNvSpPr>
          <p:nvPr/>
        </p:nvSpPr>
        <p:spPr>
          <a:xfrm>
            <a:off x="472440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521B9A-2C62-4936-8A74-212F2D7C044F}"/>
              </a:ext>
            </a:extLst>
          </p:cNvPr>
          <p:cNvSpPr>
            <a:spLocks noGrp="1"/>
          </p:cNvSpPr>
          <p:nvPr/>
        </p:nvSpPr>
        <p:spPr>
          <a:xfrm>
            <a:off x="54102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 / Decoder attention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3485785-0F7C-48D4-8039-5C77CCB9FAC9}"/>
              </a:ext>
            </a:extLst>
          </p:cNvPr>
          <p:cNvSpPr>
            <a:spLocks noGrp="1"/>
          </p:cNvSpPr>
          <p:nvPr/>
        </p:nvSpPr>
        <p:spPr>
          <a:xfrm>
            <a:off x="699135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95A8CE-4DBC-4316-8F79-CF3BF814B275}"/>
              </a:ext>
            </a:extLst>
          </p:cNvPr>
          <p:cNvSpPr>
            <a:spLocks noGrp="1"/>
          </p:cNvSpPr>
          <p:nvPr/>
        </p:nvSpPr>
        <p:spPr>
          <a:xfrm>
            <a:off x="767715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84653DA-AF09-4968-ABEE-67B3BA641253}"/>
              </a:ext>
            </a:extLst>
          </p:cNvPr>
          <p:cNvSpPr>
            <a:spLocks noGrp="1"/>
          </p:cNvSpPr>
          <p:nvPr/>
        </p:nvSpPr>
        <p:spPr>
          <a:xfrm>
            <a:off x="9258300" y="3419475"/>
            <a:ext cx="6096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BBA2AA-CD5D-4BEF-809D-63F9CB870970}"/>
              </a:ext>
            </a:extLst>
          </p:cNvPr>
          <p:cNvSpPr>
            <a:spLocks noGrp="1"/>
          </p:cNvSpPr>
          <p:nvPr/>
        </p:nvSpPr>
        <p:spPr>
          <a:xfrm>
            <a:off x="9944100" y="3048000"/>
            <a:ext cx="1524000" cy="895350"/>
          </a:xfrm>
          <a:prstGeom prst="roundRect">
            <a:avLst>
              <a:gd name="adj" fmla="val 85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输出参数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theta, alpha, path_prob, mix_lambda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91C7E4-C66D-4010-8B6F-3F4D36B4EF62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展示策略：先看浅层数据流，再展开 CNN stem、attention 和各参数 head；G head 当前不作为使用路径展开。</a:t>
            </a:r>
          </a:p>
        </p:txBody>
      </p:sp>
    </p:spTree>
    <p:extLst>
      <p:ext uri="{BB962C8B-B14F-4D97-AF65-F5344CB8AC3E}">
        <p14:creationId xmlns:p14="http://schemas.microsoft.com/office/powerpoint/2010/main" val="169871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4525A52-695E-4E64-8AE5-F109E346B0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79E0BB-4D26-4287-A863-04C570D6C281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59B765-D67A-40F9-8D30-290F2986E90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主干视图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B8247E-EB28-43FD-A75E-6D049CE1D8D4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整体浅层数据流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E9ADF-9655-4CB5-B10D-3225EF3FD914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307ECB-93A9-4906-A6C3-D60A34CA2900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</a:t>
            </a:r>
            <a:endParaRPr sz="915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  y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1D4ED15-31D3-4836-BA98-320FC0A8491F}"/>
              </a:ext>
            </a:extLst>
          </p:cNvPr>
          <p:cNvSpPr>
            <a:spLocks noGrp="1"/>
          </p:cNvSpPr>
          <p:nvPr/>
        </p:nvSpPr>
        <p:spPr>
          <a:xfrm>
            <a:off x="176212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97DA-FB91-43F8-81C6-BA8ECF960C00}"/>
              </a:ext>
            </a:extLst>
          </p:cNvPr>
          <p:cNvSpPr>
            <a:spLocks noGrp="1"/>
          </p:cNvSpPr>
          <p:nvPr/>
        </p:nvSpPr>
        <p:spPr>
          <a:xfrm>
            <a:off x="147637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x: B x 2N_rx x N_sc x N_obs</a:t>
            </a:r>
          </a:p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y: training targets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05EA6A-C118-4BF2-9B29-B3F55E606055}"/>
              </a:ext>
            </a:extLst>
          </p:cNvPr>
          <p:cNvSpPr>
            <a:spLocks noGrp="1"/>
          </p:cNvSpPr>
          <p:nvPr/>
        </p:nvSpPr>
        <p:spPr>
          <a:xfrm>
            <a:off x="194310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局部特征 + 通道投影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738FC7D-F7DD-4E16-AA45-1868C14FB3C9}"/>
              </a:ext>
            </a:extLst>
          </p:cNvPr>
          <p:cNvSpPr>
            <a:spLocks noGrp="1"/>
          </p:cNvSpPr>
          <p:nvPr/>
        </p:nvSpPr>
        <p:spPr>
          <a:xfrm>
            <a:off x="319087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39CFD3-3E77-4E14-8E0D-E11ED8C8A6C5}"/>
              </a:ext>
            </a:extLst>
          </p:cNvPr>
          <p:cNvSpPr>
            <a:spLocks noGrp="1"/>
          </p:cNvSpPr>
          <p:nvPr/>
        </p:nvSpPr>
        <p:spPr>
          <a:xfrm>
            <a:off x="290512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fmap: B x d_model x N_sc x N_obs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D60F9B-CE72-44D4-AE9A-F8A0A51A5809}"/>
              </a:ext>
            </a:extLst>
          </p:cNvPr>
          <p:cNvSpPr>
            <a:spLocks noGrp="1"/>
          </p:cNvSpPr>
          <p:nvPr/>
        </p:nvSpPr>
        <p:spPr>
          <a:xfrm>
            <a:off x="337185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+ Pos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二维 grid -&gt; token 序列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9D4F6E6-A160-4670-88C4-BA9772D97CF9}"/>
              </a:ext>
            </a:extLst>
          </p:cNvPr>
          <p:cNvSpPr>
            <a:spLocks noGrp="1"/>
          </p:cNvSpPr>
          <p:nvPr/>
        </p:nvSpPr>
        <p:spPr>
          <a:xfrm>
            <a:off x="461962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E6F036-EEC9-4BEE-8FCF-91E9C56B9188}"/>
              </a:ext>
            </a:extLst>
          </p:cNvPr>
          <p:cNvSpPr>
            <a:spLocks noGrp="1"/>
          </p:cNvSpPr>
          <p:nvPr/>
        </p:nvSpPr>
        <p:spPr>
          <a:xfrm>
            <a:off x="433387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fseq: B x T x d_model</a:t>
            </a:r>
          </a:p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 = N_sc x N_obs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7970A7-2A90-4BE0-AC00-EBD24005BFFD}"/>
              </a:ext>
            </a:extLst>
          </p:cNvPr>
          <p:cNvSpPr>
            <a:spLocks noGrp="1"/>
          </p:cNvSpPr>
          <p:nvPr/>
        </p:nvSpPr>
        <p:spPr>
          <a:xfrm>
            <a:off x="480060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self-attn over T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1333BE0-BF63-494C-A32F-029FF3A58F41}"/>
              </a:ext>
            </a:extLst>
          </p:cNvPr>
          <p:cNvSpPr>
            <a:spLocks noGrp="1"/>
          </p:cNvSpPr>
          <p:nvPr/>
        </p:nvSpPr>
        <p:spPr>
          <a:xfrm>
            <a:off x="604837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D53AC0-C171-445B-820F-DB5AC7FDB59B}"/>
              </a:ext>
            </a:extLst>
          </p:cNvPr>
          <p:cNvSpPr>
            <a:spLocks noGrp="1"/>
          </p:cNvSpPr>
          <p:nvPr/>
        </p:nvSpPr>
        <p:spPr>
          <a:xfrm>
            <a:off x="576262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memory: B x T x d_model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5C38EB-6956-4B08-A4B8-EEC5A83FBD22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queries attend memory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48A51EB-937B-4674-8D12-C12E5E7D8EBF}"/>
              </a:ext>
            </a:extLst>
          </p:cNvPr>
          <p:cNvSpPr>
            <a:spLocks noGrp="1"/>
          </p:cNvSpPr>
          <p:nvPr/>
        </p:nvSpPr>
        <p:spPr>
          <a:xfrm>
            <a:off x="747712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935173-3500-4324-89EB-FC814A96C9C9}"/>
              </a:ext>
            </a:extLst>
          </p:cNvPr>
          <p:cNvSpPr>
            <a:spLocks noGrp="1"/>
          </p:cNvSpPr>
          <p:nvPr/>
        </p:nvSpPr>
        <p:spPr>
          <a:xfrm>
            <a:off x="719137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decoded: B x q x d_model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31E2DC-4E1D-4D71-A3AB-3872F2CDBCC1}"/>
              </a:ext>
            </a:extLst>
          </p:cNvPr>
          <p:cNvSpPr>
            <a:spLocks noGrp="1"/>
          </p:cNvSpPr>
          <p:nvPr/>
        </p:nvSpPr>
        <p:spPr>
          <a:xfrm>
            <a:off x="765810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C2523C8-8A6C-4DE8-A61F-71A9DD4BE449}"/>
              </a:ext>
            </a:extLst>
          </p:cNvPr>
          <p:cNvSpPr>
            <a:spLocks noGrp="1"/>
          </p:cNvSpPr>
          <p:nvPr/>
        </p:nvSpPr>
        <p:spPr>
          <a:xfrm>
            <a:off x="890587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3C8BCE-7FB8-4F9C-B206-0A8F897805D4}"/>
              </a:ext>
            </a:extLst>
          </p:cNvPr>
          <p:cNvSpPr>
            <a:spLocks noGrp="1"/>
          </p:cNvSpPr>
          <p:nvPr/>
        </p:nvSpPr>
        <p:spPr>
          <a:xfrm>
            <a:off x="862012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candidates: B x q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376C68-BE21-4932-A17B-3672E6B084C6}"/>
              </a:ext>
            </a:extLst>
          </p:cNvPr>
          <p:cNvSpPr>
            <a:spLocks noGrp="1"/>
          </p:cNvSpPr>
          <p:nvPr/>
        </p:nvSpPr>
        <p:spPr>
          <a:xfrm>
            <a:off x="908685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+ Gauge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 L_eff 条路径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424254F4-93E9-41E3-86D0-A85D9F458DC2}"/>
              </a:ext>
            </a:extLst>
          </p:cNvPr>
          <p:cNvSpPr>
            <a:spLocks noGrp="1"/>
          </p:cNvSpPr>
          <p:nvPr/>
        </p:nvSpPr>
        <p:spPr>
          <a:xfrm>
            <a:off x="10334625" y="2657475"/>
            <a:ext cx="161925" cy="952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7D38DA-21A1-4D80-90E0-98B6A432535C}"/>
              </a:ext>
            </a:extLst>
          </p:cNvPr>
          <p:cNvSpPr>
            <a:spLocks noGrp="1"/>
          </p:cNvSpPr>
          <p:nvPr/>
        </p:nvSpPr>
        <p:spPr>
          <a:xfrm>
            <a:off x="10048875" y="3181350"/>
            <a:ext cx="97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selected: B x L_eff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4350F9-1810-42BD-AE76-4B08D6EE57A3}"/>
              </a:ext>
            </a:extLst>
          </p:cNvPr>
          <p:cNvSpPr>
            <a:spLocks noGrp="1"/>
          </p:cNvSpPr>
          <p:nvPr/>
        </p:nvSpPr>
        <p:spPr>
          <a:xfrm>
            <a:off x="10515600" y="2266950"/>
            <a:ext cx="1219200" cy="781050"/>
          </a:xfrm>
          <a:prstGeom prst="roundRect">
            <a:avLst>
              <a:gd name="adj" fmla="val 9756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  <a:p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+ scores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50F05AB-9534-46DB-A633-5CC83EF17227}"/>
              </a:ext>
            </a:extLst>
          </p:cNvPr>
          <p:cNvSpPr>
            <a:spLocks noGrp="1"/>
          </p:cNvSpPr>
          <p:nvPr/>
        </p:nvSpPr>
        <p:spPr>
          <a:xfrm>
            <a:off x="8267700" y="4876800"/>
            <a:ext cx="2571750" cy="704850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 w="19050">
            <a:solidFill>
              <a:srgbClr val="9AA3AF"/>
            </a:solidFill>
            <a:prstDash val="dash"/>
          </a:ln>
        </p:spPr>
        <p:txBody>
          <a:bodyPr lIns="95250" tIns="57150" rIns="95250" bIns="57150" anchor="ctr"/>
          <a:lstStyle/>
          <a:p>
            <a:pPr algn="ctr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 / gains_all</a:t>
            </a:r>
          </a:p>
          <a:p>
            <a:pPr algn="ctr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后续不使用，本稿不展开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5FDD7F-E9CA-4517-A7FF-6F93D8010E91}"/>
              </a:ext>
            </a:extLst>
          </p:cNvPr>
          <p:cNvSpPr>
            <a:spLocks noGrp="1"/>
          </p:cNvSpPr>
          <p:nvPr/>
        </p:nvSpPr>
        <p:spPr>
          <a:xfrm>
            <a:off x="762000" y="49053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CED8B8-1095-4160-B622-F6C47C1883C1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611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浅层流动只保留当前使用路径，避免把不使用的 G 分支误讲成核心输出。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3E98CB4-4FC8-45BF-898C-21EE00349599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E0AF5E-3866-4266-9563-720F90CF64AC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6115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连接处标注该步骤的输入/输出维度：grid 表示进入 token 表示，再回到 L_eff 条路径参数。</a:t>
            </a:r>
          </a:p>
        </p:txBody>
      </p:sp>
    </p:spTree>
    <p:extLst>
      <p:ext uri="{BB962C8B-B14F-4D97-AF65-F5344CB8AC3E}">
        <p14:creationId xmlns:p14="http://schemas.microsoft.com/office/powerpoint/2010/main" val="2025706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FB3D5F6E-5472-4872-9AB6-9F83526C8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CB1AAC-8FA6-4148-96C6-3AD02BB89FD1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F443E9-D497-44E4-BC7C-AE714757537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符号和物理口径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25067-2548-4EBE-B30E-A75F16E132D7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输入与配置参数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F901A1-B2C7-4F9E-BFF0-82E4BEC276E1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0235FE-6AE9-49A6-99F0-B4D0D8466277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x</a:t>
            </a:r>
          </a:p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N_sc x N_obs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84AB6E-DD09-40B0-9C2E-8BF61E00D13B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D509D-6C44-4119-8CCE-0D8E86BB56D9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B: batch size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C8CE7A-E889-4AA3-A111-548101199D54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4DDD6A-BF0D-4D0F-BB6B-240920A0FA77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2N_rx: 每个接收端复数观测拆成实部/虚部通道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ACBC39-D3FC-47EC-812B-020077314E49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7E9684-627C-458D-A341-97903ABD2CDF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N_obs: 子载波/观测符号二维网格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626B89-0823-408A-B640-44065073CB00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0A5EE1-4E2E-4E8F-9F1D-232BACE3B234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4305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shape check 不匹配时抛出 ValueError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9F399-3A36-4D92-B97D-69B34B0AB722}"/>
              </a:ext>
            </a:extLst>
          </p:cNvPr>
          <p:cNvSpPr>
            <a:spLocks noGrp="1"/>
          </p:cNvSpPr>
          <p:nvPr/>
        </p:nvSpPr>
        <p:spPr>
          <a:xfrm>
            <a:off x="4857750" y="1600200"/>
            <a:ext cx="113157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443F56-F6EB-4AAA-9A02-98CDE77F8F55}"/>
              </a:ext>
            </a:extLst>
          </p:cNvPr>
          <p:cNvSpPr>
            <a:spLocks noGrp="1"/>
          </p:cNvSpPr>
          <p:nvPr/>
        </p:nvSpPr>
        <p:spPr>
          <a:xfrm>
            <a:off x="4933950" y="16478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符号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E3CEBF-EBB9-4FEB-8309-5DE949EA6805}"/>
              </a:ext>
            </a:extLst>
          </p:cNvPr>
          <p:cNvSpPr>
            <a:spLocks noGrp="1"/>
          </p:cNvSpPr>
          <p:nvPr/>
        </p:nvSpPr>
        <p:spPr>
          <a:xfrm>
            <a:off x="5989320" y="1600200"/>
            <a:ext cx="264033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AAF8C6-5C43-41A5-91BE-F8B4F22EF83B}"/>
              </a:ext>
            </a:extLst>
          </p:cNvPr>
          <p:cNvSpPr>
            <a:spLocks noGrp="1"/>
          </p:cNvSpPr>
          <p:nvPr/>
        </p:nvSpPr>
        <p:spPr>
          <a:xfrm>
            <a:off x="6065520" y="16478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A192E8-6229-44B0-A59D-622FB7AD76B8}"/>
              </a:ext>
            </a:extLst>
          </p:cNvPr>
          <p:cNvSpPr>
            <a:spLocks noGrp="1"/>
          </p:cNvSpPr>
          <p:nvPr/>
        </p:nvSpPr>
        <p:spPr>
          <a:xfrm>
            <a:off x="8629650" y="1600200"/>
            <a:ext cx="2514600" cy="43815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54BD65-A29C-434B-BFAD-2E7E592797D9}"/>
              </a:ext>
            </a:extLst>
          </p:cNvPr>
          <p:cNvSpPr>
            <a:spLocks noGrp="1"/>
          </p:cNvSpPr>
          <p:nvPr/>
        </p:nvSpPr>
        <p:spPr>
          <a:xfrm>
            <a:off x="8705850" y="16478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维度角色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9E033-4D0D-43DD-836F-BC3DA63C41C2}"/>
              </a:ext>
            </a:extLst>
          </p:cNvPr>
          <p:cNvSpPr>
            <a:spLocks noGrp="1"/>
          </p:cNvSpPr>
          <p:nvPr/>
        </p:nvSpPr>
        <p:spPr>
          <a:xfrm>
            <a:off x="4857750" y="20383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E155FA-1CC7-4006-ACE1-05BC344AC8A8}"/>
              </a:ext>
            </a:extLst>
          </p:cNvPr>
          <p:cNvSpPr>
            <a:spLocks noGrp="1"/>
          </p:cNvSpPr>
          <p:nvPr/>
        </p:nvSpPr>
        <p:spPr>
          <a:xfrm>
            <a:off x="4933950" y="20859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N_rx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3DD622-D33C-4B26-90AF-37C4190EBE15}"/>
              </a:ext>
            </a:extLst>
          </p:cNvPr>
          <p:cNvSpPr>
            <a:spLocks noGrp="1"/>
          </p:cNvSpPr>
          <p:nvPr/>
        </p:nvSpPr>
        <p:spPr>
          <a:xfrm>
            <a:off x="5989320" y="20383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06B233-4E86-4E42-8394-EFE9E4D04249}"/>
              </a:ext>
            </a:extLst>
          </p:cNvPr>
          <p:cNvSpPr>
            <a:spLocks noGrp="1"/>
          </p:cNvSpPr>
          <p:nvPr/>
        </p:nvSpPr>
        <p:spPr>
          <a:xfrm>
            <a:off x="6065520" y="20859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接收端数量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C3F578-F809-45D4-B648-0E0B3A2861FB}"/>
              </a:ext>
            </a:extLst>
          </p:cNvPr>
          <p:cNvSpPr>
            <a:spLocks noGrp="1"/>
          </p:cNvSpPr>
          <p:nvPr/>
        </p:nvSpPr>
        <p:spPr>
          <a:xfrm>
            <a:off x="8629650" y="20383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DDFAD6-68B3-4087-9797-293F30B81224}"/>
              </a:ext>
            </a:extLst>
          </p:cNvPr>
          <p:cNvSpPr>
            <a:spLocks noGrp="1"/>
          </p:cNvSpPr>
          <p:nvPr/>
        </p:nvSpPr>
        <p:spPr>
          <a:xfrm>
            <a:off x="8705850" y="20859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输入通道和 delta_rx 输出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9DFD2E-8549-4899-9739-A8CA7A2B23D0}"/>
              </a:ext>
            </a:extLst>
          </p:cNvPr>
          <p:cNvSpPr>
            <a:spLocks noGrp="1"/>
          </p:cNvSpPr>
          <p:nvPr/>
        </p:nvSpPr>
        <p:spPr>
          <a:xfrm>
            <a:off x="4857750" y="24765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64EB4-4A27-4EED-978C-DBB4224749DC}"/>
              </a:ext>
            </a:extLst>
          </p:cNvPr>
          <p:cNvSpPr>
            <a:spLocks noGrp="1"/>
          </p:cNvSpPr>
          <p:nvPr/>
        </p:nvSpPr>
        <p:spPr>
          <a:xfrm>
            <a:off x="4933950" y="25241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N_tx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280B60-DDF3-4451-A18A-65015B856A79}"/>
              </a:ext>
            </a:extLst>
          </p:cNvPr>
          <p:cNvSpPr>
            <a:spLocks noGrp="1"/>
          </p:cNvSpPr>
          <p:nvPr/>
        </p:nvSpPr>
        <p:spPr>
          <a:xfrm>
            <a:off x="5989320" y="24765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C48732-6FC5-4A3A-844E-B6609ACF9959}"/>
              </a:ext>
            </a:extLst>
          </p:cNvPr>
          <p:cNvSpPr>
            <a:spLocks noGrp="1"/>
          </p:cNvSpPr>
          <p:nvPr/>
        </p:nvSpPr>
        <p:spPr>
          <a:xfrm>
            <a:off x="6065520" y="25241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发送端数量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5D696A-390B-44BD-ADBD-DFBE226AABEB}"/>
              </a:ext>
            </a:extLst>
          </p:cNvPr>
          <p:cNvSpPr>
            <a:spLocks noGrp="1"/>
          </p:cNvSpPr>
          <p:nvPr/>
        </p:nvSpPr>
        <p:spPr>
          <a:xfrm>
            <a:off x="8629650" y="24765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6B713A-CB71-4058-A49A-B5ABCAA325AC}"/>
              </a:ext>
            </a:extLst>
          </p:cNvPr>
          <p:cNvSpPr>
            <a:spLocks noGrp="1"/>
          </p:cNvSpPr>
          <p:nvPr/>
        </p:nvSpPr>
        <p:spPr>
          <a:xfrm>
            <a:off x="8705850" y="25241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保留为配置符号，本稿不展开 G 分支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B6CFB6-5251-4DEC-AB56-1B2D731F6F77}"/>
              </a:ext>
            </a:extLst>
          </p:cNvPr>
          <p:cNvSpPr>
            <a:spLocks noGrp="1"/>
          </p:cNvSpPr>
          <p:nvPr/>
        </p:nvSpPr>
        <p:spPr>
          <a:xfrm>
            <a:off x="4857750" y="29146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481914-1F56-4271-BCBA-686DC32915E8}"/>
              </a:ext>
            </a:extLst>
          </p:cNvPr>
          <p:cNvSpPr>
            <a:spLocks noGrp="1"/>
          </p:cNvSpPr>
          <p:nvPr/>
        </p:nvSpPr>
        <p:spPr>
          <a:xfrm>
            <a:off x="4933950" y="29622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N_sc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CFC72C-2877-41C4-9202-E15486F2C207}"/>
              </a:ext>
            </a:extLst>
          </p:cNvPr>
          <p:cNvSpPr>
            <a:spLocks noGrp="1"/>
          </p:cNvSpPr>
          <p:nvPr/>
        </p:nvSpPr>
        <p:spPr>
          <a:xfrm>
            <a:off x="5989320" y="29146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BB6C66-3160-471E-904B-E18ABB58D18F}"/>
              </a:ext>
            </a:extLst>
          </p:cNvPr>
          <p:cNvSpPr>
            <a:spLocks noGrp="1"/>
          </p:cNvSpPr>
          <p:nvPr/>
        </p:nvSpPr>
        <p:spPr>
          <a:xfrm>
            <a:off x="6065520" y="29622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子载波数量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F8C1AB-C168-44BA-B0D1-C49CE2C41DEA}"/>
              </a:ext>
            </a:extLst>
          </p:cNvPr>
          <p:cNvSpPr>
            <a:spLocks noGrp="1"/>
          </p:cNvSpPr>
          <p:nvPr/>
        </p:nvSpPr>
        <p:spPr>
          <a:xfrm>
            <a:off x="8629650" y="29146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CB0705-23E6-44E0-AFE8-7B998A1F4FB5}"/>
              </a:ext>
            </a:extLst>
          </p:cNvPr>
          <p:cNvSpPr>
            <a:spLocks noGrp="1"/>
          </p:cNvSpPr>
          <p:nvPr/>
        </p:nvSpPr>
        <p:spPr>
          <a:xfrm>
            <a:off x="8705850" y="29622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高度 / pos_k 长度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D37294-C1F9-465E-BF6C-4FD1530D0904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FF045A-1790-4848-A991-3EAADD4B7593}"/>
              </a:ext>
            </a:extLst>
          </p:cNvPr>
          <p:cNvSpPr>
            <a:spLocks noGrp="1"/>
          </p:cNvSpPr>
          <p:nvPr/>
        </p:nvSpPr>
        <p:spPr>
          <a:xfrm>
            <a:off x="4933950" y="34004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N_obs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E063DB-A45C-4519-A053-9464F007DCEC}"/>
              </a:ext>
            </a:extLst>
          </p:cNvPr>
          <p:cNvSpPr>
            <a:spLocks noGrp="1"/>
          </p:cNvSpPr>
          <p:nvPr/>
        </p:nvSpPr>
        <p:spPr>
          <a:xfrm>
            <a:off x="5989320" y="33528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97672C-926D-4E46-83C9-0D3E9CBEA53A}"/>
              </a:ext>
            </a:extLst>
          </p:cNvPr>
          <p:cNvSpPr>
            <a:spLocks noGrp="1"/>
          </p:cNvSpPr>
          <p:nvPr/>
        </p:nvSpPr>
        <p:spPr>
          <a:xfrm>
            <a:off x="6065520" y="34004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observedSymbols 长度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749508-071D-4E2F-9109-EC4AAE9E3818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2738D20-D68D-468C-90FA-CE2794267653}"/>
              </a:ext>
            </a:extLst>
          </p:cNvPr>
          <p:cNvSpPr>
            <a:spLocks noGrp="1"/>
          </p:cNvSpPr>
          <p:nvPr/>
        </p:nvSpPr>
        <p:spPr>
          <a:xfrm>
            <a:off x="8705850" y="34004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宽度 / pos_n 长度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A1B554-9AAF-4947-A0D2-B5F7846E5C30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EB0301-5A4A-403C-A545-E0F892868711}"/>
              </a:ext>
            </a:extLst>
          </p:cNvPr>
          <p:cNvSpPr>
            <a:spLocks noGrp="1"/>
          </p:cNvSpPr>
          <p:nvPr/>
        </p:nvSpPr>
        <p:spPr>
          <a:xfrm>
            <a:off x="4933950" y="38385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L_eff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761431-AB72-46E6-942E-F63B95F83A87}"/>
              </a:ext>
            </a:extLst>
          </p:cNvPr>
          <p:cNvSpPr>
            <a:spLocks noGrp="1"/>
          </p:cNvSpPr>
          <p:nvPr/>
        </p:nvSpPr>
        <p:spPr>
          <a:xfrm>
            <a:off x="5989320" y="37909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099936-985E-4827-A12E-5A6DA10F90B3}"/>
              </a:ext>
            </a:extLst>
          </p:cNvPr>
          <p:cNvSpPr>
            <a:spLocks noGrp="1"/>
          </p:cNvSpPr>
          <p:nvPr/>
        </p:nvSpPr>
        <p:spPr>
          <a:xfrm>
            <a:off x="6065520" y="38385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有效路径数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225761D-1BA6-4FA2-995F-54A1FA88D44D}"/>
              </a:ext>
            </a:extLst>
          </p:cNvPr>
          <p:cNvSpPr>
            <a:spLocks noGrp="1"/>
          </p:cNvSpPr>
          <p:nvPr/>
        </p:nvSpPr>
        <p:spPr>
          <a:xfrm>
            <a:off x="8629650" y="37909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A8EE9D-18E9-4B12-8A70-739BD08EA1D7}"/>
              </a:ext>
            </a:extLst>
          </p:cNvPr>
          <p:cNvSpPr>
            <a:spLocks noGrp="1"/>
          </p:cNvSpPr>
          <p:nvPr/>
        </p:nvSpPr>
        <p:spPr>
          <a:xfrm>
            <a:off x="8705850" y="38385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top-k 输出路径数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8FD796-8E2C-4506-8E6B-B217B9FA24EC}"/>
              </a:ext>
            </a:extLst>
          </p:cNvPr>
          <p:cNvSpPr>
            <a:spLocks noGrp="1"/>
          </p:cNvSpPr>
          <p:nvPr/>
        </p:nvSpPr>
        <p:spPr>
          <a:xfrm>
            <a:off x="4857750" y="4229100"/>
            <a:ext cx="113157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073329-A265-49A1-B480-FACE4DF0D9B8}"/>
              </a:ext>
            </a:extLst>
          </p:cNvPr>
          <p:cNvSpPr>
            <a:spLocks noGrp="1"/>
          </p:cNvSpPr>
          <p:nvPr/>
        </p:nvSpPr>
        <p:spPr>
          <a:xfrm>
            <a:off x="4933950" y="427672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d_model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3595CB-2169-4115-881D-C863DE5D9F2E}"/>
              </a:ext>
            </a:extLst>
          </p:cNvPr>
          <p:cNvSpPr>
            <a:spLocks noGrp="1"/>
          </p:cNvSpPr>
          <p:nvPr/>
        </p:nvSpPr>
        <p:spPr>
          <a:xfrm>
            <a:off x="5989320" y="4229100"/>
            <a:ext cx="264033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C5CDB0-E03C-40E4-B2B6-DD6A6971595C}"/>
              </a:ext>
            </a:extLst>
          </p:cNvPr>
          <p:cNvSpPr>
            <a:spLocks noGrp="1"/>
          </p:cNvSpPr>
          <p:nvPr/>
        </p:nvSpPr>
        <p:spPr>
          <a:xfrm>
            <a:off x="6065520" y="427672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Transformer 隐空间维度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E06D93-8668-4D29-A3A7-54914105BA9B}"/>
              </a:ext>
            </a:extLst>
          </p:cNvPr>
          <p:cNvSpPr>
            <a:spLocks noGrp="1"/>
          </p:cNvSpPr>
          <p:nvPr/>
        </p:nvSpPr>
        <p:spPr>
          <a:xfrm>
            <a:off x="8629650" y="4229100"/>
            <a:ext cx="2514600" cy="43815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87F716-980A-4455-AAD5-DE2BDF67C301}"/>
              </a:ext>
            </a:extLst>
          </p:cNvPr>
          <p:cNvSpPr>
            <a:spLocks noGrp="1"/>
          </p:cNvSpPr>
          <p:nvPr/>
        </p:nvSpPr>
        <p:spPr>
          <a:xfrm>
            <a:off x="8705850" y="427672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输出通道和 token 宽度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414FC90-6117-4354-A29C-B1084C704381}"/>
              </a:ext>
            </a:extLst>
          </p:cNvPr>
          <p:cNvSpPr>
            <a:spLocks noGrp="1"/>
          </p:cNvSpPr>
          <p:nvPr/>
        </p:nvSpPr>
        <p:spPr>
          <a:xfrm>
            <a:off x="4857750" y="4667250"/>
            <a:ext cx="113157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9FA473-228C-4362-AE55-E27A2605739D}"/>
              </a:ext>
            </a:extLst>
          </p:cNvPr>
          <p:cNvSpPr>
            <a:spLocks noGrp="1"/>
          </p:cNvSpPr>
          <p:nvPr/>
        </p:nvSpPr>
        <p:spPr>
          <a:xfrm>
            <a:off x="4933950" y="4714875"/>
            <a:ext cx="97917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q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E885EB-74EB-4C65-A987-DB7A67374EF0}"/>
              </a:ext>
            </a:extLst>
          </p:cNvPr>
          <p:cNvSpPr>
            <a:spLocks noGrp="1"/>
          </p:cNvSpPr>
          <p:nvPr/>
        </p:nvSpPr>
        <p:spPr>
          <a:xfrm>
            <a:off x="5989320" y="4667250"/>
            <a:ext cx="264033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74B838-130E-40E7-9B38-0BBCE89FD29D}"/>
              </a:ext>
            </a:extLst>
          </p:cNvPr>
          <p:cNvSpPr>
            <a:spLocks noGrp="1"/>
          </p:cNvSpPr>
          <p:nvPr/>
        </p:nvSpPr>
        <p:spPr>
          <a:xfrm>
            <a:off x="6065520" y="4714875"/>
            <a:ext cx="248793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query 数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952EFE5-D306-461C-9F29-2F0BED4B714B}"/>
              </a:ext>
            </a:extLst>
          </p:cNvPr>
          <p:cNvSpPr>
            <a:spLocks noGrp="1"/>
          </p:cNvSpPr>
          <p:nvPr/>
        </p:nvSpPr>
        <p:spPr>
          <a:xfrm>
            <a:off x="8629650" y="4667250"/>
            <a:ext cx="25146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6D5254C-CE92-433F-80F7-294FE5BA5BF9}"/>
              </a:ext>
            </a:extLst>
          </p:cNvPr>
          <p:cNvSpPr>
            <a:spLocks noGrp="1"/>
          </p:cNvSpPr>
          <p:nvPr/>
        </p:nvSpPr>
        <p:spPr>
          <a:xfrm>
            <a:off x="8705850" y="4714875"/>
            <a:ext cx="23622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max(L_eff, detrNumQueries)</a:t>
            </a:r>
          </a:p>
        </p:txBody>
      </p:sp>
    </p:spTree>
    <p:extLst>
      <p:ext uri="{BB962C8B-B14F-4D97-AF65-F5344CB8AC3E}">
        <p14:creationId xmlns:p14="http://schemas.microsoft.com/office/powerpoint/2010/main" val="20325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267C40C-40A5-4679-A405-7430F81512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DC981-4C21-4515-BD40-9E5E58DB8C1A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15A5F-7892-469C-B855-3ADB4C58C56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从二维观测网格到序列 token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F5A87-6D38-40B5-BCF1-7DB76397155A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Tensor Layout 与 Tokenization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9D69A1-1819-4A80-86C3-79CD3700606D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23976E-88FD-4E71-B702-5BC02DC41DAD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x N_sc x N_obs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2484D8-1488-4641-A017-0020AE60A849}"/>
              </a:ext>
            </a:extLst>
          </p:cNvPr>
          <p:cNvSpPr>
            <a:spLocks noGrp="1"/>
          </p:cNvSpPr>
          <p:nvPr/>
        </p:nvSpPr>
        <p:spPr>
          <a:xfrm>
            <a:off x="4000500" y="1885950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permute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N_sc x N_obs x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4AD795-3629-4F0E-8709-C42E5EB30D48}"/>
              </a:ext>
            </a:extLst>
          </p:cNvPr>
          <p:cNvSpPr>
            <a:spLocks noGrp="1"/>
          </p:cNvSpPr>
          <p:nvPr/>
        </p:nvSpPr>
        <p:spPr>
          <a:xfrm>
            <a:off x="7258050" y="1809750"/>
            <a:ext cx="2857500" cy="1009650"/>
          </a:xfrm>
          <a:prstGeom prst="roundRect">
            <a:avLst>
              <a:gd name="adj" fmla="val 7547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to tokens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 = N_sc x N_obs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fseq: B x T x d_model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07FFF1A-1595-4B8D-B5F2-73E7E5498D84}"/>
              </a:ext>
            </a:extLst>
          </p:cNvPr>
          <p:cNvSpPr>
            <a:spLocks noGrp="1"/>
          </p:cNvSpPr>
          <p:nvPr/>
        </p:nvSpPr>
        <p:spPr>
          <a:xfrm>
            <a:off x="3257550" y="2238375"/>
            <a:ext cx="6858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71FD449-D7EF-4B4B-9AA9-03713BCFF957}"/>
              </a:ext>
            </a:extLst>
          </p:cNvPr>
          <p:cNvSpPr>
            <a:spLocks noGrp="1"/>
          </p:cNvSpPr>
          <p:nvPr/>
        </p:nvSpPr>
        <p:spPr>
          <a:xfrm>
            <a:off x="6515100" y="2238375"/>
            <a:ext cx="6858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F50F40-27DC-4400-A389-9BF839B52B9B}"/>
              </a:ext>
            </a:extLst>
          </p:cNvPr>
          <p:cNvSpPr>
            <a:spLocks noGrp="1"/>
          </p:cNvSpPr>
          <p:nvPr/>
        </p:nvSpPr>
        <p:spPr>
          <a:xfrm>
            <a:off x="12763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94ACC9-7005-4373-88B2-FF3F1C4A8F3F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A65B6C-38FB-4142-A957-6667488C7DBD}"/>
              </a:ext>
            </a:extLst>
          </p:cNvPr>
          <p:cNvSpPr>
            <a:spLocks noGrp="1"/>
          </p:cNvSpPr>
          <p:nvPr/>
        </p:nvSpPr>
        <p:spPr>
          <a:xfrm>
            <a:off x="18478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D81966-C7BB-4819-B51B-C7AA25366B8D}"/>
              </a:ext>
            </a:extLst>
          </p:cNvPr>
          <p:cNvSpPr>
            <a:spLocks noGrp="1"/>
          </p:cNvSpPr>
          <p:nvPr/>
        </p:nvSpPr>
        <p:spPr>
          <a:xfrm>
            <a:off x="21336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8B4345-18B5-4BEB-ACED-A264C0ADF2CE}"/>
              </a:ext>
            </a:extLst>
          </p:cNvPr>
          <p:cNvSpPr>
            <a:spLocks noGrp="1"/>
          </p:cNvSpPr>
          <p:nvPr/>
        </p:nvSpPr>
        <p:spPr>
          <a:xfrm>
            <a:off x="241935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E17BA1-2502-474B-BB75-68EAADC6BA5F}"/>
              </a:ext>
            </a:extLst>
          </p:cNvPr>
          <p:cNvSpPr>
            <a:spLocks noGrp="1"/>
          </p:cNvSpPr>
          <p:nvPr/>
        </p:nvSpPr>
        <p:spPr>
          <a:xfrm>
            <a:off x="2705100" y="37338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E56CEB-C14C-442A-8423-210E9C913868}"/>
              </a:ext>
            </a:extLst>
          </p:cNvPr>
          <p:cNvSpPr>
            <a:spLocks noGrp="1"/>
          </p:cNvSpPr>
          <p:nvPr/>
        </p:nvSpPr>
        <p:spPr>
          <a:xfrm>
            <a:off x="12763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58C2AF-2A99-41A1-9F37-3BB384CCC569}"/>
              </a:ext>
            </a:extLst>
          </p:cNvPr>
          <p:cNvSpPr>
            <a:spLocks noGrp="1"/>
          </p:cNvSpPr>
          <p:nvPr/>
        </p:nvSpPr>
        <p:spPr>
          <a:xfrm>
            <a:off x="15621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A534E-0B6C-4757-B0EA-46B197F1D09E}"/>
              </a:ext>
            </a:extLst>
          </p:cNvPr>
          <p:cNvSpPr>
            <a:spLocks noGrp="1"/>
          </p:cNvSpPr>
          <p:nvPr/>
        </p:nvSpPr>
        <p:spPr>
          <a:xfrm>
            <a:off x="18478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F51DB5-D612-4FB3-94F6-0F409CF07C14}"/>
              </a:ext>
            </a:extLst>
          </p:cNvPr>
          <p:cNvSpPr>
            <a:spLocks noGrp="1"/>
          </p:cNvSpPr>
          <p:nvPr/>
        </p:nvSpPr>
        <p:spPr>
          <a:xfrm>
            <a:off x="21336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1A72F4-5D3D-45FA-810E-5629CC26EAF1}"/>
              </a:ext>
            </a:extLst>
          </p:cNvPr>
          <p:cNvSpPr>
            <a:spLocks noGrp="1"/>
          </p:cNvSpPr>
          <p:nvPr/>
        </p:nvSpPr>
        <p:spPr>
          <a:xfrm>
            <a:off x="241935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AD1180-B4AD-49B5-9357-DCCEA4AD5CC0}"/>
              </a:ext>
            </a:extLst>
          </p:cNvPr>
          <p:cNvSpPr>
            <a:spLocks noGrp="1"/>
          </p:cNvSpPr>
          <p:nvPr/>
        </p:nvSpPr>
        <p:spPr>
          <a:xfrm>
            <a:off x="2705100" y="40195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AE3003-0F1B-43DF-BAA7-A15008A1B031}"/>
              </a:ext>
            </a:extLst>
          </p:cNvPr>
          <p:cNvSpPr>
            <a:spLocks noGrp="1"/>
          </p:cNvSpPr>
          <p:nvPr/>
        </p:nvSpPr>
        <p:spPr>
          <a:xfrm>
            <a:off x="12763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80FDC2-488C-4506-872F-164F4CE0602B}"/>
              </a:ext>
            </a:extLst>
          </p:cNvPr>
          <p:cNvSpPr>
            <a:spLocks noGrp="1"/>
          </p:cNvSpPr>
          <p:nvPr/>
        </p:nvSpPr>
        <p:spPr>
          <a:xfrm>
            <a:off x="15621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D0B7A4-755A-46FE-8971-4C45FC45160D}"/>
              </a:ext>
            </a:extLst>
          </p:cNvPr>
          <p:cNvSpPr>
            <a:spLocks noGrp="1"/>
          </p:cNvSpPr>
          <p:nvPr/>
        </p:nvSpPr>
        <p:spPr>
          <a:xfrm>
            <a:off x="18478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BEFAF9-F9A1-4BCB-A2F6-52DA243CE9DA}"/>
              </a:ext>
            </a:extLst>
          </p:cNvPr>
          <p:cNvSpPr>
            <a:spLocks noGrp="1"/>
          </p:cNvSpPr>
          <p:nvPr/>
        </p:nvSpPr>
        <p:spPr>
          <a:xfrm>
            <a:off x="21336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D37175-EE73-4DD9-8FD7-43547CF50BB0}"/>
              </a:ext>
            </a:extLst>
          </p:cNvPr>
          <p:cNvSpPr>
            <a:spLocks noGrp="1"/>
          </p:cNvSpPr>
          <p:nvPr/>
        </p:nvSpPr>
        <p:spPr>
          <a:xfrm>
            <a:off x="241935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63631B-1AC1-4B5D-9F5B-6C58A9D77664}"/>
              </a:ext>
            </a:extLst>
          </p:cNvPr>
          <p:cNvSpPr>
            <a:spLocks noGrp="1"/>
          </p:cNvSpPr>
          <p:nvPr/>
        </p:nvSpPr>
        <p:spPr>
          <a:xfrm>
            <a:off x="2705100" y="4305300"/>
            <a:ext cx="228600" cy="228600"/>
          </a:xfrm>
          <a:prstGeom prst="rect">
            <a:avLst/>
          </a:prstGeom>
          <a:solidFill>
            <a:srgbClr val="B7DCEA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77CDF5-81E3-4140-BC70-4455FCD38BD6}"/>
              </a:ext>
            </a:extLst>
          </p:cNvPr>
          <p:cNvSpPr>
            <a:spLocks noGrp="1"/>
          </p:cNvSpPr>
          <p:nvPr/>
        </p:nvSpPr>
        <p:spPr>
          <a:xfrm>
            <a:off x="12763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13767E-A59B-47AD-83BE-0CF387360878}"/>
              </a:ext>
            </a:extLst>
          </p:cNvPr>
          <p:cNvSpPr>
            <a:spLocks noGrp="1"/>
          </p:cNvSpPr>
          <p:nvPr/>
        </p:nvSpPr>
        <p:spPr>
          <a:xfrm>
            <a:off x="15621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035F0D-05CF-43DF-B715-6D3A7C199971}"/>
              </a:ext>
            </a:extLst>
          </p:cNvPr>
          <p:cNvSpPr>
            <a:spLocks noGrp="1"/>
          </p:cNvSpPr>
          <p:nvPr/>
        </p:nvSpPr>
        <p:spPr>
          <a:xfrm>
            <a:off x="18478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4B5287-43FB-4176-BDA5-4468DD8DCA98}"/>
              </a:ext>
            </a:extLst>
          </p:cNvPr>
          <p:cNvSpPr>
            <a:spLocks noGrp="1"/>
          </p:cNvSpPr>
          <p:nvPr/>
        </p:nvSpPr>
        <p:spPr>
          <a:xfrm>
            <a:off x="21336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B680E3-0907-45E6-B523-EA0212BF0C20}"/>
              </a:ext>
            </a:extLst>
          </p:cNvPr>
          <p:cNvSpPr>
            <a:spLocks noGrp="1"/>
          </p:cNvSpPr>
          <p:nvPr/>
        </p:nvSpPr>
        <p:spPr>
          <a:xfrm>
            <a:off x="241935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60767E-ADCA-4F18-A0D5-77FF8777AB97}"/>
              </a:ext>
            </a:extLst>
          </p:cNvPr>
          <p:cNvSpPr>
            <a:spLocks noGrp="1"/>
          </p:cNvSpPr>
          <p:nvPr/>
        </p:nvSpPr>
        <p:spPr>
          <a:xfrm>
            <a:off x="2705100" y="4591050"/>
            <a:ext cx="228600" cy="22860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129EEA-50F7-4D31-B511-4B65FAC7A1DD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 grid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AF5720E-9A42-4B6D-8EED-643C73F608A1}"/>
              </a:ext>
            </a:extLst>
          </p:cNvPr>
          <p:cNvSpPr>
            <a:spLocks noGrp="1"/>
          </p:cNvSpPr>
          <p:nvPr/>
        </p:nvSpPr>
        <p:spPr>
          <a:xfrm>
            <a:off x="3676650" y="4248150"/>
            <a:ext cx="12287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A78073-6EEE-4D73-BDC8-417353F99152}"/>
              </a:ext>
            </a:extLst>
          </p:cNvPr>
          <p:cNvSpPr>
            <a:spLocks noGrp="1"/>
          </p:cNvSpPr>
          <p:nvPr/>
        </p:nvSpPr>
        <p:spPr>
          <a:xfrm>
            <a:off x="52197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47F533-019C-41DE-ADB8-5BDFA6578FE6}"/>
              </a:ext>
            </a:extLst>
          </p:cNvPr>
          <p:cNvSpPr>
            <a:spLocks noGrp="1"/>
          </p:cNvSpPr>
          <p:nvPr/>
        </p:nvSpPr>
        <p:spPr>
          <a:xfrm>
            <a:off x="55435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3E53E3-A3C9-4B51-9955-239342AEBDFF}"/>
              </a:ext>
            </a:extLst>
          </p:cNvPr>
          <p:cNvSpPr>
            <a:spLocks noGrp="1"/>
          </p:cNvSpPr>
          <p:nvPr/>
        </p:nvSpPr>
        <p:spPr>
          <a:xfrm>
            <a:off x="58674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D5FEC75-550C-4279-8045-A5E8BA597A3A}"/>
              </a:ext>
            </a:extLst>
          </p:cNvPr>
          <p:cNvSpPr>
            <a:spLocks noGrp="1"/>
          </p:cNvSpPr>
          <p:nvPr/>
        </p:nvSpPr>
        <p:spPr>
          <a:xfrm>
            <a:off x="61912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25C326-AAB4-4B8E-B5B8-502B2893B026}"/>
              </a:ext>
            </a:extLst>
          </p:cNvPr>
          <p:cNvSpPr>
            <a:spLocks noGrp="1"/>
          </p:cNvSpPr>
          <p:nvPr/>
        </p:nvSpPr>
        <p:spPr>
          <a:xfrm>
            <a:off x="65151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B190A9-7246-4BEE-A6D6-3ED554114384}"/>
              </a:ext>
            </a:extLst>
          </p:cNvPr>
          <p:cNvSpPr>
            <a:spLocks noGrp="1"/>
          </p:cNvSpPr>
          <p:nvPr/>
        </p:nvSpPr>
        <p:spPr>
          <a:xfrm>
            <a:off x="68389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1553FB-ACEE-4C38-8CF0-EC2CB80D71E1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C9AA35-CB13-401A-9763-6672F07E3D52}"/>
              </a:ext>
            </a:extLst>
          </p:cNvPr>
          <p:cNvSpPr>
            <a:spLocks noGrp="1"/>
          </p:cNvSpPr>
          <p:nvPr/>
        </p:nvSpPr>
        <p:spPr>
          <a:xfrm>
            <a:off x="74866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FE6C9A-2AAE-48FF-98E5-9F152555FA6A}"/>
              </a:ext>
            </a:extLst>
          </p:cNvPr>
          <p:cNvSpPr>
            <a:spLocks noGrp="1"/>
          </p:cNvSpPr>
          <p:nvPr/>
        </p:nvSpPr>
        <p:spPr>
          <a:xfrm>
            <a:off x="781050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E0CAAE-8CBB-4A6D-A7CE-C6689247A430}"/>
              </a:ext>
            </a:extLst>
          </p:cNvPr>
          <p:cNvSpPr>
            <a:spLocks noGrp="1"/>
          </p:cNvSpPr>
          <p:nvPr/>
        </p:nvSpPr>
        <p:spPr>
          <a:xfrm>
            <a:off x="8134350" y="4124325"/>
            <a:ext cx="266700" cy="400050"/>
          </a:xfrm>
          <a:prstGeom prst="rect">
            <a:avLst/>
          </a:prstGeom>
          <a:solidFill>
            <a:srgbClr val="D8ECF4"/>
          </a:solidFill>
          <a:ln w="9525">
            <a:solidFill>
              <a:srgbClr val="7FB5CA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58BB36-0DE9-450D-A2EE-2796B8AF23A9}"/>
              </a:ext>
            </a:extLst>
          </p:cNvPr>
          <p:cNvSpPr>
            <a:spLocks noGrp="1"/>
          </p:cNvSpPr>
          <p:nvPr/>
        </p:nvSpPr>
        <p:spPr>
          <a:xfrm>
            <a:off x="5067300" y="501015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 tokens, each token width = d_model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5BFA04-082F-46A6-A830-2E9072978D85}"/>
              </a:ext>
            </a:extLst>
          </p:cNvPr>
          <p:cNvSpPr>
            <a:spLocks noGrp="1"/>
          </p:cNvSpPr>
          <p:nvPr/>
        </p:nvSpPr>
        <p:spPr>
          <a:xfrm>
            <a:off x="8286750" y="40481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00FA3E-456A-48E8-BF4C-7C320DBC1949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68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Tokenization 不改变 batch B；只是把二维位置展开成 Transformer 可处理的序列。</a:t>
            </a:r>
          </a:p>
        </p:txBody>
      </p:sp>
    </p:spTree>
    <p:extLst>
      <p:ext uri="{BB962C8B-B14F-4D97-AF65-F5344CB8AC3E}">
        <p14:creationId xmlns:p14="http://schemas.microsoft.com/office/powerpoint/2010/main" val="148118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A4CB61D-08CE-4CDA-8274-07D5E293F2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989D89-BBD6-427A-AEF5-FB6B5E60A266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CB138-6397-4F98-9DD4-7A9ED7692CC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局部特征提取与通道投影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4F367-8DA7-4F80-AA28-8F57EF8229B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CNN Stem 设计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D9AE95-EC00-44BE-B323-37D54694F2F1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E6D67F-0A42-4A0A-BADB-9847318DF3C8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1619250" cy="742950"/>
          </a:xfrm>
          <a:prstGeom prst="roundRect">
            <a:avLst>
              <a:gd name="adj" fmla="val 10256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channels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50B772-CDBF-4162-B06C-2E6369E51051}"/>
              </a:ext>
            </a:extLst>
          </p:cNvPr>
          <p:cNvSpPr>
            <a:spLocks noGrp="1"/>
          </p:cNvSpPr>
          <p:nvPr/>
        </p:nvSpPr>
        <p:spPr>
          <a:xfrm>
            <a:off x="3238500" y="2343150"/>
            <a:ext cx="2000250" cy="1009650"/>
          </a:xfrm>
          <a:prstGeom prst="roundRect">
            <a:avLst>
              <a:gd name="adj" fmla="val 7547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 -&gt;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7EAECB-D6F1-4400-A7D7-6CBABF18DEBA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1104900" cy="742950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1BF187-ED24-46FC-98F0-CBB0581FD952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133600" cy="1009650"/>
          </a:xfrm>
          <a:prstGeom prst="roundRect">
            <a:avLst>
              <a:gd name="adj" fmla="val 7547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 -&gt;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978BE9-9DF0-47C5-ACB8-D2B5AADA1351}"/>
              </a:ext>
            </a:extLst>
          </p:cNvPr>
          <p:cNvSpPr>
            <a:spLocks noGrp="1"/>
          </p:cNvSpPr>
          <p:nvPr/>
        </p:nvSpPr>
        <p:spPr>
          <a:xfrm>
            <a:off x="9858375" y="2476500"/>
            <a:ext cx="1200150" cy="742950"/>
          </a:xfrm>
          <a:prstGeom prst="roundRect">
            <a:avLst>
              <a:gd name="adj" fmla="val 10256"/>
            </a:avLst>
          </a:prstGeom>
          <a:solidFill>
            <a:srgbClr val="FFE08A"/>
          </a:solidFill>
          <a:ln w="19050">
            <a:solidFill>
              <a:srgbClr val="B7791F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  <a:p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037380A-D534-4049-81C0-BD54B2CD6E8E}"/>
              </a:ext>
            </a:extLst>
          </p:cNvPr>
          <p:cNvSpPr>
            <a:spLocks noGrp="1"/>
          </p:cNvSpPr>
          <p:nvPr/>
        </p:nvSpPr>
        <p:spPr>
          <a:xfrm>
            <a:off x="2524125" y="2771775"/>
            <a:ext cx="67627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CCA6A45-029D-4647-B72E-BB048DFB00FD}"/>
              </a:ext>
            </a:extLst>
          </p:cNvPr>
          <p:cNvSpPr>
            <a:spLocks noGrp="1"/>
          </p:cNvSpPr>
          <p:nvPr/>
        </p:nvSpPr>
        <p:spPr>
          <a:xfrm>
            <a:off x="5238750" y="2771775"/>
            <a:ext cx="3810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0A1E1CC-FD07-4FED-A031-D83C8487AC81}"/>
              </a:ext>
            </a:extLst>
          </p:cNvPr>
          <p:cNvSpPr>
            <a:spLocks noGrp="1"/>
          </p:cNvSpPr>
          <p:nvPr/>
        </p:nvSpPr>
        <p:spPr>
          <a:xfrm>
            <a:off x="6772275" y="2771775"/>
            <a:ext cx="4286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7CFFA2-2714-4137-B912-5D315E7F50F9}"/>
              </a:ext>
            </a:extLst>
          </p:cNvPr>
          <p:cNvSpPr>
            <a:spLocks noGrp="1"/>
          </p:cNvSpPr>
          <p:nvPr/>
        </p:nvSpPr>
        <p:spPr>
          <a:xfrm>
            <a:off x="9372600" y="2771775"/>
            <a:ext cx="4381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DDFAA-CBB3-4B2F-922F-AD7DEF019ABE}"/>
              </a:ext>
            </a:extLst>
          </p:cNvPr>
          <p:cNvSpPr>
            <a:spLocks noGrp="1"/>
          </p:cNvSpPr>
          <p:nvPr/>
        </p:nvSpPr>
        <p:spPr>
          <a:xfrm>
            <a:off x="3390900" y="37147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空间网格保持：N_sc x N_obs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33949-F494-4BB2-BD66-3E690226357B}"/>
              </a:ext>
            </a:extLst>
          </p:cNvPr>
          <p:cNvSpPr>
            <a:spLocks noGrp="1"/>
          </p:cNvSpPr>
          <p:nvPr/>
        </p:nvSpPr>
        <p:spPr>
          <a:xfrm>
            <a:off x="7181850" y="371475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输出维度：B x d_model x N_sc x N_obs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39CA01-0C30-45B8-AA5E-84F9484E94D3}"/>
              </a:ext>
            </a:extLst>
          </p:cNvPr>
          <p:cNvSpPr>
            <a:spLocks noGrp="1"/>
          </p:cNvSpPr>
          <p:nvPr/>
        </p:nvSpPr>
        <p:spPr>
          <a:xfrm>
            <a:off x="1123950" y="4733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FABCB3-1732-4D35-9586-D97859FF0827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第一层把复数接收通道映射到模型维度。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3590AB-46F1-4196-B2F1-862A0216F99D}"/>
              </a:ext>
            </a:extLst>
          </p:cNvPr>
          <p:cNvSpPr>
            <a:spLocks noGrp="1"/>
          </p:cNvSpPr>
          <p:nvPr/>
        </p:nvSpPr>
        <p:spPr>
          <a:xfrm>
            <a:off x="1123950" y="5114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8BFD08-8AF1-408A-844D-7AD15FC27F9D}"/>
              </a:ext>
            </a:extLst>
          </p:cNvPr>
          <p:cNvSpPr>
            <a:spLocks noGrp="1"/>
          </p:cNvSpPr>
          <p:nvPr/>
        </p:nvSpPr>
        <p:spPr>
          <a:xfrm>
            <a:off x="1295400" y="5067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第二层在 d_model 通道空间内继续提取局部模式。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B70AF0-6597-4CD7-9750-095CA26CF232}"/>
              </a:ext>
            </a:extLst>
          </p:cNvPr>
          <p:cNvSpPr>
            <a:spLocks noGrp="1"/>
          </p:cNvSpPr>
          <p:nvPr/>
        </p:nvSpPr>
        <p:spPr>
          <a:xfrm>
            <a:off x="1123950" y="54959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7B4E33-7AF0-4A9E-84C4-9267005B7A70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8401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不展平 grid，为后续二维位置编码保留 N_sc 与 N_obs 结构。</a:t>
            </a:r>
          </a:p>
        </p:txBody>
      </p:sp>
    </p:spTree>
    <p:extLst>
      <p:ext uri="{BB962C8B-B14F-4D97-AF65-F5344CB8AC3E}">
        <p14:creationId xmlns:p14="http://schemas.microsoft.com/office/powerpoint/2010/main" val="126554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C41BD3B-D13C-4ABC-A7AA-F4966EC224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569A42-BF07-4628-834B-D7148939F595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882704-6824-4EDC-97DF-0B1A8047DD8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 grid 坐标注入 token 序列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59A89-9D29-4A18-BAF3-C3E3854EFC53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二维位置编码与 Encoder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B826F-FB45-4BE0-ACBB-C8E11686922A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FBB343-DC6E-411A-B46B-2F2C920F1A15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pos_k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d_model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DCCF28-8162-438F-ABB2-9C14E548258C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 x d_model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BBAB66-E30D-484B-89ED-9D090CDC03D3}"/>
              </a:ext>
            </a:extLst>
          </p:cNvPr>
          <p:cNvSpPr>
            <a:spLocks noGrp="1"/>
          </p:cNvSpPr>
          <p:nvPr/>
        </p:nvSpPr>
        <p:spPr>
          <a:xfrm>
            <a:off x="3571875" y="2343150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broadcast add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N_obs x d_model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2603B9-C797-43C6-89FF-C88B6335E487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2286000" cy="876300"/>
          </a:xfrm>
          <a:prstGeom prst="roundRect">
            <a:avLst>
              <a:gd name="adj" fmla="val 869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+ unsqueeze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pos: 1 x T x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C28DD2-7EB7-4D3E-92AD-5A20079FC98B}"/>
              </a:ext>
            </a:extLst>
          </p:cNvPr>
          <p:cNvSpPr>
            <a:spLocks noGrp="1"/>
          </p:cNvSpPr>
          <p:nvPr/>
        </p:nvSpPr>
        <p:spPr>
          <a:xfrm>
            <a:off x="4514850" y="411480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encoder_input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C17B62-3C85-4309-8830-BA9FF097ACA8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2667000" cy="952500"/>
          </a:xfrm>
          <a:prstGeom prst="roundRect">
            <a:avLst>
              <a:gd name="adj" fmla="val 8000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 Encoder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 attention over T tokens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D9C908-7799-4626-A3D3-E79FCAEEC734}"/>
              </a:ext>
            </a:extLst>
          </p:cNvPr>
          <p:cNvSpPr>
            <a:spLocks noGrp="1"/>
          </p:cNvSpPr>
          <p:nvPr/>
        </p:nvSpPr>
        <p:spPr>
          <a:xfrm>
            <a:off x="8096250" y="5429250"/>
            <a:ext cx="1752600" cy="552450"/>
          </a:xfrm>
          <a:prstGeom prst="roundRect">
            <a:avLst>
              <a:gd name="adj" fmla="val 1379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502B46F-C996-4768-A9F3-145E91BCD0D4}"/>
              </a:ext>
            </a:extLst>
          </p:cNvPr>
          <p:cNvSpPr>
            <a:spLocks noGrp="1"/>
          </p:cNvSpPr>
          <p:nvPr/>
        </p:nvSpPr>
        <p:spPr>
          <a:xfrm>
            <a:off x="2762250" y="2257425"/>
            <a:ext cx="752475" cy="37147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775DDCF-CA79-4B9A-8538-9D2E51200CA3}"/>
              </a:ext>
            </a:extLst>
          </p:cNvPr>
          <p:cNvSpPr>
            <a:spLocks noGrp="1"/>
          </p:cNvSpPr>
          <p:nvPr/>
        </p:nvSpPr>
        <p:spPr>
          <a:xfrm>
            <a:off x="2762250" y="2914650"/>
            <a:ext cx="752475" cy="371475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2CFA177-C4E6-41EB-AA8C-79A28D24566F}"/>
              </a:ext>
            </a:extLst>
          </p:cNvPr>
          <p:cNvSpPr>
            <a:spLocks noGrp="1"/>
          </p:cNvSpPr>
          <p:nvPr/>
        </p:nvSpPr>
        <p:spPr>
          <a:xfrm>
            <a:off x="6076950" y="2705100"/>
            <a:ext cx="6286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A9200DE-F60E-47AE-95F1-B1357C7D6EDD}"/>
              </a:ext>
            </a:extLst>
          </p:cNvPr>
          <p:cNvSpPr>
            <a:spLocks noGrp="1"/>
          </p:cNvSpPr>
          <p:nvPr/>
        </p:nvSpPr>
        <p:spPr>
          <a:xfrm>
            <a:off x="6457950" y="3238500"/>
            <a:ext cx="1447800" cy="8572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F6CC837-0E9E-4116-A4B9-E69CCCD7B553}"/>
              </a:ext>
            </a:extLst>
          </p:cNvPr>
          <p:cNvSpPr>
            <a:spLocks noGrp="1"/>
          </p:cNvSpPr>
          <p:nvPr/>
        </p:nvSpPr>
        <p:spPr>
          <a:xfrm>
            <a:off x="6619875" y="4381500"/>
            <a:ext cx="847725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7D6EDA5D-3834-43F2-B159-81085745FED9}"/>
              </a:ext>
            </a:extLst>
          </p:cNvPr>
          <p:cNvSpPr>
            <a:spLocks noGrp="1"/>
          </p:cNvSpPr>
          <p:nvPr/>
        </p:nvSpPr>
        <p:spPr>
          <a:xfrm>
            <a:off x="8782050" y="4972050"/>
            <a:ext cx="152400" cy="41910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DC4EA9C-6622-4ACE-9FC0-729C748C6BEC}"/>
              </a:ext>
            </a:extLst>
          </p:cNvPr>
          <p:cNvSpPr>
            <a:spLocks noGrp="1"/>
          </p:cNvSpPr>
          <p:nvPr/>
        </p:nvSpPr>
        <p:spPr>
          <a:xfrm>
            <a:off x="1181100" y="49434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93B41E-6412-4295-BBA8-2927439A7897}"/>
              </a:ext>
            </a:extLst>
          </p:cNvPr>
          <p:cNvSpPr>
            <a:spLocks noGrp="1"/>
          </p:cNvSpPr>
          <p:nvPr/>
        </p:nvSpPr>
        <p:spPr>
          <a:xfrm>
            <a:off x="1352550" y="48958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位置编码是 learnable parameter；这里没有使用 _sincos_pos。</a:t>
            </a:r>
          </a:p>
        </p:txBody>
      </p:sp>
    </p:spTree>
    <p:extLst>
      <p:ext uri="{BB962C8B-B14F-4D97-AF65-F5344CB8AC3E}">
        <p14:creationId xmlns:p14="http://schemas.microsoft.com/office/powerpoint/2010/main" val="1878707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00AB7B7-9CFD-4F7F-A1F2-FB666065E5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4A2D9-C7DB-4D4F-9295-E011E4BAE7A3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516348-4CBD-45D2-98D0-3CA17F4F132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memory 中查询候选路径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8E5AD0-8012-4996-A58F-A44F4FD5D6F8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Learnable Queries 与 Decoder Attention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E7E72-EFEB-4D3D-929D-CB3A1A051EBA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E36619-F4D2-45E3-9018-C985E3DF802C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parameters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x d_model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0F24EF-F5BC-4336-B486-4599E553CEBA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266950" cy="857250"/>
          </a:xfrm>
          <a:prstGeom prst="roundRect">
            <a:avLst>
              <a:gd name="adj" fmla="val 888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unsqueeze + expand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queries: B x q x d_model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EE1FD1C-7B67-430E-9191-732466373F67}"/>
              </a:ext>
            </a:extLst>
          </p:cNvPr>
          <p:cNvSpPr>
            <a:spLocks noGrp="1"/>
          </p:cNvSpPr>
          <p:nvPr/>
        </p:nvSpPr>
        <p:spPr>
          <a:xfrm>
            <a:off x="1847850" y="2571750"/>
            <a:ext cx="152400" cy="53340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B3C6D7-8ED4-44F2-99CE-49C76E0775E0}"/>
              </a:ext>
            </a:extLst>
          </p:cNvPr>
          <p:cNvSpPr>
            <a:spLocks noGrp="1"/>
          </p:cNvSpPr>
          <p:nvPr/>
        </p:nvSpPr>
        <p:spPr>
          <a:xfrm>
            <a:off x="4591050" y="1809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0B23D9-832D-47EB-A9DB-F925EBE295FD}"/>
              </a:ext>
            </a:extLst>
          </p:cNvPr>
          <p:cNvSpPr>
            <a:spLocks noGrp="1"/>
          </p:cNvSpPr>
          <p:nvPr/>
        </p:nvSpPr>
        <p:spPr>
          <a:xfrm>
            <a:off x="4305300" y="3143250"/>
            <a:ext cx="272415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 self-attention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exchange information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68C64E-7E5C-4CFC-8BBF-3DF02D801E4F}"/>
              </a:ext>
            </a:extLst>
          </p:cNvPr>
          <p:cNvSpPr>
            <a:spLocks noGrp="1"/>
          </p:cNvSpPr>
          <p:nvPr/>
        </p:nvSpPr>
        <p:spPr>
          <a:xfrm>
            <a:off x="7543800" y="31432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CDB4DB"/>
          </a:solidFill>
          <a:ln w="19050">
            <a:solidFill>
              <a:srgbClr val="6D28D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Cross-attention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attend encoder memory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2C6761-FF07-4972-B3EF-696CFAD5A957}"/>
              </a:ext>
            </a:extLst>
          </p:cNvPr>
          <p:cNvSpPr>
            <a:spLocks noGrp="1"/>
          </p:cNvSpPr>
          <p:nvPr/>
        </p:nvSpPr>
        <p:spPr>
          <a:xfrm>
            <a:off x="8096250" y="4819650"/>
            <a:ext cx="2000250" cy="723900"/>
          </a:xfrm>
          <a:prstGeom prst="roundRect">
            <a:avLst>
              <a:gd name="adj" fmla="val 1052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053805B-0C8E-4065-B6F6-CDAB55F2D2D0}"/>
              </a:ext>
            </a:extLst>
          </p:cNvPr>
          <p:cNvSpPr>
            <a:spLocks noGrp="1"/>
          </p:cNvSpPr>
          <p:nvPr/>
        </p:nvSpPr>
        <p:spPr>
          <a:xfrm>
            <a:off x="3162300" y="3495675"/>
            <a:ext cx="10858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F6F2AB8-7524-4779-A7C3-EC1D3854DBEE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1943100" cy="9144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451DDB8-3E9F-46CB-A87C-F9D6F4C6056B}"/>
              </a:ext>
            </a:extLst>
          </p:cNvPr>
          <p:cNvSpPr>
            <a:spLocks noGrp="1"/>
          </p:cNvSpPr>
          <p:nvPr/>
        </p:nvSpPr>
        <p:spPr>
          <a:xfrm>
            <a:off x="7048500" y="3495675"/>
            <a:ext cx="4381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06DF1BD-77FA-43C8-80F2-CBC79ECC38C5}"/>
              </a:ext>
            </a:extLst>
          </p:cNvPr>
          <p:cNvSpPr>
            <a:spLocks noGrp="1"/>
          </p:cNvSpPr>
          <p:nvPr/>
        </p:nvSpPr>
        <p:spPr>
          <a:xfrm>
            <a:off x="8896350" y="4000500"/>
            <a:ext cx="152400" cy="7810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0DDAAE-D9E1-41DB-ABA1-82BF5F5791C3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590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q 是候选路径槽位数；每个槽位最终会通过 heads 预测路径相关参数。</a:t>
            </a:r>
          </a:p>
        </p:txBody>
      </p:sp>
    </p:spTree>
    <p:extLst>
      <p:ext uri="{BB962C8B-B14F-4D97-AF65-F5344CB8AC3E}">
        <p14:creationId xmlns:p14="http://schemas.microsoft.com/office/powerpoint/2010/main" val="56661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8FCD711-34E3-4530-AF6D-18118E1018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F790E-AD44-4447-9B9F-F7C70FDD8C2A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017D2D-34B6-4359-8DCF-F3B271FFF65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decoded -&gt; alpha / objectness / rho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EAD06-B521-496F-BEC8-0FCAB5FD291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路径存在性与基础参数 Heads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586F9-9328-435F-89DB-E82E9F3A5B19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9565DF-4243-4550-994F-2AA2536DADD0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00250" cy="895350"/>
          </a:xfrm>
          <a:prstGeom prst="roundRect">
            <a:avLst>
              <a:gd name="adj" fmla="val 85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38C371-17A3-4272-9897-595EA9E55D2A}"/>
              </a:ext>
            </a:extLst>
          </p:cNvPr>
          <p:cNvSpPr>
            <a:spLocks noGrp="1"/>
          </p:cNvSpPr>
          <p:nvPr/>
        </p:nvSpPr>
        <p:spPr>
          <a:xfrm>
            <a:off x="3905250" y="180975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softplus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3CD155-1084-4204-8ACB-DBBA8D621E4F}"/>
              </a:ext>
            </a:extLst>
          </p:cNvPr>
          <p:cNvSpPr>
            <a:spLocks noGrp="1"/>
          </p:cNvSpPr>
          <p:nvPr/>
        </p:nvSpPr>
        <p:spPr>
          <a:xfrm>
            <a:off x="7810500" y="18669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00F17FA-EF3D-4C7A-921A-A016257BB995}"/>
              </a:ext>
            </a:extLst>
          </p:cNvPr>
          <p:cNvSpPr>
            <a:spLocks noGrp="1"/>
          </p:cNvSpPr>
          <p:nvPr/>
        </p:nvSpPr>
        <p:spPr>
          <a:xfrm>
            <a:off x="2724150" y="2209800"/>
            <a:ext cx="1123950" cy="96202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B73A677-974B-4FC9-9477-86B4B82EABF9}"/>
              </a:ext>
            </a:extLst>
          </p:cNvPr>
          <p:cNvSpPr>
            <a:spLocks noGrp="1"/>
          </p:cNvSpPr>
          <p:nvPr/>
        </p:nvSpPr>
        <p:spPr>
          <a:xfrm>
            <a:off x="6419850" y="213360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3C7492-FB45-4C01-8893-70DC494E8102}"/>
              </a:ext>
            </a:extLst>
          </p:cNvPr>
          <p:cNvSpPr>
            <a:spLocks noGrp="1"/>
          </p:cNvSpPr>
          <p:nvPr/>
        </p:nvSpPr>
        <p:spPr>
          <a:xfrm>
            <a:off x="3905250" y="304800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obj_head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9A1569-3A2A-47F4-922A-876AFD7BD774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58279AB-66D7-44A2-B758-C76100D4B2B1}"/>
              </a:ext>
            </a:extLst>
          </p:cNvPr>
          <p:cNvSpPr>
            <a:spLocks noGrp="1"/>
          </p:cNvSpPr>
          <p:nvPr/>
        </p:nvSpPr>
        <p:spPr>
          <a:xfrm>
            <a:off x="2724150" y="3171825"/>
            <a:ext cx="1123950" cy="27622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CE82C69-0C7F-40DE-A754-6431848BACC6}"/>
              </a:ext>
            </a:extLst>
          </p:cNvPr>
          <p:cNvSpPr>
            <a:spLocks noGrp="1"/>
          </p:cNvSpPr>
          <p:nvPr/>
        </p:nvSpPr>
        <p:spPr>
          <a:xfrm>
            <a:off x="6419850" y="337185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0DF3CA-308D-47CD-BED1-6B29C47FC804}"/>
              </a:ext>
            </a:extLst>
          </p:cNvPr>
          <p:cNvSpPr>
            <a:spLocks noGrp="1"/>
          </p:cNvSpPr>
          <p:nvPr/>
        </p:nvSpPr>
        <p:spPr>
          <a:xfrm>
            <a:off x="3905250" y="4286250"/>
            <a:ext cx="2476500" cy="800100"/>
          </a:xfrm>
          <a:prstGeom prst="roundRect">
            <a:avLst>
              <a:gd name="adj" fmla="val 9524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 + scale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03B3EA-A99E-49E0-BA19-0E35ECE5845B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7775371-54DD-4D6F-BF2C-2C8BC8356AA7}"/>
              </a:ext>
            </a:extLst>
          </p:cNvPr>
          <p:cNvSpPr>
            <a:spLocks noGrp="1"/>
          </p:cNvSpPr>
          <p:nvPr/>
        </p:nvSpPr>
        <p:spPr>
          <a:xfrm>
            <a:off x="2724150" y="3171825"/>
            <a:ext cx="1123950" cy="1514475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89EFA2-DB39-4CD0-97A3-9E4F147EEF98}"/>
              </a:ext>
            </a:extLst>
          </p:cNvPr>
          <p:cNvSpPr>
            <a:spLocks noGrp="1"/>
          </p:cNvSpPr>
          <p:nvPr/>
        </p:nvSpPr>
        <p:spPr>
          <a:xfrm>
            <a:off x="6419850" y="4610100"/>
            <a:ext cx="13335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37C394-8C84-41EA-96F1-03B88B05B62C}"/>
              </a:ext>
            </a:extLst>
          </p:cNvPr>
          <p:cNvSpPr>
            <a:spLocks noGrp="1"/>
          </p:cNvSpPr>
          <p:nvPr/>
        </p:nvSpPr>
        <p:spPr>
          <a:xfrm>
            <a:off x="1123950" y="5381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CC638B-EEC6-4259-93CB-A0EDAAC741B4}"/>
              </a:ext>
            </a:extLst>
          </p:cNvPr>
          <p:cNvSpPr>
            <a:spLocks noGrp="1"/>
          </p:cNvSpPr>
          <p:nvPr/>
        </p:nvSpPr>
        <p:spPr>
          <a:xfrm>
            <a:off x="1295400" y="533400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alpha_all 表示路径幅度/权重的非负预测。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7443496-194E-4BDA-B707-81E1ED3B20A3}"/>
              </a:ext>
            </a:extLst>
          </p:cNvPr>
          <p:cNvSpPr>
            <a:spLocks noGrp="1"/>
          </p:cNvSpPr>
          <p:nvPr/>
        </p:nvSpPr>
        <p:spPr>
          <a:xfrm>
            <a:off x="1123950" y="57054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87CEB5-6C5B-4464-A524-7629AB71A236}"/>
              </a:ext>
            </a:extLst>
          </p:cNvPr>
          <p:cNvSpPr>
            <a:spLocks noGrp="1"/>
          </p:cNvSpPr>
          <p:nvPr/>
        </p:nvSpPr>
        <p:spPr>
          <a:xfrm>
            <a:off x="1295400" y="565785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path_prob_all 表示候选 query 成为有效路径的概率。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FB3115-61A9-4198-A267-C82B05BD612D}"/>
              </a:ext>
            </a:extLst>
          </p:cNvPr>
          <p:cNvSpPr>
            <a:spLocks noGrp="1"/>
          </p:cNvSpPr>
          <p:nvPr/>
        </p:nvSpPr>
        <p:spPr>
          <a:xfrm>
            <a:off x="1123950" y="60293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EF0241-5E4B-4A35-B1CD-83C76DDFFE6A}"/>
              </a:ext>
            </a:extLst>
          </p:cNvPr>
          <p:cNvSpPr>
            <a:spLocks noGrp="1"/>
          </p:cNvSpPr>
          <p:nvPr/>
        </p:nvSpPr>
        <p:spPr>
          <a:xfrm>
            <a:off x="1295400" y="5981700"/>
            <a:ext cx="859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rho_raw_all 是路径位置参数 rho 的 query 级预测。</a:t>
            </a:r>
          </a:p>
        </p:txBody>
      </p:sp>
    </p:spTree>
    <p:extLst>
      <p:ext uri="{BB962C8B-B14F-4D97-AF65-F5344CB8AC3E}">
        <p14:creationId xmlns:p14="http://schemas.microsoft.com/office/powerpoint/2010/main" val="572660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0E581F3-8681-4C82-87F8-FC28609F4C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7B6976-F6BF-46AF-8EE5-7DF601F2A118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F98FD-64F9-4F92-8C32-037AFDEF05C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free / scaled / grid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72234-0C1E-4E05-9994-3C062A8B90BD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mu Head 三种模式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FC8FA-186C-43C5-992D-16034E38F539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CFA293-3651-4BD6-ABA5-A8B7211EE974}"/>
              </a:ext>
            </a:extLst>
          </p:cNvPr>
          <p:cNvSpPr>
            <a:spLocks noGrp="1"/>
          </p:cNvSpPr>
          <p:nvPr/>
        </p:nvSpPr>
        <p:spPr>
          <a:xfrm>
            <a:off x="4953000" y="13716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2EAF97-A1E4-40AA-BD0D-B79A98815C0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E5158D-8181-4587-9476-7069D2C29484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-&gt; B x q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+ scale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52563-9893-46FA-AD09-90475A245048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10236DD-DF50-4BD6-8200-F8443F43DAA4}"/>
              </a:ext>
            </a:extLst>
          </p:cNvPr>
          <p:cNvSpPr>
            <a:spLocks noGrp="1"/>
          </p:cNvSpPr>
          <p:nvPr/>
        </p:nvSpPr>
        <p:spPr>
          <a:xfrm>
            <a:off x="2019300" y="2076450"/>
            <a:ext cx="398145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DA34939-495F-4B27-98DC-6FF66588A07B}"/>
              </a:ext>
            </a:extLst>
          </p:cNvPr>
          <p:cNvSpPr>
            <a:spLocks noGrp="1"/>
          </p:cNvSpPr>
          <p:nvPr/>
        </p:nvSpPr>
        <p:spPr>
          <a:xfrm>
            <a:off x="194310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F0890-575A-47BE-AFA5-5D329A865C34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66689F-FB11-4950-BEEF-7A3F6229858A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-&gt; frac B x q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3FC2C7-20EF-4A18-9CBB-4F5B3961CECC}"/>
              </a:ext>
            </a:extLst>
          </p:cNvPr>
          <p:cNvSpPr>
            <a:spLocks noGrp="1"/>
          </p:cNvSpPr>
          <p:nvPr/>
        </p:nvSpPr>
        <p:spPr>
          <a:xfrm>
            <a:off x="440055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+ extent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mu_min + frac * extent range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B72BF5A-72C7-432F-92A6-AE720D46A0BD}"/>
              </a:ext>
            </a:extLst>
          </p:cNvPr>
          <p:cNvSpPr>
            <a:spLocks noGrp="1"/>
          </p:cNvSpPr>
          <p:nvPr/>
        </p:nvSpPr>
        <p:spPr>
          <a:xfrm>
            <a:off x="5734050" y="2076450"/>
            <a:ext cx="26670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DC77A3C-6DDE-4F21-B11E-3C14F5CB4FDA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66B8B-4DC9-40F1-8806-D77D7ABF212D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grid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66164B1-827A-482A-AC70-4C97268E1208}"/>
              </a:ext>
            </a:extLst>
          </p:cNvPr>
          <p:cNvSpPr>
            <a:spLocks noGrp="1"/>
          </p:cNvSpPr>
          <p:nvPr/>
        </p:nvSpPr>
        <p:spPr>
          <a:xfrm>
            <a:off x="8115300" y="2724150"/>
            <a:ext cx="2667000" cy="1066800"/>
          </a:xfrm>
          <a:prstGeom prst="roundRect">
            <a:avLst>
              <a:gd name="adj" fmla="val 7143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num_mu_bins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softmax over bins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E0D69F-4020-4522-BA1C-5CD7CEC323A9}"/>
              </a:ext>
            </a:extLst>
          </p:cNvPr>
          <p:cNvSpPr>
            <a:spLocks noGrp="1"/>
          </p:cNvSpPr>
          <p:nvPr/>
        </p:nvSpPr>
        <p:spPr>
          <a:xfrm>
            <a:off x="8115300" y="4152900"/>
            <a:ext cx="266700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weighted sum with mu_dict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B x q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348CBF2-448A-4C4A-8D45-FCC2285F750C}"/>
              </a:ext>
            </a:extLst>
          </p:cNvPr>
          <p:cNvSpPr>
            <a:spLocks noGrp="1"/>
          </p:cNvSpPr>
          <p:nvPr/>
        </p:nvSpPr>
        <p:spPr>
          <a:xfrm>
            <a:off x="6000750" y="2076450"/>
            <a:ext cx="3448050" cy="5905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95A6077-B1B3-4799-8E99-C4D2DA3812CD}"/>
              </a:ext>
            </a:extLst>
          </p:cNvPr>
          <p:cNvSpPr>
            <a:spLocks noGrp="1"/>
          </p:cNvSpPr>
          <p:nvPr/>
        </p:nvSpPr>
        <p:spPr>
          <a:xfrm>
            <a:off x="9372600" y="3829050"/>
            <a:ext cx="152400" cy="285750"/>
          </a:xfrm>
          <a:prstGeom prst="down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40BCAA-DFD9-419B-A8C9-9B6FAA88D70D}"/>
              </a:ext>
            </a:extLst>
          </p:cNvPr>
          <p:cNvSpPr>
            <a:spLocks noGrp="1"/>
          </p:cNvSpPr>
          <p:nvPr/>
        </p:nvSpPr>
        <p:spPr>
          <a:xfrm>
            <a:off x="4343400" y="537210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cross_path_stats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mean over query dim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2521A7-2BB6-4EAD-884C-8A0B079397C3}"/>
              </a:ext>
            </a:extLst>
          </p:cNvPr>
          <p:cNvSpPr>
            <a:spLocks noGrp="1"/>
          </p:cNvSpPr>
          <p:nvPr/>
        </p:nvSpPr>
        <p:spPr>
          <a:xfrm>
            <a:off x="6858000" y="5372100"/>
            <a:ext cx="2190750" cy="704850"/>
          </a:xfrm>
          <a:prstGeom prst="roundRect">
            <a:avLst>
              <a:gd name="adj" fmla="val 10811"/>
            </a:avLst>
          </a:prstGeom>
          <a:solidFill>
            <a:srgbClr val="F8C4C4"/>
          </a:solidFill>
          <a:ln w="19050">
            <a:solidFill>
              <a:srgbClr val="9B222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s_head MLP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-&gt; B x 1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extent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EFC4ADA-1A8B-4D3D-8D94-D339339F0BCA}"/>
              </a:ext>
            </a:extLst>
          </p:cNvPr>
          <p:cNvSpPr>
            <a:spLocks noGrp="1"/>
          </p:cNvSpPr>
          <p:nvPr/>
        </p:nvSpPr>
        <p:spPr>
          <a:xfrm>
            <a:off x="6534150" y="5648325"/>
            <a:ext cx="26670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AB8F2A-0FD6-4AB9-B062-011FA98C6A7C}"/>
              </a:ext>
            </a:extLst>
          </p:cNvPr>
          <p:cNvSpPr>
            <a:spLocks noGrp="1"/>
          </p:cNvSpPr>
          <p:nvPr/>
        </p:nvSpPr>
        <p:spPr>
          <a:xfrm>
            <a:off x="781050" y="60388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scaled/grid 共用 extent；free 分支直接给出 mu_raw_all。</a:t>
            </a:r>
          </a:p>
        </p:txBody>
      </p:sp>
    </p:spTree>
    <p:extLst>
      <p:ext uri="{BB962C8B-B14F-4D97-AF65-F5344CB8AC3E}">
        <p14:creationId xmlns:p14="http://schemas.microsoft.com/office/powerpoint/2010/main" val="89853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4D46296-BFE6-40D4-BF5C-D41327DB7E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756A34-83FF-4B40-8028-06DB329ABB40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04E64A-6CAD-48C5-A45B-2CB7691719D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q 个候选槽位到 L_eff 条有效路径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C8EEF5-C964-470A-A310-25F6E11A7A72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Top-k 选择与 Gauge Fix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6BA48-4870-4755-A72E-C376A34D59C4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C20FC9-EDA0-479E-93BD-5E98BAA4FA6D}"/>
              </a:ext>
            </a:extLst>
          </p:cNvPr>
          <p:cNvSpPr>
            <a:spLocks noGrp="1"/>
          </p:cNvSpPr>
          <p:nvPr/>
        </p:nvSpPr>
        <p:spPr>
          <a:xfrm>
            <a:off x="819150" y="163830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7856AA-331A-4487-9BBF-858E5AB04CD6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98B7A5-7C10-49FF-BAE1-1FA0DA50A6FC}"/>
              </a:ext>
            </a:extLst>
          </p:cNvPr>
          <p:cNvSpPr>
            <a:spLocks noGrp="1"/>
          </p:cNvSpPr>
          <p:nvPr/>
        </p:nvSpPr>
        <p:spPr>
          <a:xfrm>
            <a:off x="3295650" y="2019300"/>
            <a:ext cx="2571750" cy="781050"/>
          </a:xfrm>
          <a:prstGeom prst="roundRect">
            <a:avLst>
              <a:gd name="adj" fmla="val 9756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score = alpha_all * path_prob_all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57AED3-8A54-4AF9-92E8-88EAC05F7C5B}"/>
              </a:ext>
            </a:extLst>
          </p:cNvPr>
          <p:cNvSpPr>
            <a:spLocks noGrp="1"/>
          </p:cNvSpPr>
          <p:nvPr/>
        </p:nvSpPr>
        <p:spPr>
          <a:xfrm>
            <a:off x="6705600" y="201930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over query dim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top_idx: B x L_eff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CABCCD9-8D33-4FBE-9329-0EAA44970BDA}"/>
              </a:ext>
            </a:extLst>
          </p:cNvPr>
          <p:cNvSpPr>
            <a:spLocks noGrp="1"/>
          </p:cNvSpPr>
          <p:nvPr/>
        </p:nvSpPr>
        <p:spPr>
          <a:xfrm>
            <a:off x="2476500" y="1924050"/>
            <a:ext cx="762000" cy="41910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1D5EDA6-8D10-4237-B7DB-F6EFF239A9FB}"/>
              </a:ext>
            </a:extLst>
          </p:cNvPr>
          <p:cNvSpPr>
            <a:spLocks noGrp="1"/>
          </p:cNvSpPr>
          <p:nvPr/>
        </p:nvSpPr>
        <p:spPr>
          <a:xfrm>
            <a:off x="2476500" y="2457450"/>
            <a:ext cx="762000" cy="323850"/>
          </a:xfrm>
          <a:prstGeom prst="line">
            <a:avLst/>
          </a:prstGeom>
          <a:ln w="19050">
            <a:solidFill>
              <a:srgbClr val="334155"/>
            </a:solidFill>
            <a:prstDash val="solid"/>
          </a:ln>
        </p:spPr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30F59D5-3D65-4CD5-9A96-A93BE1699D5C}"/>
              </a:ext>
            </a:extLst>
          </p:cNvPr>
          <p:cNvSpPr>
            <a:spLocks noGrp="1"/>
          </p:cNvSpPr>
          <p:nvPr/>
        </p:nvSpPr>
        <p:spPr>
          <a:xfrm>
            <a:off x="5905500" y="2333625"/>
            <a:ext cx="742950" cy="152400"/>
          </a:xfrm>
          <a:prstGeom prst="rightArrow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21ECE4-380F-4DFE-A13B-E8667F9973DD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 -&gt; mu_raw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EB5055B-2B6F-42FE-817E-701972E2CB5A}"/>
              </a:ext>
            </a:extLst>
          </p:cNvPr>
          <p:cNvSpPr>
            <a:spLocks noGrp="1"/>
          </p:cNvSpPr>
          <p:nvPr/>
        </p:nvSpPr>
        <p:spPr>
          <a:xfrm>
            <a:off x="2066925" y="2838450"/>
            <a:ext cx="58197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1C6B749-5319-48BC-9035-C6F8A37C73DF}"/>
              </a:ext>
            </a:extLst>
          </p:cNvPr>
          <p:cNvSpPr>
            <a:spLocks noGrp="1"/>
          </p:cNvSpPr>
          <p:nvPr/>
        </p:nvSpPr>
        <p:spPr>
          <a:xfrm>
            <a:off x="337185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 -&gt; rho_raw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F6D4365-57DE-4BF3-B9AD-BF14D1EEFC17}"/>
              </a:ext>
            </a:extLst>
          </p:cNvPr>
          <p:cNvSpPr>
            <a:spLocks noGrp="1"/>
          </p:cNvSpPr>
          <p:nvPr/>
        </p:nvSpPr>
        <p:spPr>
          <a:xfrm>
            <a:off x="4371975" y="2838450"/>
            <a:ext cx="351472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51202FD-A289-4046-9EDD-B7EB542724EF}"/>
              </a:ext>
            </a:extLst>
          </p:cNvPr>
          <p:cNvSpPr>
            <a:spLocks noGrp="1"/>
          </p:cNvSpPr>
          <p:nvPr/>
        </p:nvSpPr>
        <p:spPr>
          <a:xfrm>
            <a:off x="567690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 -&gt; alpha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D463472-5441-4159-90B2-644D5A26F41D}"/>
              </a:ext>
            </a:extLst>
          </p:cNvPr>
          <p:cNvSpPr>
            <a:spLocks noGrp="1"/>
          </p:cNvSpPr>
          <p:nvPr/>
        </p:nvSpPr>
        <p:spPr>
          <a:xfrm>
            <a:off x="6677025" y="2838450"/>
            <a:ext cx="12096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31520F-8F32-4FE4-9C1A-B18B6EE80E21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2000250" cy="609600"/>
          </a:xfrm>
          <a:prstGeom prst="roundRect">
            <a:avLst>
              <a:gd name="adj" fmla="val 12500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 -&gt; path_prob</a:t>
            </a:r>
          </a:p>
          <a:p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AAF782B-1267-4F4D-BE55-4439F4751E10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1095375" cy="1028700"/>
          </a:xfrm>
          <a:prstGeom prst="line">
            <a:avLst/>
          </a:prstGeom>
          <a:ln w="14288">
            <a:solidFill>
              <a:srgbClr val="64748B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0C1A30-8A8C-4B13-A536-9ED6201A611E}"/>
              </a:ext>
            </a:extLst>
          </p:cNvPr>
          <p:cNvSpPr>
            <a:spLocks noGrp="1"/>
          </p:cNvSpPr>
          <p:nvPr/>
        </p:nvSpPr>
        <p:spPr>
          <a:xfrm>
            <a:off x="1657350" y="5257800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gauge_fix_mu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mu0 = max(mu_raw)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mu_rel = mu_raw - mu0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BBFE1E-5AF4-4B7A-84C5-4313D403A082}"/>
              </a:ext>
            </a:extLst>
          </p:cNvPr>
          <p:cNvSpPr>
            <a:spLocks noGrp="1"/>
          </p:cNvSpPr>
          <p:nvPr/>
        </p:nvSpPr>
        <p:spPr>
          <a:xfrm>
            <a:off x="4819650" y="5257800"/>
            <a:ext cx="257175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gauge_fix_rho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rho0 = mean(rho_raw)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rho_rel = rho_raw - rho0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1285A41-4DF8-42AF-BC56-B10CB6C9D925}"/>
              </a:ext>
            </a:extLst>
          </p:cNvPr>
          <p:cNvSpPr>
            <a:spLocks noGrp="1"/>
          </p:cNvSpPr>
          <p:nvPr/>
        </p:nvSpPr>
        <p:spPr>
          <a:xfrm>
            <a:off x="7962900" y="5257800"/>
            <a:ext cx="2667000" cy="819150"/>
          </a:xfrm>
          <a:prstGeom prst="roundRect">
            <a:avLst>
              <a:gd name="adj" fmla="val 9302"/>
            </a:avLst>
          </a:prstGeom>
          <a:solidFill>
            <a:srgbClr val="F6B26B"/>
          </a:solidFill>
          <a:ln w="19050">
            <a:solidFill>
              <a:srgbClr val="B45309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delta path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 -&gt; pool -&gt; delta_mlp</a:t>
            </a:r>
          </a:p>
          <a:p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N_rx -&gt; relative offsets</a:t>
            </a:r>
          </a:p>
        </p:txBody>
      </p:sp>
    </p:spTree>
    <p:extLst>
      <p:ext uri="{BB962C8B-B14F-4D97-AF65-F5344CB8AC3E}">
        <p14:creationId xmlns:p14="http://schemas.microsoft.com/office/powerpoint/2010/main" val="85121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D3367746-B800-4EEB-BED3-974ED07979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3FE13-D9FA-40B4-B8C1-C01159322F3C}"/>
              </a:ext>
            </a:extLst>
          </p:cNvPr>
          <p:cNvSpPr>
            <a:spLocks noGrp="1"/>
          </p:cNvSpPr>
          <p:nvPr/>
        </p:nvSpPr>
        <p:spPr>
          <a:xfrm>
            <a:off x="10001250" y="64198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35179C-4AF2-4155-945C-959CB3C3A84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当前使用的 forward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201311-3625-4D1A-8986-2E189C627077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762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输出接口与讲解收束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F0B13-282D-4811-BD4D-B4E6791A53A3}"/>
              </a:ext>
            </a:extLst>
          </p:cNvPr>
          <p:cNvSpPr>
            <a:spLocks noGrp="1"/>
          </p:cNvSpPr>
          <p:nvPr/>
        </p:nvSpPr>
        <p:spPr>
          <a:xfrm>
            <a:off x="514350" y="1123950"/>
            <a:ext cx="10668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97DFA9-3E2D-4CFE-8588-FA67E5E3F207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dict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A3E00-15CF-4F68-88B4-939EC4625B25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1887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D8DF4-2C72-47FE-A921-2BA67ADC97D6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A7AB52-6BA3-43AD-BD43-12C91B687BED}"/>
              </a:ext>
            </a:extLst>
          </p:cNvPr>
          <p:cNvSpPr>
            <a:spLocks noGrp="1"/>
          </p:cNvSpPr>
          <p:nvPr/>
        </p:nvSpPr>
        <p:spPr>
          <a:xfrm>
            <a:off x="2045970" y="2286000"/>
            <a:ext cx="11887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66F3B1-D290-483F-8454-EC5DBC735D1D}"/>
              </a:ext>
            </a:extLst>
          </p:cNvPr>
          <p:cNvSpPr>
            <a:spLocks noGrp="1"/>
          </p:cNvSpPr>
          <p:nvPr/>
        </p:nvSpPr>
        <p:spPr>
          <a:xfrm>
            <a:off x="2122170" y="2333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D7A959-5F06-4E0B-9827-CD7DD697932E}"/>
              </a:ext>
            </a:extLst>
          </p:cNvPr>
          <p:cNvSpPr>
            <a:spLocks noGrp="1"/>
          </p:cNvSpPr>
          <p:nvPr/>
        </p:nvSpPr>
        <p:spPr>
          <a:xfrm>
            <a:off x="3234690" y="2286000"/>
            <a:ext cx="257556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6FF1B1-1923-448F-8BDA-A24E64DCF5C6}"/>
              </a:ext>
            </a:extLst>
          </p:cNvPr>
          <p:cNvSpPr>
            <a:spLocks noGrp="1"/>
          </p:cNvSpPr>
          <p:nvPr/>
        </p:nvSpPr>
        <p:spPr>
          <a:xfrm>
            <a:off x="3310890" y="23336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A2837B-0A55-4AC2-BD13-7BB7524AC522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CD5BFA-97AE-4D0E-A98C-146C5A5DFDA1}"/>
              </a:ext>
            </a:extLst>
          </p:cNvPr>
          <p:cNvSpPr>
            <a:spLocks noGrp="1"/>
          </p:cNvSpPr>
          <p:nvPr/>
        </p:nvSpPr>
        <p:spPr>
          <a:xfrm>
            <a:off x="933450" y="27908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6E9AB0-49BC-46C8-A2D8-6FC75BD4EDFB}"/>
              </a:ext>
            </a:extLst>
          </p:cNvPr>
          <p:cNvSpPr>
            <a:spLocks noGrp="1"/>
          </p:cNvSpPr>
          <p:nvPr/>
        </p:nvSpPr>
        <p:spPr>
          <a:xfrm>
            <a:off x="2045970" y="27432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DEFC0-3765-4436-B945-797A6BC19CBD}"/>
              </a:ext>
            </a:extLst>
          </p:cNvPr>
          <p:cNvSpPr>
            <a:spLocks noGrp="1"/>
          </p:cNvSpPr>
          <p:nvPr/>
        </p:nvSpPr>
        <p:spPr>
          <a:xfrm>
            <a:off x="2122170" y="27908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47611D-A5FF-4E07-AC80-7B700A926FA3}"/>
              </a:ext>
            </a:extLst>
          </p:cNvPr>
          <p:cNvSpPr>
            <a:spLocks noGrp="1"/>
          </p:cNvSpPr>
          <p:nvPr/>
        </p:nvSpPr>
        <p:spPr>
          <a:xfrm>
            <a:off x="3234690" y="27432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4A1F2A-2EB6-4445-8708-DF33B52D89C1}"/>
              </a:ext>
            </a:extLst>
          </p:cNvPr>
          <p:cNvSpPr>
            <a:spLocks noGrp="1"/>
          </p:cNvSpPr>
          <p:nvPr/>
        </p:nvSpPr>
        <p:spPr>
          <a:xfrm>
            <a:off x="3310890" y="27908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路径位置参数 mu 的参考量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D8C67-50E8-40CF-AD80-2792D2B3FE07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C161F6-97D3-4895-82EB-EDCF40F1DC80}"/>
              </a:ext>
            </a:extLst>
          </p:cNvPr>
          <p:cNvSpPr>
            <a:spLocks noGrp="1"/>
          </p:cNvSpPr>
          <p:nvPr/>
        </p:nvSpPr>
        <p:spPr>
          <a:xfrm>
            <a:off x="933450" y="32480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46CEF5-487D-4E2D-9069-39E666BC6288}"/>
              </a:ext>
            </a:extLst>
          </p:cNvPr>
          <p:cNvSpPr>
            <a:spLocks noGrp="1"/>
          </p:cNvSpPr>
          <p:nvPr/>
        </p:nvSpPr>
        <p:spPr>
          <a:xfrm>
            <a:off x="2045970" y="32004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A640BF-BB7C-4064-BEFF-5F101C87FCFF}"/>
              </a:ext>
            </a:extLst>
          </p:cNvPr>
          <p:cNvSpPr>
            <a:spLocks noGrp="1"/>
          </p:cNvSpPr>
          <p:nvPr/>
        </p:nvSpPr>
        <p:spPr>
          <a:xfrm>
            <a:off x="2122170" y="32480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7CF711-DD1A-4B0C-BB68-6D287A367D15}"/>
              </a:ext>
            </a:extLst>
          </p:cNvPr>
          <p:cNvSpPr>
            <a:spLocks noGrp="1"/>
          </p:cNvSpPr>
          <p:nvPr/>
        </p:nvSpPr>
        <p:spPr>
          <a:xfrm>
            <a:off x="3234690" y="3200400"/>
            <a:ext cx="257556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3A8613-5F36-498D-A12C-3F88AC569B74}"/>
              </a:ext>
            </a:extLst>
          </p:cNvPr>
          <p:cNvSpPr>
            <a:spLocks noGrp="1"/>
          </p:cNvSpPr>
          <p:nvPr/>
        </p:nvSpPr>
        <p:spPr>
          <a:xfrm>
            <a:off x="3310890" y="32480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路径位置参数 rho 的参考量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CBC0C2-EA04-4818-80D7-71A67777A9C2}"/>
              </a:ext>
            </a:extLst>
          </p:cNvPr>
          <p:cNvSpPr>
            <a:spLocks noGrp="1"/>
          </p:cNvSpPr>
          <p:nvPr/>
        </p:nvSpPr>
        <p:spPr>
          <a:xfrm>
            <a:off x="857250" y="3657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CAC9B-6968-4D8D-99A0-EF9634F8BF13}"/>
              </a:ext>
            </a:extLst>
          </p:cNvPr>
          <p:cNvSpPr>
            <a:spLocks noGrp="1"/>
          </p:cNvSpPr>
          <p:nvPr/>
        </p:nvSpPr>
        <p:spPr>
          <a:xfrm>
            <a:off x="933450" y="37052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delta_rx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4E38E5-6A16-44AE-9247-10144B55DC0E}"/>
              </a:ext>
            </a:extLst>
          </p:cNvPr>
          <p:cNvSpPr>
            <a:spLocks noGrp="1"/>
          </p:cNvSpPr>
          <p:nvPr/>
        </p:nvSpPr>
        <p:spPr>
          <a:xfrm>
            <a:off x="2045970" y="3657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1CEAAB-E7AE-429E-8791-99C6B7628493}"/>
              </a:ext>
            </a:extLst>
          </p:cNvPr>
          <p:cNvSpPr>
            <a:spLocks noGrp="1"/>
          </p:cNvSpPr>
          <p:nvPr/>
        </p:nvSpPr>
        <p:spPr>
          <a:xfrm>
            <a:off x="2122170" y="37052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N_rx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3A43D6-C7A7-48CC-B00B-839233C5ED58}"/>
              </a:ext>
            </a:extLst>
          </p:cNvPr>
          <p:cNvSpPr>
            <a:spLocks noGrp="1"/>
          </p:cNvSpPr>
          <p:nvPr/>
        </p:nvSpPr>
        <p:spPr>
          <a:xfrm>
            <a:off x="3234690" y="36576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733F76-2802-41A5-B462-C30231CDFD7B}"/>
              </a:ext>
            </a:extLst>
          </p:cNvPr>
          <p:cNvSpPr>
            <a:spLocks noGrp="1"/>
          </p:cNvSpPr>
          <p:nvPr/>
        </p:nvSpPr>
        <p:spPr>
          <a:xfrm>
            <a:off x="3310890" y="37052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接收端相对偏移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75A315-206E-4291-B711-070A74E9F496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B9D469-7F44-4572-8823-902A57EB4A34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mu_rel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00FCB5-649D-4814-BC4E-584F4215E2E1}"/>
              </a:ext>
            </a:extLst>
          </p:cNvPr>
          <p:cNvSpPr>
            <a:spLocks noGrp="1"/>
          </p:cNvSpPr>
          <p:nvPr/>
        </p:nvSpPr>
        <p:spPr>
          <a:xfrm>
            <a:off x="2045970" y="4114800"/>
            <a:ext cx="118872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DA7C3E-7433-4308-BBBF-CDB24BF152D4}"/>
              </a:ext>
            </a:extLst>
          </p:cNvPr>
          <p:cNvSpPr>
            <a:spLocks noGrp="1"/>
          </p:cNvSpPr>
          <p:nvPr/>
        </p:nvSpPr>
        <p:spPr>
          <a:xfrm>
            <a:off x="2122170" y="41624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7F014A-00A7-4795-A6E3-8DE0A49CF5C3}"/>
              </a:ext>
            </a:extLst>
          </p:cNvPr>
          <p:cNvSpPr>
            <a:spLocks noGrp="1"/>
          </p:cNvSpPr>
          <p:nvPr/>
        </p:nvSpPr>
        <p:spPr>
          <a:xfrm>
            <a:off x="3234690" y="4114800"/>
            <a:ext cx="2575560" cy="457200"/>
          </a:xfrm>
          <a:prstGeom prst="rect">
            <a:avLst/>
          </a:prstGeom>
          <a:solidFill>
            <a:srgbClr val="F4F7FB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61906E-01A6-458B-9B8F-BFA66F39A6B7}"/>
              </a:ext>
            </a:extLst>
          </p:cNvPr>
          <p:cNvSpPr>
            <a:spLocks noGrp="1"/>
          </p:cNvSpPr>
          <p:nvPr/>
        </p:nvSpPr>
        <p:spPr>
          <a:xfrm>
            <a:off x="3310890" y="41624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有效路径的相对 mu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7C87BA-1249-4573-BD48-2DD4EECEB63C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38B7AA-0278-4C90-BE79-14665C94F346}"/>
              </a:ext>
            </a:extLst>
          </p:cNvPr>
          <p:cNvSpPr>
            <a:spLocks noGrp="1"/>
          </p:cNvSpPr>
          <p:nvPr/>
        </p:nvSpPr>
        <p:spPr>
          <a:xfrm>
            <a:off x="933450" y="4619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rho_rel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21DE8E0-01F9-44E6-B617-795ED6D77375}"/>
              </a:ext>
            </a:extLst>
          </p:cNvPr>
          <p:cNvSpPr>
            <a:spLocks noGrp="1"/>
          </p:cNvSpPr>
          <p:nvPr/>
        </p:nvSpPr>
        <p:spPr>
          <a:xfrm>
            <a:off x="2045970" y="45720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DB4673-FE20-4CFE-88B9-03782FDCA63E}"/>
              </a:ext>
            </a:extLst>
          </p:cNvPr>
          <p:cNvSpPr>
            <a:spLocks noGrp="1"/>
          </p:cNvSpPr>
          <p:nvPr/>
        </p:nvSpPr>
        <p:spPr>
          <a:xfrm>
            <a:off x="2122170" y="4619625"/>
            <a:ext cx="103632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682A17-DB02-41CB-B66B-CF9741416D35}"/>
              </a:ext>
            </a:extLst>
          </p:cNvPr>
          <p:cNvSpPr>
            <a:spLocks noGrp="1"/>
          </p:cNvSpPr>
          <p:nvPr/>
        </p:nvSpPr>
        <p:spPr>
          <a:xfrm>
            <a:off x="3234690" y="4572000"/>
            <a:ext cx="2575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AF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BE4D98-8C08-4013-908E-769420203749}"/>
              </a:ext>
            </a:extLst>
          </p:cNvPr>
          <p:cNvSpPr>
            <a:spLocks noGrp="1"/>
          </p:cNvSpPr>
          <p:nvPr/>
        </p:nvSpPr>
        <p:spPr>
          <a:xfrm>
            <a:off x="3310890" y="4619625"/>
            <a:ext cx="242316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有效路径的相对 rho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2A9DD4-C121-48B7-8E6C-DA72604813D0}"/>
              </a:ext>
            </a:extLst>
          </p:cNvPr>
          <p:cNvSpPr>
            <a:spLocks noGrp="1"/>
          </p:cNvSpPr>
          <p:nvPr/>
        </p:nvSpPr>
        <p:spPr>
          <a:xfrm>
            <a:off x="6572250" y="19240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CD158A9-C8FB-40FB-AE2D-01E57EB40E79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CD44B3D-5CDA-4822-839F-15724C89DFAB}"/>
              </a:ext>
            </a:extLst>
          </p:cNvPr>
          <p:cNvSpPr>
            <a:spLocks noGrp="1"/>
          </p:cNvSpPr>
          <p:nvPr/>
        </p:nvSpPr>
        <p:spPr>
          <a:xfrm>
            <a:off x="7715250" y="3143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A9D6E5"/>
          </a:solidFill>
          <a:ln w="19050">
            <a:solidFill>
              <a:srgbClr val="014F86"/>
            </a:solidFill>
            <a:prstDash val="solid"/>
          </a:ln>
        </p:spPr>
        <p:txBody>
          <a:bodyPr lIns="95250" tIns="57150" rIns="95250" bIns="57150"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mix_lambda</a:t>
            </a:r>
          </a:p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0F73EB9-1973-48D6-8EFE-2677D141D26C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EEF1F5"/>
          </a:solidFill>
          <a:ln w="19050">
            <a:solidFill>
              <a:srgbClr val="9AA3AF"/>
            </a:solidFill>
            <a:prstDash val="dash"/>
          </a:ln>
        </p:spPr>
        <p:txBody>
          <a:bodyPr lIns="95250" tIns="57150" rIns="95250" bIns="57150" anchor="ctr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</a:t>
            </a:r>
          </a:p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当前展示版本不作为使用路径展开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FC862FC-DD5E-401E-9AC4-0134F38B0A11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20E6F6A-EA85-48D7-BCE9-47627E4B7824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649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pack_slope_theta 当前 forward path 未使用，模型返回 dict。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4640C19-61A9-42CA-93EF-F3E544D3DC86}"/>
              </a:ext>
            </a:extLst>
          </p:cNvPr>
          <p:cNvSpPr>
            <a:spLocks noGrp="1"/>
          </p:cNvSpPr>
          <p:nvPr/>
        </p:nvSpPr>
        <p:spPr>
          <a:xfrm>
            <a:off x="876300" y="6048375"/>
            <a:ext cx="66675" cy="6667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BDD1B1-ED96-48A7-9E55-3F121C2E07C2}"/>
              </a:ext>
            </a:extLst>
          </p:cNvPr>
          <p:cNvSpPr>
            <a:spLocks noGrp="1"/>
          </p:cNvSpPr>
          <p:nvPr/>
        </p:nvSpPr>
        <p:spPr>
          <a:xfrm>
            <a:off x="1047750" y="6000750"/>
            <a:ext cx="6496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本稿主线到 theta、alpha、path_prob、mix_lambda 为止。</a:t>
            </a:r>
          </a:p>
        </p:txBody>
      </p:sp>
    </p:spTree>
    <p:extLst>
      <p:ext uri="{BB962C8B-B14F-4D97-AF65-F5344CB8AC3E}">
        <p14:creationId xmlns:p14="http://schemas.microsoft.com/office/powerpoint/2010/main" val="3660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DocSecurity>0</DocSecurity>
  <PresentationFormat>Widescreen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</vt:lpstr>
      <vt:lpstr>Microsoft YaHei UI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Yixin Zhang</cp:lastModifiedBy>
  <cp:revision>1</cp:revision>
  <dcterms:created xsi:type="dcterms:W3CDTF">2026-05-28T11:14:04Z</dcterms:created>
  <dcterms:modified xsi:type="dcterms:W3CDTF">2026-05-28T15:48:35Z</dcterms:modified>
</cp:coreProperties>
</file>