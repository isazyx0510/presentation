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0" d="100"/>
          <a:sy n="150" d="100"/>
        </p:scale>
        <p:origin x="65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63CDDDBD-EF03-4577-B113-A1292648F2E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 w="0">
            <a:solidFill>
              <a:srgbClr val="F7F9FC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1FCEDA5-494E-44B9-A5E0-483B24BDA5C7}"/>
              </a:ext>
            </a:extLst>
          </p:cNvPr>
          <p:cNvSpPr>
            <a:spLocks noGrp="1"/>
          </p:cNvSpPr>
          <p:nvPr/>
        </p:nvSpPr>
        <p:spPr>
          <a:xfrm>
            <a:off x="10001250" y="6419850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r">
              <a:defRPr sz="7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DETR architecture | 01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BF7FCB-7E95-4A68-A9CA-95F2B184D619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6858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330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30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DETR 网络架构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AC82042-6D38-433E-A051-E47AF0B6BCC4}"/>
              </a:ext>
            </a:extLst>
          </p:cNvPr>
          <p:cNvSpPr>
            <a:spLocks noGrp="1"/>
          </p:cNvSpPr>
          <p:nvPr/>
        </p:nvSpPr>
        <p:spPr>
          <a:xfrm>
            <a:off x="647700" y="1562100"/>
            <a:ext cx="5334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6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从观测张量到路径参数估计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0E0EFC2-E989-49D8-AB05-7C775711D259}"/>
              </a:ext>
            </a:extLst>
          </p:cNvPr>
          <p:cNvSpPr>
            <a:spLocks noGrp="1"/>
          </p:cNvSpPr>
          <p:nvPr/>
        </p:nvSpPr>
        <p:spPr>
          <a:xfrm>
            <a:off x="876300" y="3048000"/>
            <a:ext cx="1524000" cy="895350"/>
          </a:xfrm>
          <a:prstGeom prst="roundRect">
            <a:avLst>
              <a:gd name="adj" fmla="val 8511"/>
            </a:avLst>
          </a:prstGeom>
          <a:solidFill>
            <a:srgbClr val="B7E4C7"/>
          </a:solidFill>
          <a:ln w="19050">
            <a:solidFill>
              <a:srgbClr val="1B4332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输入观测</a:t>
            </a:r>
          </a:p>
          <a:p>
            <a:pPr algn="ctr">
              <a:defRPr sz="1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 x 2N_rx x N_sc x N_obs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905BD8E4-96A3-4899-9196-AAB5D862ED1C}"/>
              </a:ext>
            </a:extLst>
          </p:cNvPr>
          <p:cNvSpPr>
            <a:spLocks noGrp="1"/>
          </p:cNvSpPr>
          <p:nvPr/>
        </p:nvSpPr>
        <p:spPr>
          <a:xfrm>
            <a:off x="2457450" y="3419475"/>
            <a:ext cx="609600" cy="152400"/>
          </a:xfrm>
          <a:prstGeom prst="rightArrow">
            <a:avLst/>
          </a:prstGeom>
          <a:solidFill>
            <a:srgbClr val="334155"/>
          </a:solidFill>
          <a:ln w="0">
            <a:solidFill>
              <a:srgbClr val="334155"/>
            </a:solidFill>
            <a:prstDash val="solid"/>
          </a:ln>
        </p:spPr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FFAEA76-97B4-4493-BA88-CCD5C3C7F0EF}"/>
              </a:ext>
            </a:extLst>
          </p:cNvPr>
          <p:cNvSpPr>
            <a:spLocks noGrp="1"/>
          </p:cNvSpPr>
          <p:nvPr/>
        </p:nvSpPr>
        <p:spPr>
          <a:xfrm>
            <a:off x="3143250" y="3048000"/>
            <a:ext cx="1524000" cy="895350"/>
          </a:xfrm>
          <a:prstGeom prst="roundRect">
            <a:avLst>
              <a:gd name="adj" fmla="val 8511"/>
            </a:avLst>
          </a:prstGeom>
          <a:solidFill>
            <a:srgbClr val="FFE08A"/>
          </a:solidFill>
          <a:ln w="19050">
            <a:solidFill>
              <a:srgbClr val="B7791F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CNN stem</a:t>
            </a:r>
          </a:p>
          <a:p>
            <a:pPr algn="ctr">
              <a:defRPr sz="1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局部特征 + 通道投影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15ED51A3-4BC9-4792-9DF1-05E5F6E4842A}"/>
              </a:ext>
            </a:extLst>
          </p:cNvPr>
          <p:cNvSpPr>
            <a:spLocks noGrp="1"/>
          </p:cNvSpPr>
          <p:nvPr/>
        </p:nvSpPr>
        <p:spPr>
          <a:xfrm>
            <a:off x="4724400" y="3419475"/>
            <a:ext cx="609600" cy="152400"/>
          </a:xfrm>
          <a:prstGeom prst="rightArrow">
            <a:avLst/>
          </a:prstGeom>
          <a:solidFill>
            <a:srgbClr val="334155"/>
          </a:solidFill>
          <a:ln w="0">
            <a:solidFill>
              <a:srgbClr val="334155"/>
            </a:solidFill>
            <a:prstDash val="solid"/>
          </a:ln>
        </p:spPr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AD0A877-E7D4-4E84-8A70-A03E89ED2C4E}"/>
              </a:ext>
            </a:extLst>
          </p:cNvPr>
          <p:cNvSpPr>
            <a:spLocks noGrp="1"/>
          </p:cNvSpPr>
          <p:nvPr/>
        </p:nvSpPr>
        <p:spPr>
          <a:xfrm>
            <a:off x="5410200" y="3048000"/>
            <a:ext cx="1524000" cy="895350"/>
          </a:xfrm>
          <a:prstGeom prst="roundRect">
            <a:avLst>
              <a:gd name="adj" fmla="val 8511"/>
            </a:avLst>
          </a:prstGeom>
          <a:solidFill>
            <a:srgbClr val="CDB4DB"/>
          </a:solidFill>
          <a:ln w="19050">
            <a:solidFill>
              <a:srgbClr val="6D28D9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Transformer</a:t>
            </a:r>
          </a:p>
          <a:p>
            <a:pPr algn="ctr">
              <a:defRPr sz="1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Encoder / Decoder attention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6DBE93B6-2858-46F9-87F8-40350BCB0CEC}"/>
              </a:ext>
            </a:extLst>
          </p:cNvPr>
          <p:cNvSpPr>
            <a:spLocks noGrp="1"/>
          </p:cNvSpPr>
          <p:nvPr/>
        </p:nvSpPr>
        <p:spPr>
          <a:xfrm>
            <a:off x="6991350" y="3419475"/>
            <a:ext cx="609600" cy="152400"/>
          </a:xfrm>
          <a:prstGeom prst="rightArrow">
            <a:avLst/>
          </a:prstGeom>
          <a:solidFill>
            <a:srgbClr val="334155"/>
          </a:solidFill>
          <a:ln w="0">
            <a:solidFill>
              <a:srgbClr val="334155"/>
            </a:solidFill>
            <a:prstDash val="solid"/>
          </a:ln>
        </p:spPr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94C11E0-B266-45AE-B3FE-4CD9B1693A8F}"/>
              </a:ext>
            </a:extLst>
          </p:cNvPr>
          <p:cNvSpPr>
            <a:spLocks noGrp="1"/>
          </p:cNvSpPr>
          <p:nvPr/>
        </p:nvSpPr>
        <p:spPr>
          <a:xfrm>
            <a:off x="7677150" y="3048000"/>
            <a:ext cx="1524000" cy="895350"/>
          </a:xfrm>
          <a:prstGeom prst="roundRect">
            <a:avLst>
              <a:gd name="adj" fmla="val 8511"/>
            </a:avLst>
          </a:prstGeom>
          <a:solidFill>
            <a:srgbClr val="F8C4C4"/>
          </a:solidFill>
          <a:ln w="19050">
            <a:solidFill>
              <a:srgbClr val="9B2226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Heads</a:t>
            </a:r>
          </a:p>
          <a:p>
            <a:pPr algn="ctr">
              <a:defRPr sz="1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alpha / obj / mu / rho / delta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E83E2FFC-3334-44F2-81FC-C85EAA3F25AE}"/>
              </a:ext>
            </a:extLst>
          </p:cNvPr>
          <p:cNvSpPr>
            <a:spLocks noGrp="1"/>
          </p:cNvSpPr>
          <p:nvPr/>
        </p:nvSpPr>
        <p:spPr>
          <a:xfrm>
            <a:off x="9258300" y="3419475"/>
            <a:ext cx="609600" cy="152400"/>
          </a:xfrm>
          <a:prstGeom prst="rightArrow">
            <a:avLst/>
          </a:prstGeom>
          <a:solidFill>
            <a:srgbClr val="334155"/>
          </a:solidFill>
          <a:ln w="0">
            <a:solidFill>
              <a:srgbClr val="334155"/>
            </a:solidFill>
            <a:prstDash val="solid"/>
          </a:ln>
        </p:spPr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8C8F868-E7D8-4941-B700-880F6EF45F5D}"/>
              </a:ext>
            </a:extLst>
          </p:cNvPr>
          <p:cNvSpPr>
            <a:spLocks noGrp="1"/>
          </p:cNvSpPr>
          <p:nvPr/>
        </p:nvSpPr>
        <p:spPr>
          <a:xfrm>
            <a:off x="9944100" y="3048000"/>
            <a:ext cx="1524000" cy="895350"/>
          </a:xfrm>
          <a:prstGeom prst="roundRect">
            <a:avLst>
              <a:gd name="adj" fmla="val 8511"/>
            </a:avLst>
          </a:prstGeom>
          <a:solidFill>
            <a:srgbClr val="B7E4C7"/>
          </a:solidFill>
          <a:ln w="19050">
            <a:solidFill>
              <a:srgbClr val="1B4332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输出参数</a:t>
            </a:r>
          </a:p>
          <a:p>
            <a:pPr algn="ctr">
              <a:defRPr sz="1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theta, alpha, path_prob, mix_lambda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60F8FCA-0A30-429C-BA2D-68FF95AD5E2E}"/>
              </a:ext>
            </a:extLst>
          </p:cNvPr>
          <p:cNvSpPr>
            <a:spLocks noGrp="1"/>
          </p:cNvSpPr>
          <p:nvPr/>
        </p:nvSpPr>
        <p:spPr>
          <a:xfrm>
            <a:off x="838200" y="4953000"/>
            <a:ext cx="9334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展示策略：先看浅层数据流，再展开 CNN stem、attention 和各参数 head；G head 当前不作为使用路径展开。</a:t>
            </a:r>
          </a:p>
        </p:txBody>
      </p:sp>
    </p:spTree>
    <p:extLst>
      <p:ext uri="{BB962C8B-B14F-4D97-AF65-F5344CB8AC3E}">
        <p14:creationId xmlns:p14="http://schemas.microsoft.com/office/powerpoint/2010/main" val="2052417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3C7F68BE-4956-450F-8C3B-DD3C67C1F71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 w="0">
            <a:solidFill>
              <a:srgbClr val="F7F9FC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8316478-ED9B-4DDB-B700-7AEE09583AFC}"/>
              </a:ext>
            </a:extLst>
          </p:cNvPr>
          <p:cNvSpPr>
            <a:spLocks noGrp="1"/>
          </p:cNvSpPr>
          <p:nvPr/>
        </p:nvSpPr>
        <p:spPr>
          <a:xfrm>
            <a:off x="10001250" y="6419850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r">
              <a:defRPr sz="7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DETR architecture | 02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16E5513-12DB-44D9-ADD7-713B773EC2AA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533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主干视图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CC7EE62-2780-47F8-A5CE-772927D4DD4C}"/>
              </a:ext>
            </a:extLst>
          </p:cNvPr>
          <p:cNvSpPr>
            <a:spLocks noGrp="1"/>
          </p:cNvSpPr>
          <p:nvPr/>
        </p:nvSpPr>
        <p:spPr>
          <a:xfrm>
            <a:off x="514350" y="495300"/>
            <a:ext cx="7620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2325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325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整体浅层数据流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C90C167-854D-42A9-972F-58EC76F49514}"/>
              </a:ext>
            </a:extLst>
          </p:cNvPr>
          <p:cNvSpPr>
            <a:spLocks noGrp="1"/>
          </p:cNvSpPr>
          <p:nvPr/>
        </p:nvSpPr>
        <p:spPr>
          <a:xfrm>
            <a:off x="514350" y="1123950"/>
            <a:ext cx="1066800" cy="3810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06568C8-45B3-4D75-B1E3-7F119938AE02}"/>
              </a:ext>
            </a:extLst>
          </p:cNvPr>
          <p:cNvSpPr>
            <a:spLocks noGrp="1"/>
          </p:cNvSpPr>
          <p:nvPr/>
        </p:nvSpPr>
        <p:spPr>
          <a:xfrm>
            <a:off x="514350" y="2571750"/>
            <a:ext cx="1219200" cy="819150"/>
          </a:xfrm>
          <a:prstGeom prst="roundRect">
            <a:avLst>
              <a:gd name="adj" fmla="val 9302"/>
            </a:avLst>
          </a:prstGeom>
          <a:solidFill>
            <a:srgbClr val="B7E4C7"/>
          </a:solidFill>
          <a:ln w="19050">
            <a:solidFill>
              <a:srgbClr val="1B4332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93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x</a:t>
            </a:r>
          </a:p>
          <a:p>
            <a:pPr algn="ctr">
              <a:defRPr sz="93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 x 2N_rx x </a:t>
            </a:r>
            <a:r>
              <a:rPr sz="938" b="1" dirty="0" err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N_sc</a:t>
            </a:r>
            <a:r>
              <a:rPr sz="938" b="1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 x </a:t>
            </a:r>
            <a:r>
              <a:rPr sz="938" b="1" dirty="0" err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N_obs</a:t>
            </a:r>
            <a:endParaRPr sz="938" b="1" dirty="0">
              <a:solidFill>
                <a:srgbClr val="11182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E1F36B04-3D89-4256-8529-A133FBDCCBD5}"/>
              </a:ext>
            </a:extLst>
          </p:cNvPr>
          <p:cNvSpPr>
            <a:spLocks noGrp="1"/>
          </p:cNvSpPr>
          <p:nvPr/>
        </p:nvSpPr>
        <p:spPr>
          <a:xfrm>
            <a:off x="1762125" y="2981325"/>
            <a:ext cx="161925" cy="9525"/>
          </a:xfrm>
          <a:prstGeom prst="line">
            <a:avLst/>
          </a:prstGeom>
          <a:ln w="19050">
            <a:solidFill>
              <a:srgbClr val="334155"/>
            </a:solidFill>
            <a:prstDash val="solid"/>
          </a:ln>
        </p:spPr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0176619-1F69-4657-AFEA-8B4280C633BF}"/>
              </a:ext>
            </a:extLst>
          </p:cNvPr>
          <p:cNvSpPr>
            <a:spLocks noGrp="1"/>
          </p:cNvSpPr>
          <p:nvPr/>
        </p:nvSpPr>
        <p:spPr>
          <a:xfrm>
            <a:off x="1943100" y="2571750"/>
            <a:ext cx="1219200" cy="819150"/>
          </a:xfrm>
          <a:prstGeom prst="roundRect">
            <a:avLst>
              <a:gd name="adj" fmla="val 9302"/>
            </a:avLst>
          </a:prstGeom>
          <a:solidFill>
            <a:srgbClr val="FFE08A"/>
          </a:solidFill>
          <a:ln w="19050">
            <a:solidFill>
              <a:srgbClr val="B7791F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93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CNN stem</a:t>
            </a:r>
          </a:p>
          <a:p>
            <a:pPr algn="ctr">
              <a:defRPr sz="93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 x </a:t>
            </a:r>
            <a:r>
              <a:rPr sz="938" b="1" dirty="0" err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d_model</a:t>
            </a:r>
            <a:r>
              <a:rPr sz="938" b="1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 x </a:t>
            </a:r>
            <a:r>
              <a:rPr sz="938" b="1" dirty="0" err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N_sc</a:t>
            </a:r>
            <a:r>
              <a:rPr sz="938" b="1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 x </a:t>
            </a:r>
            <a:r>
              <a:rPr sz="938" b="1" dirty="0" err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N_obs</a:t>
            </a:r>
            <a:endParaRPr sz="938" b="1" dirty="0">
              <a:solidFill>
                <a:srgbClr val="11182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802D29C6-E807-410D-AF13-EE9DA33C2A94}"/>
              </a:ext>
            </a:extLst>
          </p:cNvPr>
          <p:cNvSpPr>
            <a:spLocks noGrp="1"/>
          </p:cNvSpPr>
          <p:nvPr/>
        </p:nvSpPr>
        <p:spPr>
          <a:xfrm>
            <a:off x="3190875" y="2981325"/>
            <a:ext cx="161925" cy="9525"/>
          </a:xfrm>
          <a:prstGeom prst="line">
            <a:avLst/>
          </a:prstGeom>
          <a:ln w="19050">
            <a:solidFill>
              <a:srgbClr val="334155"/>
            </a:solidFill>
            <a:prstDash val="solid"/>
          </a:ln>
        </p:spPr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62B46D6-9BFA-4A9F-B53F-E2137923A280}"/>
              </a:ext>
            </a:extLst>
          </p:cNvPr>
          <p:cNvSpPr>
            <a:spLocks noGrp="1"/>
          </p:cNvSpPr>
          <p:nvPr/>
        </p:nvSpPr>
        <p:spPr>
          <a:xfrm>
            <a:off x="3371850" y="2571750"/>
            <a:ext cx="1219200" cy="819150"/>
          </a:xfrm>
          <a:prstGeom prst="roundRect">
            <a:avLst>
              <a:gd name="adj" fmla="val 9302"/>
            </a:avLst>
          </a:prstGeom>
          <a:solidFill>
            <a:srgbClr val="A9D6E5"/>
          </a:solidFill>
          <a:ln w="19050">
            <a:solidFill>
              <a:srgbClr val="014F86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93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Token + Pos</a:t>
            </a:r>
          </a:p>
          <a:p>
            <a:pPr algn="ctr">
              <a:defRPr sz="93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 x T x d_model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BA4FD85E-C4FB-480A-99F1-976B130CA246}"/>
              </a:ext>
            </a:extLst>
          </p:cNvPr>
          <p:cNvSpPr>
            <a:spLocks noGrp="1"/>
          </p:cNvSpPr>
          <p:nvPr/>
        </p:nvSpPr>
        <p:spPr>
          <a:xfrm>
            <a:off x="4619625" y="2981325"/>
            <a:ext cx="161925" cy="9525"/>
          </a:xfrm>
          <a:prstGeom prst="line">
            <a:avLst/>
          </a:prstGeom>
          <a:ln w="19050">
            <a:solidFill>
              <a:srgbClr val="334155"/>
            </a:solidFill>
            <a:prstDash val="solid"/>
          </a:ln>
        </p:spPr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5EE6E4F-360F-4315-98B1-678AA1473D83}"/>
              </a:ext>
            </a:extLst>
          </p:cNvPr>
          <p:cNvSpPr>
            <a:spLocks noGrp="1"/>
          </p:cNvSpPr>
          <p:nvPr/>
        </p:nvSpPr>
        <p:spPr>
          <a:xfrm>
            <a:off x="4800600" y="2571750"/>
            <a:ext cx="1219200" cy="819150"/>
          </a:xfrm>
          <a:prstGeom prst="roundRect">
            <a:avLst>
              <a:gd name="adj" fmla="val 9302"/>
            </a:avLst>
          </a:prstGeom>
          <a:solidFill>
            <a:srgbClr val="CDB4DB"/>
          </a:solidFill>
          <a:ln w="19050">
            <a:solidFill>
              <a:srgbClr val="6D28D9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93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Encoder</a:t>
            </a:r>
          </a:p>
          <a:p>
            <a:pPr algn="ctr">
              <a:defRPr sz="93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self-attn over T</a:t>
            </a:r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775C34DF-969F-4FCF-AB4D-8CDF6101CA97}"/>
              </a:ext>
            </a:extLst>
          </p:cNvPr>
          <p:cNvSpPr>
            <a:spLocks noGrp="1"/>
          </p:cNvSpPr>
          <p:nvPr/>
        </p:nvSpPr>
        <p:spPr>
          <a:xfrm>
            <a:off x="6048375" y="2981325"/>
            <a:ext cx="161925" cy="9525"/>
          </a:xfrm>
          <a:prstGeom prst="line">
            <a:avLst/>
          </a:prstGeom>
          <a:ln w="19050">
            <a:solidFill>
              <a:srgbClr val="334155"/>
            </a:solidFill>
            <a:prstDash val="solid"/>
          </a:ln>
        </p:spPr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19082CA-1158-4CE9-A32C-287652C57DA8}"/>
              </a:ext>
            </a:extLst>
          </p:cNvPr>
          <p:cNvSpPr>
            <a:spLocks noGrp="1"/>
          </p:cNvSpPr>
          <p:nvPr/>
        </p:nvSpPr>
        <p:spPr>
          <a:xfrm>
            <a:off x="6229350" y="2571750"/>
            <a:ext cx="1219200" cy="819150"/>
          </a:xfrm>
          <a:prstGeom prst="roundRect">
            <a:avLst>
              <a:gd name="adj" fmla="val 9302"/>
            </a:avLst>
          </a:prstGeom>
          <a:solidFill>
            <a:srgbClr val="CDB4DB"/>
          </a:solidFill>
          <a:ln w="19050">
            <a:solidFill>
              <a:srgbClr val="6D28D9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93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Decoder</a:t>
            </a:r>
          </a:p>
          <a:p>
            <a:pPr algn="ctr">
              <a:defRPr sz="93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q queries attend memory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EDF4B39F-2C53-4C18-BD80-C1A154B1DC57}"/>
              </a:ext>
            </a:extLst>
          </p:cNvPr>
          <p:cNvSpPr>
            <a:spLocks noGrp="1"/>
          </p:cNvSpPr>
          <p:nvPr/>
        </p:nvSpPr>
        <p:spPr>
          <a:xfrm>
            <a:off x="7477125" y="2981325"/>
            <a:ext cx="161925" cy="9525"/>
          </a:xfrm>
          <a:prstGeom prst="line">
            <a:avLst/>
          </a:prstGeom>
          <a:ln w="19050">
            <a:solidFill>
              <a:srgbClr val="334155"/>
            </a:solidFill>
            <a:prstDash val="solid"/>
          </a:ln>
        </p:spPr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FDF862B-DB8A-40CD-90EE-F5F591940CD6}"/>
              </a:ext>
            </a:extLst>
          </p:cNvPr>
          <p:cNvSpPr>
            <a:spLocks noGrp="1"/>
          </p:cNvSpPr>
          <p:nvPr/>
        </p:nvSpPr>
        <p:spPr>
          <a:xfrm>
            <a:off x="7658100" y="2571750"/>
            <a:ext cx="1219200" cy="819150"/>
          </a:xfrm>
          <a:prstGeom prst="roundRect">
            <a:avLst>
              <a:gd name="adj" fmla="val 9302"/>
            </a:avLst>
          </a:prstGeom>
          <a:solidFill>
            <a:srgbClr val="F8C4C4"/>
          </a:solidFill>
          <a:ln w="19050">
            <a:solidFill>
              <a:srgbClr val="9B2226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93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Heads</a:t>
            </a:r>
          </a:p>
          <a:p>
            <a:pPr algn="ctr">
              <a:defRPr sz="93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alpha / obj / mu / rho / delta</a:t>
            </a:r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E58BD3AD-B726-45FF-96DA-BAE14839025D}"/>
              </a:ext>
            </a:extLst>
          </p:cNvPr>
          <p:cNvSpPr>
            <a:spLocks noGrp="1"/>
          </p:cNvSpPr>
          <p:nvPr/>
        </p:nvSpPr>
        <p:spPr>
          <a:xfrm>
            <a:off x="8905875" y="2981325"/>
            <a:ext cx="161925" cy="9525"/>
          </a:xfrm>
          <a:prstGeom prst="line">
            <a:avLst/>
          </a:prstGeom>
          <a:ln w="19050">
            <a:solidFill>
              <a:srgbClr val="334155"/>
            </a:solidFill>
            <a:prstDash val="solid"/>
          </a:ln>
        </p:spPr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9B9AFD6F-5C14-47AC-88FC-BC1830776585}"/>
              </a:ext>
            </a:extLst>
          </p:cNvPr>
          <p:cNvSpPr>
            <a:spLocks noGrp="1"/>
          </p:cNvSpPr>
          <p:nvPr/>
        </p:nvSpPr>
        <p:spPr>
          <a:xfrm>
            <a:off x="9086850" y="2571750"/>
            <a:ext cx="1219200" cy="819150"/>
          </a:xfrm>
          <a:prstGeom prst="roundRect">
            <a:avLst>
              <a:gd name="adj" fmla="val 9302"/>
            </a:avLst>
          </a:prstGeom>
          <a:solidFill>
            <a:srgbClr val="F6B26B"/>
          </a:solidFill>
          <a:ln w="19050">
            <a:solidFill>
              <a:srgbClr val="B45309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93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Top-k + Gauge</a:t>
            </a:r>
          </a:p>
          <a:p>
            <a:pPr algn="ctr">
              <a:defRPr sz="93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 x L_eff</a:t>
            </a:r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70B98969-A232-4C70-8D17-BF85D55C3FF8}"/>
              </a:ext>
            </a:extLst>
          </p:cNvPr>
          <p:cNvSpPr>
            <a:spLocks noGrp="1"/>
          </p:cNvSpPr>
          <p:nvPr/>
        </p:nvSpPr>
        <p:spPr>
          <a:xfrm>
            <a:off x="10334625" y="2981325"/>
            <a:ext cx="161925" cy="9525"/>
          </a:xfrm>
          <a:prstGeom prst="line">
            <a:avLst/>
          </a:prstGeom>
          <a:ln w="19050">
            <a:solidFill>
              <a:srgbClr val="334155"/>
            </a:solidFill>
            <a:prstDash val="solid"/>
          </a:ln>
        </p:spPr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05F57BA-8A94-4070-91F2-54B4D548BC22}"/>
              </a:ext>
            </a:extLst>
          </p:cNvPr>
          <p:cNvSpPr>
            <a:spLocks noGrp="1"/>
          </p:cNvSpPr>
          <p:nvPr/>
        </p:nvSpPr>
        <p:spPr>
          <a:xfrm>
            <a:off x="10515600" y="2571750"/>
            <a:ext cx="1219200" cy="819150"/>
          </a:xfrm>
          <a:prstGeom prst="roundRect">
            <a:avLst>
              <a:gd name="adj" fmla="val 9302"/>
            </a:avLst>
          </a:prstGeom>
          <a:solidFill>
            <a:srgbClr val="B7E4C7"/>
          </a:solidFill>
          <a:ln w="19050">
            <a:solidFill>
              <a:srgbClr val="1B4332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93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Outputs</a:t>
            </a:r>
          </a:p>
          <a:p>
            <a:pPr algn="ctr">
              <a:defRPr sz="93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theta + scores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E440685-7642-4E9D-84CF-8B08CA0276DB}"/>
              </a:ext>
            </a:extLst>
          </p:cNvPr>
          <p:cNvSpPr>
            <a:spLocks noGrp="1"/>
          </p:cNvSpPr>
          <p:nvPr/>
        </p:nvSpPr>
        <p:spPr>
          <a:xfrm>
            <a:off x="8267700" y="4495800"/>
            <a:ext cx="2571750" cy="704850"/>
          </a:xfrm>
          <a:prstGeom prst="roundRect">
            <a:avLst>
              <a:gd name="adj" fmla="val 10811"/>
            </a:avLst>
          </a:prstGeom>
          <a:solidFill>
            <a:srgbClr val="EEF1F5"/>
          </a:solidFill>
          <a:ln w="19050">
            <a:solidFill>
              <a:srgbClr val="9AA3AF"/>
            </a:solidFill>
            <a:prstDash val="dash"/>
          </a:ln>
        </p:spPr>
        <p:txBody>
          <a:bodyPr lIns="95250" tIns="57150" rIns="95250" bIns="57150" anchor="ctr"/>
          <a:lstStyle/>
          <a:p>
            <a:pPr algn="ctr">
              <a:defRPr sz="11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G head / G_hat / gains_all</a:t>
            </a:r>
          </a:p>
          <a:p>
            <a:pPr algn="ctr">
              <a:defRPr sz="11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后续不使用，本稿不展开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3256C00-1041-30C5-5D18-1D8F2123DDC0}"/>
              </a:ext>
            </a:extLst>
          </p:cNvPr>
          <p:cNvSpPr txBox="1"/>
          <p:nvPr/>
        </p:nvSpPr>
        <p:spPr>
          <a:xfrm>
            <a:off x="984250" y="4006850"/>
            <a:ext cx="69156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备注：第一个</a:t>
            </a:r>
            <a:r>
              <a:rPr lang="en-US" altLang="zh-CN" dirty="0"/>
              <a:t>block</a:t>
            </a:r>
            <a:r>
              <a:rPr lang="zh-CN" altLang="en-US" dirty="0"/>
              <a:t>应该是</a:t>
            </a:r>
            <a:r>
              <a:rPr lang="en-US" altLang="zh-CN" dirty="0"/>
              <a:t>x</a:t>
            </a:r>
            <a:r>
              <a:rPr lang="zh-CN" altLang="en-US" dirty="0"/>
              <a:t>和</a:t>
            </a:r>
            <a:r>
              <a:rPr lang="en-US" altLang="zh-CN" dirty="0"/>
              <a:t>y</a:t>
            </a:r>
          </a:p>
          <a:p>
            <a:r>
              <a:rPr lang="zh-CN" altLang="en-US" dirty="0"/>
              <a:t>这里的流程图上，尽量在两个</a:t>
            </a:r>
            <a:r>
              <a:rPr lang="en-US" altLang="zh-CN" dirty="0" err="1"/>
              <a:t>bolck</a:t>
            </a:r>
            <a:r>
              <a:rPr lang="zh-CN" altLang="en-US" dirty="0"/>
              <a:t>的连接处，写上输入和输出维度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4815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62">
            <a:extLst>
              <a:ext uri="{FF2B5EF4-FFF2-40B4-BE49-F238E27FC236}">
                <a16:creationId xmlns:a16="http://schemas.microsoft.com/office/drawing/2014/main" id="{70EED4BA-4D01-44C9-938E-3766B123825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 w="0">
            <a:solidFill>
              <a:srgbClr val="F7F9FC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B11BF44-0F87-4D2D-835B-8D7BA8E79EAB}"/>
              </a:ext>
            </a:extLst>
          </p:cNvPr>
          <p:cNvSpPr>
            <a:spLocks noGrp="1"/>
          </p:cNvSpPr>
          <p:nvPr/>
        </p:nvSpPr>
        <p:spPr>
          <a:xfrm>
            <a:off x="10001250" y="6419850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r">
              <a:defRPr sz="7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DETR architecture | 03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A95E422-39B7-40F7-962E-C7F457C8E8F9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533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符号和物理口径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1526736-E498-43A2-8F26-2F46D5E39755}"/>
              </a:ext>
            </a:extLst>
          </p:cNvPr>
          <p:cNvSpPr>
            <a:spLocks noGrp="1"/>
          </p:cNvSpPr>
          <p:nvPr/>
        </p:nvSpPr>
        <p:spPr>
          <a:xfrm>
            <a:off x="514350" y="495300"/>
            <a:ext cx="7620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2325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325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输入与配置参数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2A028E-CCE9-4A76-B0DA-AB81F87267CA}"/>
              </a:ext>
            </a:extLst>
          </p:cNvPr>
          <p:cNvSpPr>
            <a:spLocks noGrp="1"/>
          </p:cNvSpPr>
          <p:nvPr/>
        </p:nvSpPr>
        <p:spPr>
          <a:xfrm>
            <a:off x="514350" y="1123950"/>
            <a:ext cx="1066800" cy="3810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C95D00-E846-41C1-BA8C-40E08242A47D}"/>
              </a:ext>
            </a:extLst>
          </p:cNvPr>
          <p:cNvSpPr>
            <a:spLocks noGrp="1"/>
          </p:cNvSpPr>
          <p:nvPr/>
        </p:nvSpPr>
        <p:spPr>
          <a:xfrm>
            <a:off x="723900" y="1924050"/>
            <a:ext cx="3143250" cy="1123950"/>
          </a:xfrm>
          <a:prstGeom prst="roundRect">
            <a:avLst>
              <a:gd name="adj" fmla="val 6780"/>
            </a:avLst>
          </a:prstGeom>
          <a:solidFill>
            <a:srgbClr val="B7E4C7"/>
          </a:solidFill>
          <a:ln w="19050">
            <a:solidFill>
              <a:srgbClr val="1B4332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Input x</a:t>
            </a:r>
          </a:p>
          <a:p>
            <a:pPr algn="ctr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 x 2N_rx x N_sc x N_obs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BD2F6D3-039F-4641-82AA-8556621CA4C1}"/>
              </a:ext>
            </a:extLst>
          </p:cNvPr>
          <p:cNvSpPr>
            <a:spLocks noGrp="1"/>
          </p:cNvSpPr>
          <p:nvPr/>
        </p:nvSpPr>
        <p:spPr>
          <a:xfrm>
            <a:off x="781050" y="3476625"/>
            <a:ext cx="66675" cy="66675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CDE4318-B33B-4114-9C13-15949575E67D}"/>
              </a:ext>
            </a:extLst>
          </p:cNvPr>
          <p:cNvSpPr>
            <a:spLocks noGrp="1"/>
          </p:cNvSpPr>
          <p:nvPr/>
        </p:nvSpPr>
        <p:spPr>
          <a:xfrm>
            <a:off x="952500" y="3429000"/>
            <a:ext cx="43053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B: batch size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E405B7E-97A5-47AF-A24F-536FEC798FDC}"/>
              </a:ext>
            </a:extLst>
          </p:cNvPr>
          <p:cNvSpPr>
            <a:spLocks noGrp="1"/>
          </p:cNvSpPr>
          <p:nvPr/>
        </p:nvSpPr>
        <p:spPr>
          <a:xfrm>
            <a:off x="781050" y="3876675"/>
            <a:ext cx="66675" cy="66675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2ABD5F3-967C-405E-9D35-10B30C07400D}"/>
              </a:ext>
            </a:extLst>
          </p:cNvPr>
          <p:cNvSpPr>
            <a:spLocks noGrp="1"/>
          </p:cNvSpPr>
          <p:nvPr/>
        </p:nvSpPr>
        <p:spPr>
          <a:xfrm>
            <a:off x="952500" y="3829050"/>
            <a:ext cx="43053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2N_rx: 每个接收端复数观测拆成实部/虚部通道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7581CC9-6E5A-4D2A-9AE4-E48B193CFFB2}"/>
              </a:ext>
            </a:extLst>
          </p:cNvPr>
          <p:cNvSpPr>
            <a:spLocks noGrp="1"/>
          </p:cNvSpPr>
          <p:nvPr/>
        </p:nvSpPr>
        <p:spPr>
          <a:xfrm>
            <a:off x="781050" y="4276725"/>
            <a:ext cx="66675" cy="66675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3232DD9-E106-4EB2-8476-C50E63AD91B2}"/>
              </a:ext>
            </a:extLst>
          </p:cNvPr>
          <p:cNvSpPr>
            <a:spLocks noGrp="1"/>
          </p:cNvSpPr>
          <p:nvPr/>
        </p:nvSpPr>
        <p:spPr>
          <a:xfrm>
            <a:off x="952500" y="4229100"/>
            <a:ext cx="43053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N_sc x N_obs: 子载波/观测符号二维网格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E7D8A53-3AB3-46F1-B53F-666D0C8B1DDC}"/>
              </a:ext>
            </a:extLst>
          </p:cNvPr>
          <p:cNvSpPr>
            <a:spLocks noGrp="1"/>
          </p:cNvSpPr>
          <p:nvPr/>
        </p:nvSpPr>
        <p:spPr>
          <a:xfrm>
            <a:off x="781050" y="4676775"/>
            <a:ext cx="66675" cy="66675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6581AF9-8072-4C4A-8431-234818EFDC12}"/>
              </a:ext>
            </a:extLst>
          </p:cNvPr>
          <p:cNvSpPr>
            <a:spLocks noGrp="1"/>
          </p:cNvSpPr>
          <p:nvPr/>
        </p:nvSpPr>
        <p:spPr>
          <a:xfrm>
            <a:off x="952500" y="4629150"/>
            <a:ext cx="43053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shape check 不匹配时抛出 ValueError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0F0C405-D57A-4F9D-AF41-3C822A712B32}"/>
              </a:ext>
            </a:extLst>
          </p:cNvPr>
          <p:cNvSpPr>
            <a:spLocks noGrp="1"/>
          </p:cNvSpPr>
          <p:nvPr/>
        </p:nvSpPr>
        <p:spPr>
          <a:xfrm>
            <a:off x="4857750" y="1600200"/>
            <a:ext cx="1131570" cy="438150"/>
          </a:xfrm>
          <a:prstGeom prst="rect">
            <a:avLst/>
          </a:prstGeom>
          <a:solidFill>
            <a:srgbClr val="E8EEF8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0A1E68D-BE45-425A-8DF2-1B3F22FD2CB6}"/>
              </a:ext>
            </a:extLst>
          </p:cNvPr>
          <p:cNvSpPr>
            <a:spLocks noGrp="1"/>
          </p:cNvSpPr>
          <p:nvPr/>
        </p:nvSpPr>
        <p:spPr>
          <a:xfrm>
            <a:off x="4933950" y="1647825"/>
            <a:ext cx="97917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3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符号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98D158A-7756-4241-9EDA-5B1578B50DB9}"/>
              </a:ext>
            </a:extLst>
          </p:cNvPr>
          <p:cNvSpPr>
            <a:spLocks noGrp="1"/>
          </p:cNvSpPr>
          <p:nvPr/>
        </p:nvSpPr>
        <p:spPr>
          <a:xfrm>
            <a:off x="5989320" y="1600200"/>
            <a:ext cx="2640330" cy="438150"/>
          </a:xfrm>
          <a:prstGeom prst="rect">
            <a:avLst/>
          </a:prstGeom>
          <a:solidFill>
            <a:srgbClr val="E8EEF8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DA38907-2855-4E1C-AE4C-9E3D8B57E66E}"/>
              </a:ext>
            </a:extLst>
          </p:cNvPr>
          <p:cNvSpPr>
            <a:spLocks noGrp="1"/>
          </p:cNvSpPr>
          <p:nvPr/>
        </p:nvSpPr>
        <p:spPr>
          <a:xfrm>
            <a:off x="6065520" y="1647825"/>
            <a:ext cx="248793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3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含义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B79DF5F-77A2-4FA4-A73E-325F688ABA94}"/>
              </a:ext>
            </a:extLst>
          </p:cNvPr>
          <p:cNvSpPr>
            <a:spLocks noGrp="1"/>
          </p:cNvSpPr>
          <p:nvPr/>
        </p:nvSpPr>
        <p:spPr>
          <a:xfrm>
            <a:off x="8629650" y="1600200"/>
            <a:ext cx="2514600" cy="438150"/>
          </a:xfrm>
          <a:prstGeom prst="rect">
            <a:avLst/>
          </a:prstGeom>
          <a:solidFill>
            <a:srgbClr val="E8EEF8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9FDFB5F-FFCF-4D44-A8BE-60A21AE0A32A}"/>
              </a:ext>
            </a:extLst>
          </p:cNvPr>
          <p:cNvSpPr>
            <a:spLocks noGrp="1"/>
          </p:cNvSpPr>
          <p:nvPr/>
        </p:nvSpPr>
        <p:spPr>
          <a:xfrm>
            <a:off x="8705850" y="1647825"/>
            <a:ext cx="23622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3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维度角色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B93BE7F-B75F-4149-BA26-240D3FBEC8F4}"/>
              </a:ext>
            </a:extLst>
          </p:cNvPr>
          <p:cNvSpPr>
            <a:spLocks noGrp="1"/>
          </p:cNvSpPr>
          <p:nvPr/>
        </p:nvSpPr>
        <p:spPr>
          <a:xfrm>
            <a:off x="4857750" y="2038350"/>
            <a:ext cx="113157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CEA228B-922B-4E77-98DE-A0BAA5CB9004}"/>
              </a:ext>
            </a:extLst>
          </p:cNvPr>
          <p:cNvSpPr>
            <a:spLocks noGrp="1"/>
          </p:cNvSpPr>
          <p:nvPr/>
        </p:nvSpPr>
        <p:spPr>
          <a:xfrm>
            <a:off x="4933950" y="2085975"/>
            <a:ext cx="97917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38" b="0">
                <a:solidFill>
                  <a:srgbClr val="5B6472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5B6472"/>
                </a:solidFill>
                <a:latin typeface="Aptos Mono"/>
                <a:ea typeface="Aptos Mono"/>
                <a:cs typeface="Aptos Mono"/>
              </a:rPr>
              <a:t>N_rx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63267B3-F4DF-4B78-BA86-639E55D8F4A9}"/>
              </a:ext>
            </a:extLst>
          </p:cNvPr>
          <p:cNvSpPr>
            <a:spLocks noGrp="1"/>
          </p:cNvSpPr>
          <p:nvPr/>
        </p:nvSpPr>
        <p:spPr>
          <a:xfrm>
            <a:off x="5989320" y="2038350"/>
            <a:ext cx="264033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060AE1C-8B35-4788-9FCD-B938A36F5084}"/>
              </a:ext>
            </a:extLst>
          </p:cNvPr>
          <p:cNvSpPr>
            <a:spLocks noGrp="1"/>
          </p:cNvSpPr>
          <p:nvPr/>
        </p:nvSpPr>
        <p:spPr>
          <a:xfrm>
            <a:off x="6065520" y="2085975"/>
            <a:ext cx="248793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3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接收端数量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FCCB304-4866-43D0-8EB4-6F63D4D352F4}"/>
              </a:ext>
            </a:extLst>
          </p:cNvPr>
          <p:cNvSpPr>
            <a:spLocks noGrp="1"/>
          </p:cNvSpPr>
          <p:nvPr/>
        </p:nvSpPr>
        <p:spPr>
          <a:xfrm>
            <a:off x="8629650" y="2038350"/>
            <a:ext cx="251460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336A143-E0CC-49FA-833C-38B2A26CDB5A}"/>
              </a:ext>
            </a:extLst>
          </p:cNvPr>
          <p:cNvSpPr>
            <a:spLocks noGrp="1"/>
          </p:cNvSpPr>
          <p:nvPr/>
        </p:nvSpPr>
        <p:spPr>
          <a:xfrm>
            <a:off x="8705850" y="2085975"/>
            <a:ext cx="23622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3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输入通道和 delta_rx 输出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47D0D26-6AFE-4D37-99D4-03339E300CA0}"/>
              </a:ext>
            </a:extLst>
          </p:cNvPr>
          <p:cNvSpPr>
            <a:spLocks noGrp="1"/>
          </p:cNvSpPr>
          <p:nvPr/>
        </p:nvSpPr>
        <p:spPr>
          <a:xfrm>
            <a:off x="4857750" y="2476500"/>
            <a:ext cx="1131570" cy="438150"/>
          </a:xfrm>
          <a:prstGeom prst="rect">
            <a:avLst/>
          </a:prstGeom>
          <a:solidFill>
            <a:srgbClr val="F4F7FB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809E129-723F-4930-A2CD-2BA0E9AED66B}"/>
              </a:ext>
            </a:extLst>
          </p:cNvPr>
          <p:cNvSpPr>
            <a:spLocks noGrp="1"/>
          </p:cNvSpPr>
          <p:nvPr/>
        </p:nvSpPr>
        <p:spPr>
          <a:xfrm>
            <a:off x="4933950" y="2524125"/>
            <a:ext cx="97917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38" b="0">
                <a:solidFill>
                  <a:srgbClr val="5B6472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5B6472"/>
                </a:solidFill>
                <a:latin typeface="Aptos Mono"/>
                <a:ea typeface="Aptos Mono"/>
                <a:cs typeface="Aptos Mono"/>
              </a:rPr>
              <a:t>N_tx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AF1DC97-EC85-4C2C-8091-E0FA704DE8EB}"/>
              </a:ext>
            </a:extLst>
          </p:cNvPr>
          <p:cNvSpPr>
            <a:spLocks noGrp="1"/>
          </p:cNvSpPr>
          <p:nvPr/>
        </p:nvSpPr>
        <p:spPr>
          <a:xfrm>
            <a:off x="5989320" y="2476500"/>
            <a:ext cx="2640330" cy="438150"/>
          </a:xfrm>
          <a:prstGeom prst="rect">
            <a:avLst/>
          </a:prstGeom>
          <a:solidFill>
            <a:srgbClr val="F4F7FB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E649103-0C98-4E24-A3A8-6B062DBAA02A}"/>
              </a:ext>
            </a:extLst>
          </p:cNvPr>
          <p:cNvSpPr>
            <a:spLocks noGrp="1"/>
          </p:cNvSpPr>
          <p:nvPr/>
        </p:nvSpPr>
        <p:spPr>
          <a:xfrm>
            <a:off x="6065520" y="2524125"/>
            <a:ext cx="248793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3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发送端数量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A0FAF92-F0EE-4865-A91D-69EB97822C18}"/>
              </a:ext>
            </a:extLst>
          </p:cNvPr>
          <p:cNvSpPr>
            <a:spLocks noGrp="1"/>
          </p:cNvSpPr>
          <p:nvPr/>
        </p:nvSpPr>
        <p:spPr>
          <a:xfrm>
            <a:off x="8629650" y="2476500"/>
            <a:ext cx="2514600" cy="438150"/>
          </a:xfrm>
          <a:prstGeom prst="rect">
            <a:avLst/>
          </a:prstGeom>
          <a:solidFill>
            <a:srgbClr val="F4F7FB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719A9E5-22D0-4289-AFA9-E6A6E79721A8}"/>
              </a:ext>
            </a:extLst>
          </p:cNvPr>
          <p:cNvSpPr>
            <a:spLocks noGrp="1"/>
          </p:cNvSpPr>
          <p:nvPr/>
        </p:nvSpPr>
        <p:spPr>
          <a:xfrm>
            <a:off x="8705850" y="2524125"/>
            <a:ext cx="23622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3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保留为配置符号，本稿不展开 G 分支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83E16B7-BE0A-432B-A369-846295349684}"/>
              </a:ext>
            </a:extLst>
          </p:cNvPr>
          <p:cNvSpPr>
            <a:spLocks noGrp="1"/>
          </p:cNvSpPr>
          <p:nvPr/>
        </p:nvSpPr>
        <p:spPr>
          <a:xfrm>
            <a:off x="4857750" y="2914650"/>
            <a:ext cx="113157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4453A45-CC40-434E-9255-78526A03079E}"/>
              </a:ext>
            </a:extLst>
          </p:cNvPr>
          <p:cNvSpPr>
            <a:spLocks noGrp="1"/>
          </p:cNvSpPr>
          <p:nvPr/>
        </p:nvSpPr>
        <p:spPr>
          <a:xfrm>
            <a:off x="4933950" y="2962275"/>
            <a:ext cx="97917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38" b="0">
                <a:solidFill>
                  <a:srgbClr val="5B6472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5B6472"/>
                </a:solidFill>
                <a:latin typeface="Aptos Mono"/>
                <a:ea typeface="Aptos Mono"/>
                <a:cs typeface="Aptos Mono"/>
              </a:rPr>
              <a:t>N_sc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05BAD4B-69E0-47CB-9BA4-3EC310F5C55B}"/>
              </a:ext>
            </a:extLst>
          </p:cNvPr>
          <p:cNvSpPr>
            <a:spLocks noGrp="1"/>
          </p:cNvSpPr>
          <p:nvPr/>
        </p:nvSpPr>
        <p:spPr>
          <a:xfrm>
            <a:off x="5989320" y="2914650"/>
            <a:ext cx="264033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A56EAD0-E1CC-4146-A9AC-39AB344664A1}"/>
              </a:ext>
            </a:extLst>
          </p:cNvPr>
          <p:cNvSpPr>
            <a:spLocks noGrp="1"/>
          </p:cNvSpPr>
          <p:nvPr/>
        </p:nvSpPr>
        <p:spPr>
          <a:xfrm>
            <a:off x="6065520" y="2962275"/>
            <a:ext cx="248793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3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子载波数量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E8AB081-9693-4E44-83D1-E152C7BB56A3}"/>
              </a:ext>
            </a:extLst>
          </p:cNvPr>
          <p:cNvSpPr>
            <a:spLocks noGrp="1"/>
          </p:cNvSpPr>
          <p:nvPr/>
        </p:nvSpPr>
        <p:spPr>
          <a:xfrm>
            <a:off x="8629650" y="2914650"/>
            <a:ext cx="251460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DC37E8D-E735-41BD-83E9-24C41E45EFCB}"/>
              </a:ext>
            </a:extLst>
          </p:cNvPr>
          <p:cNvSpPr>
            <a:spLocks noGrp="1"/>
          </p:cNvSpPr>
          <p:nvPr/>
        </p:nvSpPr>
        <p:spPr>
          <a:xfrm>
            <a:off x="8705850" y="2962275"/>
            <a:ext cx="23622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3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grid 高度 / pos_k 长度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5ED3329-1742-49F2-A6CF-02B2EBF89343}"/>
              </a:ext>
            </a:extLst>
          </p:cNvPr>
          <p:cNvSpPr>
            <a:spLocks noGrp="1"/>
          </p:cNvSpPr>
          <p:nvPr/>
        </p:nvSpPr>
        <p:spPr>
          <a:xfrm>
            <a:off x="4857750" y="3352800"/>
            <a:ext cx="1131570" cy="438150"/>
          </a:xfrm>
          <a:prstGeom prst="rect">
            <a:avLst/>
          </a:prstGeom>
          <a:solidFill>
            <a:srgbClr val="F4F7FB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48F8F7F-4A2C-486D-BD45-B98E86E66B6F}"/>
              </a:ext>
            </a:extLst>
          </p:cNvPr>
          <p:cNvSpPr>
            <a:spLocks noGrp="1"/>
          </p:cNvSpPr>
          <p:nvPr/>
        </p:nvSpPr>
        <p:spPr>
          <a:xfrm>
            <a:off x="4933950" y="3400425"/>
            <a:ext cx="97917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38" b="0">
                <a:solidFill>
                  <a:srgbClr val="5B6472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5B6472"/>
                </a:solidFill>
                <a:latin typeface="Aptos Mono"/>
                <a:ea typeface="Aptos Mono"/>
                <a:cs typeface="Aptos Mono"/>
              </a:rPr>
              <a:t>N_obs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47D0AE2-E8FE-49A4-8B4D-778C3F74B184}"/>
              </a:ext>
            </a:extLst>
          </p:cNvPr>
          <p:cNvSpPr>
            <a:spLocks noGrp="1"/>
          </p:cNvSpPr>
          <p:nvPr/>
        </p:nvSpPr>
        <p:spPr>
          <a:xfrm>
            <a:off x="5989320" y="3352800"/>
            <a:ext cx="2640330" cy="438150"/>
          </a:xfrm>
          <a:prstGeom prst="rect">
            <a:avLst/>
          </a:prstGeom>
          <a:solidFill>
            <a:srgbClr val="F4F7FB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1845BD7-D3CE-4DC5-89F3-E1C2F2D3B955}"/>
              </a:ext>
            </a:extLst>
          </p:cNvPr>
          <p:cNvSpPr>
            <a:spLocks noGrp="1"/>
          </p:cNvSpPr>
          <p:nvPr/>
        </p:nvSpPr>
        <p:spPr>
          <a:xfrm>
            <a:off x="6065520" y="3400425"/>
            <a:ext cx="248793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3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observedSymbols 长度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0FBDE65-1201-4EC8-9C02-562B13688259}"/>
              </a:ext>
            </a:extLst>
          </p:cNvPr>
          <p:cNvSpPr>
            <a:spLocks noGrp="1"/>
          </p:cNvSpPr>
          <p:nvPr/>
        </p:nvSpPr>
        <p:spPr>
          <a:xfrm>
            <a:off x="8629650" y="3352800"/>
            <a:ext cx="2514600" cy="438150"/>
          </a:xfrm>
          <a:prstGeom prst="rect">
            <a:avLst/>
          </a:prstGeom>
          <a:solidFill>
            <a:srgbClr val="F4F7FB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69BA62E-732D-47ED-B926-F993C9D5F8EF}"/>
              </a:ext>
            </a:extLst>
          </p:cNvPr>
          <p:cNvSpPr>
            <a:spLocks noGrp="1"/>
          </p:cNvSpPr>
          <p:nvPr/>
        </p:nvSpPr>
        <p:spPr>
          <a:xfrm>
            <a:off x="8705850" y="3400425"/>
            <a:ext cx="23622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3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grid 宽度 / pos_n 长度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71223C6-BDF1-43F8-A444-AFA21F3D94D0}"/>
              </a:ext>
            </a:extLst>
          </p:cNvPr>
          <p:cNvSpPr>
            <a:spLocks noGrp="1"/>
          </p:cNvSpPr>
          <p:nvPr/>
        </p:nvSpPr>
        <p:spPr>
          <a:xfrm>
            <a:off x="4857750" y="3790950"/>
            <a:ext cx="113157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84DA7D1-6EF6-48E4-8738-6B46B57DAD20}"/>
              </a:ext>
            </a:extLst>
          </p:cNvPr>
          <p:cNvSpPr>
            <a:spLocks noGrp="1"/>
          </p:cNvSpPr>
          <p:nvPr/>
        </p:nvSpPr>
        <p:spPr>
          <a:xfrm>
            <a:off x="4933950" y="3838575"/>
            <a:ext cx="97917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38" b="0">
                <a:solidFill>
                  <a:srgbClr val="5B6472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5B6472"/>
                </a:solidFill>
                <a:latin typeface="Aptos Mono"/>
                <a:ea typeface="Aptos Mono"/>
                <a:cs typeface="Aptos Mono"/>
              </a:rPr>
              <a:t>L_eff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651C0B9-D12A-4654-A27B-108113D8A5E6}"/>
              </a:ext>
            </a:extLst>
          </p:cNvPr>
          <p:cNvSpPr>
            <a:spLocks noGrp="1"/>
          </p:cNvSpPr>
          <p:nvPr/>
        </p:nvSpPr>
        <p:spPr>
          <a:xfrm>
            <a:off x="5989320" y="3790950"/>
            <a:ext cx="264033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5FD532B-CF21-486D-BBC7-99FEE1130239}"/>
              </a:ext>
            </a:extLst>
          </p:cNvPr>
          <p:cNvSpPr>
            <a:spLocks noGrp="1"/>
          </p:cNvSpPr>
          <p:nvPr/>
        </p:nvSpPr>
        <p:spPr>
          <a:xfrm>
            <a:off x="6065520" y="3838575"/>
            <a:ext cx="248793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3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有效路径数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05780AD-3442-4381-8CBC-4AF10F6FB246}"/>
              </a:ext>
            </a:extLst>
          </p:cNvPr>
          <p:cNvSpPr>
            <a:spLocks noGrp="1"/>
          </p:cNvSpPr>
          <p:nvPr/>
        </p:nvSpPr>
        <p:spPr>
          <a:xfrm>
            <a:off x="8629650" y="3790950"/>
            <a:ext cx="251460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13022D27-4029-45C9-A61A-79DC4321140E}"/>
              </a:ext>
            </a:extLst>
          </p:cNvPr>
          <p:cNvSpPr>
            <a:spLocks noGrp="1"/>
          </p:cNvSpPr>
          <p:nvPr/>
        </p:nvSpPr>
        <p:spPr>
          <a:xfrm>
            <a:off x="8705850" y="3838575"/>
            <a:ext cx="23622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3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top-k 输出路径数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7AE1E189-E124-44B6-8125-9A842BDCA9FC}"/>
              </a:ext>
            </a:extLst>
          </p:cNvPr>
          <p:cNvSpPr>
            <a:spLocks noGrp="1"/>
          </p:cNvSpPr>
          <p:nvPr/>
        </p:nvSpPr>
        <p:spPr>
          <a:xfrm>
            <a:off x="4857750" y="4229100"/>
            <a:ext cx="1131570" cy="438150"/>
          </a:xfrm>
          <a:prstGeom prst="rect">
            <a:avLst/>
          </a:prstGeom>
          <a:solidFill>
            <a:srgbClr val="F4F7FB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DC18717-2AAC-4ADF-A513-37D9CB1EA314}"/>
              </a:ext>
            </a:extLst>
          </p:cNvPr>
          <p:cNvSpPr>
            <a:spLocks noGrp="1"/>
          </p:cNvSpPr>
          <p:nvPr/>
        </p:nvSpPr>
        <p:spPr>
          <a:xfrm>
            <a:off x="4933950" y="4276725"/>
            <a:ext cx="97917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38" b="0">
                <a:solidFill>
                  <a:srgbClr val="5B6472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5B6472"/>
                </a:solidFill>
                <a:latin typeface="Aptos Mono"/>
                <a:ea typeface="Aptos Mono"/>
                <a:cs typeface="Aptos Mono"/>
              </a:rPr>
              <a:t>d_model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545C80EE-11AC-4DB4-9981-CBE3DB963912}"/>
              </a:ext>
            </a:extLst>
          </p:cNvPr>
          <p:cNvSpPr>
            <a:spLocks noGrp="1"/>
          </p:cNvSpPr>
          <p:nvPr/>
        </p:nvSpPr>
        <p:spPr>
          <a:xfrm>
            <a:off x="5989320" y="4229100"/>
            <a:ext cx="2640330" cy="438150"/>
          </a:xfrm>
          <a:prstGeom prst="rect">
            <a:avLst/>
          </a:prstGeom>
          <a:solidFill>
            <a:srgbClr val="F4F7FB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8A8B5996-0259-421A-954C-BA9C17E58B15}"/>
              </a:ext>
            </a:extLst>
          </p:cNvPr>
          <p:cNvSpPr>
            <a:spLocks noGrp="1"/>
          </p:cNvSpPr>
          <p:nvPr/>
        </p:nvSpPr>
        <p:spPr>
          <a:xfrm>
            <a:off x="6065520" y="4276725"/>
            <a:ext cx="248793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3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Transformer 隐空间维度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3E674A7F-5B8C-4FA9-AB49-DFFF173080A1}"/>
              </a:ext>
            </a:extLst>
          </p:cNvPr>
          <p:cNvSpPr>
            <a:spLocks noGrp="1"/>
          </p:cNvSpPr>
          <p:nvPr/>
        </p:nvSpPr>
        <p:spPr>
          <a:xfrm>
            <a:off x="8629650" y="4229100"/>
            <a:ext cx="2514600" cy="438150"/>
          </a:xfrm>
          <a:prstGeom prst="rect">
            <a:avLst/>
          </a:prstGeom>
          <a:solidFill>
            <a:srgbClr val="F4F7FB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11F2B3F-FE09-4E3D-9D9B-D03DFD65629D}"/>
              </a:ext>
            </a:extLst>
          </p:cNvPr>
          <p:cNvSpPr>
            <a:spLocks noGrp="1"/>
          </p:cNvSpPr>
          <p:nvPr/>
        </p:nvSpPr>
        <p:spPr>
          <a:xfrm>
            <a:off x="8705850" y="4276725"/>
            <a:ext cx="23622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3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CNN stem 输出通道和 token 宽度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68C31B0-C427-4413-89E6-BD397E07941C}"/>
              </a:ext>
            </a:extLst>
          </p:cNvPr>
          <p:cNvSpPr>
            <a:spLocks noGrp="1"/>
          </p:cNvSpPr>
          <p:nvPr/>
        </p:nvSpPr>
        <p:spPr>
          <a:xfrm>
            <a:off x="4857750" y="4667250"/>
            <a:ext cx="113157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D6A79032-5C29-415A-945F-3C6267F89D47}"/>
              </a:ext>
            </a:extLst>
          </p:cNvPr>
          <p:cNvSpPr>
            <a:spLocks noGrp="1"/>
          </p:cNvSpPr>
          <p:nvPr/>
        </p:nvSpPr>
        <p:spPr>
          <a:xfrm>
            <a:off x="4933950" y="4714875"/>
            <a:ext cx="97917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38" b="0">
                <a:solidFill>
                  <a:srgbClr val="5B6472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5B6472"/>
                </a:solidFill>
                <a:latin typeface="Aptos Mono"/>
                <a:ea typeface="Aptos Mono"/>
                <a:cs typeface="Aptos Mono"/>
              </a:rPr>
              <a:t>q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FC1F4AD4-BB0B-4336-B025-FB7580C66513}"/>
              </a:ext>
            </a:extLst>
          </p:cNvPr>
          <p:cNvSpPr>
            <a:spLocks noGrp="1"/>
          </p:cNvSpPr>
          <p:nvPr/>
        </p:nvSpPr>
        <p:spPr>
          <a:xfrm>
            <a:off x="5989320" y="4667250"/>
            <a:ext cx="264033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C5DB1B3-E786-42CC-9EA9-9BC31D8FE91B}"/>
              </a:ext>
            </a:extLst>
          </p:cNvPr>
          <p:cNvSpPr>
            <a:spLocks noGrp="1"/>
          </p:cNvSpPr>
          <p:nvPr/>
        </p:nvSpPr>
        <p:spPr>
          <a:xfrm>
            <a:off x="6065520" y="4714875"/>
            <a:ext cx="248793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3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DETR query 数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C5BB8274-DDCD-4DCC-A85F-DA68B006AC74}"/>
              </a:ext>
            </a:extLst>
          </p:cNvPr>
          <p:cNvSpPr>
            <a:spLocks noGrp="1"/>
          </p:cNvSpPr>
          <p:nvPr/>
        </p:nvSpPr>
        <p:spPr>
          <a:xfrm>
            <a:off x="8629650" y="4667250"/>
            <a:ext cx="251460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A540FFC4-4A18-4FDD-9AB6-07DA9E868E69}"/>
              </a:ext>
            </a:extLst>
          </p:cNvPr>
          <p:cNvSpPr>
            <a:spLocks noGrp="1"/>
          </p:cNvSpPr>
          <p:nvPr/>
        </p:nvSpPr>
        <p:spPr>
          <a:xfrm>
            <a:off x="8705850" y="4714875"/>
            <a:ext cx="23622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3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max(L_eff, detrNumQueries)</a:t>
            </a:r>
          </a:p>
        </p:txBody>
      </p:sp>
    </p:spTree>
    <p:extLst>
      <p:ext uri="{BB962C8B-B14F-4D97-AF65-F5344CB8AC3E}">
        <p14:creationId xmlns:p14="http://schemas.microsoft.com/office/powerpoint/2010/main" val="12685470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>
            <a:extLst>
              <a:ext uri="{FF2B5EF4-FFF2-40B4-BE49-F238E27FC236}">
                <a16:creationId xmlns:a16="http://schemas.microsoft.com/office/drawing/2014/main" id="{526D2B87-3558-4AD6-9BD1-162B4EA3B09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 w="0">
            <a:solidFill>
              <a:srgbClr val="F7F9FC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80C0921-3F61-4C80-9DCD-53EEDF08CB54}"/>
              </a:ext>
            </a:extLst>
          </p:cNvPr>
          <p:cNvSpPr>
            <a:spLocks noGrp="1"/>
          </p:cNvSpPr>
          <p:nvPr/>
        </p:nvSpPr>
        <p:spPr>
          <a:xfrm>
            <a:off x="10001250" y="6419850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r">
              <a:defRPr sz="7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DETR architecture | 04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95B8563-0EC6-4EB0-827D-2AA2F635C8A5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533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从二维观测网格到序列 token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190C37-A22C-4E83-9DD6-F3E06824886B}"/>
              </a:ext>
            </a:extLst>
          </p:cNvPr>
          <p:cNvSpPr>
            <a:spLocks noGrp="1"/>
          </p:cNvSpPr>
          <p:nvPr/>
        </p:nvSpPr>
        <p:spPr>
          <a:xfrm>
            <a:off x="514350" y="495300"/>
            <a:ext cx="7620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2325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325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Tensor Layout 与 Tokenization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1B10FD-E379-411D-B505-67D2182FC79B}"/>
              </a:ext>
            </a:extLst>
          </p:cNvPr>
          <p:cNvSpPr>
            <a:spLocks noGrp="1"/>
          </p:cNvSpPr>
          <p:nvPr/>
        </p:nvSpPr>
        <p:spPr>
          <a:xfrm>
            <a:off x="514350" y="1123950"/>
            <a:ext cx="1066800" cy="3810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8F00E74-5C14-4013-9AD0-E5D4984EAF4D}"/>
              </a:ext>
            </a:extLst>
          </p:cNvPr>
          <p:cNvSpPr>
            <a:spLocks noGrp="1"/>
          </p:cNvSpPr>
          <p:nvPr/>
        </p:nvSpPr>
        <p:spPr>
          <a:xfrm>
            <a:off x="838200" y="1885950"/>
            <a:ext cx="2381250" cy="857250"/>
          </a:xfrm>
          <a:prstGeom prst="roundRect">
            <a:avLst>
              <a:gd name="adj" fmla="val 8889"/>
            </a:avLst>
          </a:prstGeom>
          <a:solidFill>
            <a:srgbClr val="A9D6E5"/>
          </a:solidFill>
          <a:ln w="19050">
            <a:solidFill>
              <a:srgbClr val="014F86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fmap</a:t>
            </a:r>
          </a:p>
          <a:p>
            <a:pPr algn="ctr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 x d_model x N_sc x N_obs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4D473E1-5BCD-478D-9073-79FB1AA391D9}"/>
              </a:ext>
            </a:extLst>
          </p:cNvPr>
          <p:cNvSpPr>
            <a:spLocks noGrp="1"/>
          </p:cNvSpPr>
          <p:nvPr/>
        </p:nvSpPr>
        <p:spPr>
          <a:xfrm>
            <a:off x="4000500" y="1885950"/>
            <a:ext cx="2476500" cy="857250"/>
          </a:xfrm>
          <a:prstGeom prst="roundRect">
            <a:avLst>
              <a:gd name="adj" fmla="val 8889"/>
            </a:avLst>
          </a:prstGeom>
          <a:solidFill>
            <a:srgbClr val="A9D6E5"/>
          </a:solidFill>
          <a:ln w="19050">
            <a:solidFill>
              <a:srgbClr val="014F86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permute</a:t>
            </a:r>
          </a:p>
          <a:p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 x N_sc x N_obs x d_model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AB34B5B-17D8-4467-8D5A-F2689A2C511F}"/>
              </a:ext>
            </a:extLst>
          </p:cNvPr>
          <p:cNvSpPr>
            <a:spLocks noGrp="1"/>
          </p:cNvSpPr>
          <p:nvPr/>
        </p:nvSpPr>
        <p:spPr>
          <a:xfrm>
            <a:off x="7258050" y="1809750"/>
            <a:ext cx="2857500" cy="1009650"/>
          </a:xfrm>
          <a:prstGeom prst="roundRect">
            <a:avLst>
              <a:gd name="adj" fmla="val 7547"/>
            </a:avLst>
          </a:prstGeom>
          <a:solidFill>
            <a:srgbClr val="A9D6E5"/>
          </a:solidFill>
          <a:ln w="19050">
            <a:solidFill>
              <a:srgbClr val="014F86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reshape to tokens</a:t>
            </a:r>
          </a:p>
          <a:p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T = N_sc x N_obs</a:t>
            </a:r>
          </a:p>
          <a:p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fseq: B x T x d_model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EB996B42-2819-4122-952E-15D2A827BD78}"/>
              </a:ext>
            </a:extLst>
          </p:cNvPr>
          <p:cNvSpPr>
            <a:spLocks noGrp="1"/>
          </p:cNvSpPr>
          <p:nvPr/>
        </p:nvSpPr>
        <p:spPr>
          <a:xfrm>
            <a:off x="3257550" y="2238375"/>
            <a:ext cx="685800" cy="152400"/>
          </a:xfrm>
          <a:prstGeom prst="rightArrow">
            <a:avLst/>
          </a:prstGeom>
          <a:solidFill>
            <a:srgbClr val="334155"/>
          </a:solidFill>
          <a:ln w="0">
            <a:solidFill>
              <a:srgbClr val="334155"/>
            </a:solidFill>
            <a:prstDash val="solid"/>
          </a:ln>
        </p:spPr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FADBF96B-7749-4FAD-8903-4F0E368439B8}"/>
              </a:ext>
            </a:extLst>
          </p:cNvPr>
          <p:cNvSpPr>
            <a:spLocks noGrp="1"/>
          </p:cNvSpPr>
          <p:nvPr/>
        </p:nvSpPr>
        <p:spPr>
          <a:xfrm>
            <a:off x="6515100" y="2238375"/>
            <a:ext cx="685800" cy="152400"/>
          </a:xfrm>
          <a:prstGeom prst="rightArrow">
            <a:avLst/>
          </a:prstGeom>
          <a:solidFill>
            <a:srgbClr val="334155"/>
          </a:solidFill>
          <a:ln w="0">
            <a:solidFill>
              <a:srgbClr val="334155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9D44458-8061-4837-8F21-73DBE60A5DCE}"/>
              </a:ext>
            </a:extLst>
          </p:cNvPr>
          <p:cNvSpPr>
            <a:spLocks noGrp="1"/>
          </p:cNvSpPr>
          <p:nvPr/>
        </p:nvSpPr>
        <p:spPr>
          <a:xfrm>
            <a:off x="1276350" y="3733800"/>
            <a:ext cx="228600" cy="228600"/>
          </a:xfrm>
          <a:prstGeom prst="rect">
            <a:avLst/>
          </a:prstGeom>
          <a:solidFill>
            <a:srgbClr val="B7DCEA"/>
          </a:solidFill>
          <a:ln w="9525">
            <a:solidFill>
              <a:srgbClr val="7FB5CA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D7BF0BE-E0BF-4D4A-9CF6-B773EB0693CF}"/>
              </a:ext>
            </a:extLst>
          </p:cNvPr>
          <p:cNvSpPr>
            <a:spLocks noGrp="1"/>
          </p:cNvSpPr>
          <p:nvPr/>
        </p:nvSpPr>
        <p:spPr>
          <a:xfrm>
            <a:off x="1562100" y="3733800"/>
            <a:ext cx="228600" cy="228600"/>
          </a:xfrm>
          <a:prstGeom prst="rect">
            <a:avLst/>
          </a:prstGeom>
          <a:solidFill>
            <a:srgbClr val="B7DCEA"/>
          </a:solidFill>
          <a:ln w="9525">
            <a:solidFill>
              <a:srgbClr val="7FB5CA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AEA76C6-F0F6-4C1F-9E7F-C5C541F583E0}"/>
              </a:ext>
            </a:extLst>
          </p:cNvPr>
          <p:cNvSpPr>
            <a:spLocks noGrp="1"/>
          </p:cNvSpPr>
          <p:nvPr/>
        </p:nvSpPr>
        <p:spPr>
          <a:xfrm>
            <a:off x="1847850" y="3733800"/>
            <a:ext cx="228600" cy="228600"/>
          </a:xfrm>
          <a:prstGeom prst="rect">
            <a:avLst/>
          </a:prstGeom>
          <a:solidFill>
            <a:srgbClr val="B7DCEA"/>
          </a:solidFill>
          <a:ln w="9525">
            <a:solidFill>
              <a:srgbClr val="7FB5CA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96D90C3-C047-49DC-BD61-C14EA45A5B5A}"/>
              </a:ext>
            </a:extLst>
          </p:cNvPr>
          <p:cNvSpPr>
            <a:spLocks noGrp="1"/>
          </p:cNvSpPr>
          <p:nvPr/>
        </p:nvSpPr>
        <p:spPr>
          <a:xfrm>
            <a:off x="2133600" y="3733800"/>
            <a:ext cx="228600" cy="228600"/>
          </a:xfrm>
          <a:prstGeom prst="rect">
            <a:avLst/>
          </a:prstGeom>
          <a:solidFill>
            <a:srgbClr val="B7DCEA"/>
          </a:solidFill>
          <a:ln w="9525">
            <a:solidFill>
              <a:srgbClr val="7FB5CA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90AC15E-8FD8-4B84-94AF-6B337C3C76F6}"/>
              </a:ext>
            </a:extLst>
          </p:cNvPr>
          <p:cNvSpPr>
            <a:spLocks noGrp="1"/>
          </p:cNvSpPr>
          <p:nvPr/>
        </p:nvSpPr>
        <p:spPr>
          <a:xfrm>
            <a:off x="2419350" y="3733800"/>
            <a:ext cx="228600" cy="228600"/>
          </a:xfrm>
          <a:prstGeom prst="rect">
            <a:avLst/>
          </a:prstGeom>
          <a:solidFill>
            <a:srgbClr val="B7DCEA"/>
          </a:solidFill>
          <a:ln w="9525">
            <a:solidFill>
              <a:srgbClr val="7FB5CA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75B4BE3-317F-4825-BA2B-61E48D5EDC4B}"/>
              </a:ext>
            </a:extLst>
          </p:cNvPr>
          <p:cNvSpPr>
            <a:spLocks noGrp="1"/>
          </p:cNvSpPr>
          <p:nvPr/>
        </p:nvSpPr>
        <p:spPr>
          <a:xfrm>
            <a:off x="2705100" y="3733800"/>
            <a:ext cx="228600" cy="228600"/>
          </a:xfrm>
          <a:prstGeom prst="rect">
            <a:avLst/>
          </a:prstGeom>
          <a:solidFill>
            <a:srgbClr val="B7DCEA"/>
          </a:solidFill>
          <a:ln w="9525">
            <a:solidFill>
              <a:srgbClr val="7FB5CA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A4E0883-D246-4FFB-851B-DADE7FBB8DA4}"/>
              </a:ext>
            </a:extLst>
          </p:cNvPr>
          <p:cNvSpPr>
            <a:spLocks noGrp="1"/>
          </p:cNvSpPr>
          <p:nvPr/>
        </p:nvSpPr>
        <p:spPr>
          <a:xfrm>
            <a:off x="1276350" y="4019550"/>
            <a:ext cx="228600" cy="228600"/>
          </a:xfrm>
          <a:prstGeom prst="rect">
            <a:avLst/>
          </a:prstGeom>
          <a:solidFill>
            <a:srgbClr val="D8ECF4"/>
          </a:solidFill>
          <a:ln w="9525">
            <a:solidFill>
              <a:srgbClr val="7FB5CA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BE5C88E-995A-4E95-A1B6-7F49B9A7D3C1}"/>
              </a:ext>
            </a:extLst>
          </p:cNvPr>
          <p:cNvSpPr>
            <a:spLocks noGrp="1"/>
          </p:cNvSpPr>
          <p:nvPr/>
        </p:nvSpPr>
        <p:spPr>
          <a:xfrm>
            <a:off x="1562100" y="4019550"/>
            <a:ext cx="228600" cy="228600"/>
          </a:xfrm>
          <a:prstGeom prst="rect">
            <a:avLst/>
          </a:prstGeom>
          <a:solidFill>
            <a:srgbClr val="D8ECF4"/>
          </a:solidFill>
          <a:ln w="9525">
            <a:solidFill>
              <a:srgbClr val="7FB5CA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89F230F-D035-4D65-BDF9-BED765931641}"/>
              </a:ext>
            </a:extLst>
          </p:cNvPr>
          <p:cNvSpPr>
            <a:spLocks noGrp="1"/>
          </p:cNvSpPr>
          <p:nvPr/>
        </p:nvSpPr>
        <p:spPr>
          <a:xfrm>
            <a:off x="1847850" y="4019550"/>
            <a:ext cx="228600" cy="228600"/>
          </a:xfrm>
          <a:prstGeom prst="rect">
            <a:avLst/>
          </a:prstGeom>
          <a:solidFill>
            <a:srgbClr val="D8ECF4"/>
          </a:solidFill>
          <a:ln w="9525">
            <a:solidFill>
              <a:srgbClr val="7FB5CA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D3738B2-293D-423E-A0AB-B150BF4847AE}"/>
              </a:ext>
            </a:extLst>
          </p:cNvPr>
          <p:cNvSpPr>
            <a:spLocks noGrp="1"/>
          </p:cNvSpPr>
          <p:nvPr/>
        </p:nvSpPr>
        <p:spPr>
          <a:xfrm>
            <a:off x="2133600" y="4019550"/>
            <a:ext cx="228600" cy="228600"/>
          </a:xfrm>
          <a:prstGeom prst="rect">
            <a:avLst/>
          </a:prstGeom>
          <a:solidFill>
            <a:srgbClr val="D8ECF4"/>
          </a:solidFill>
          <a:ln w="9525">
            <a:solidFill>
              <a:srgbClr val="7FB5CA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9EE20D0-00E4-4EC2-A358-887E59F7620A}"/>
              </a:ext>
            </a:extLst>
          </p:cNvPr>
          <p:cNvSpPr>
            <a:spLocks noGrp="1"/>
          </p:cNvSpPr>
          <p:nvPr/>
        </p:nvSpPr>
        <p:spPr>
          <a:xfrm>
            <a:off x="2419350" y="4019550"/>
            <a:ext cx="228600" cy="228600"/>
          </a:xfrm>
          <a:prstGeom prst="rect">
            <a:avLst/>
          </a:prstGeom>
          <a:solidFill>
            <a:srgbClr val="D8ECF4"/>
          </a:solidFill>
          <a:ln w="9525">
            <a:solidFill>
              <a:srgbClr val="7FB5CA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8F698AC-E7BA-49F6-A1AC-D0759BF80D06}"/>
              </a:ext>
            </a:extLst>
          </p:cNvPr>
          <p:cNvSpPr>
            <a:spLocks noGrp="1"/>
          </p:cNvSpPr>
          <p:nvPr/>
        </p:nvSpPr>
        <p:spPr>
          <a:xfrm>
            <a:off x="2705100" y="4019550"/>
            <a:ext cx="228600" cy="228600"/>
          </a:xfrm>
          <a:prstGeom prst="rect">
            <a:avLst/>
          </a:prstGeom>
          <a:solidFill>
            <a:srgbClr val="D8ECF4"/>
          </a:solidFill>
          <a:ln w="9525">
            <a:solidFill>
              <a:srgbClr val="7FB5CA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396AF21-C586-4B10-B7F0-8105C3D79DF0}"/>
              </a:ext>
            </a:extLst>
          </p:cNvPr>
          <p:cNvSpPr>
            <a:spLocks noGrp="1"/>
          </p:cNvSpPr>
          <p:nvPr/>
        </p:nvSpPr>
        <p:spPr>
          <a:xfrm>
            <a:off x="1276350" y="4305300"/>
            <a:ext cx="228600" cy="228600"/>
          </a:xfrm>
          <a:prstGeom prst="rect">
            <a:avLst/>
          </a:prstGeom>
          <a:solidFill>
            <a:srgbClr val="B7DCEA"/>
          </a:solidFill>
          <a:ln w="9525">
            <a:solidFill>
              <a:srgbClr val="7FB5CA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7A1EEBA-4F91-42E0-B99D-ED95EFD7CA40}"/>
              </a:ext>
            </a:extLst>
          </p:cNvPr>
          <p:cNvSpPr>
            <a:spLocks noGrp="1"/>
          </p:cNvSpPr>
          <p:nvPr/>
        </p:nvSpPr>
        <p:spPr>
          <a:xfrm>
            <a:off x="1562100" y="4305300"/>
            <a:ext cx="228600" cy="228600"/>
          </a:xfrm>
          <a:prstGeom prst="rect">
            <a:avLst/>
          </a:prstGeom>
          <a:solidFill>
            <a:srgbClr val="B7DCEA"/>
          </a:solidFill>
          <a:ln w="9525">
            <a:solidFill>
              <a:srgbClr val="7FB5CA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F74CF17-B803-468E-B4CE-BCC09744291A}"/>
              </a:ext>
            </a:extLst>
          </p:cNvPr>
          <p:cNvSpPr>
            <a:spLocks noGrp="1"/>
          </p:cNvSpPr>
          <p:nvPr/>
        </p:nvSpPr>
        <p:spPr>
          <a:xfrm>
            <a:off x="1847850" y="4305300"/>
            <a:ext cx="228600" cy="228600"/>
          </a:xfrm>
          <a:prstGeom prst="rect">
            <a:avLst/>
          </a:prstGeom>
          <a:solidFill>
            <a:srgbClr val="B7DCEA"/>
          </a:solidFill>
          <a:ln w="9525">
            <a:solidFill>
              <a:srgbClr val="7FB5CA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A7AC697-CCFC-4696-B5F7-795020853665}"/>
              </a:ext>
            </a:extLst>
          </p:cNvPr>
          <p:cNvSpPr>
            <a:spLocks noGrp="1"/>
          </p:cNvSpPr>
          <p:nvPr/>
        </p:nvSpPr>
        <p:spPr>
          <a:xfrm>
            <a:off x="2133600" y="4305300"/>
            <a:ext cx="228600" cy="228600"/>
          </a:xfrm>
          <a:prstGeom prst="rect">
            <a:avLst/>
          </a:prstGeom>
          <a:solidFill>
            <a:srgbClr val="B7DCEA"/>
          </a:solidFill>
          <a:ln w="9525">
            <a:solidFill>
              <a:srgbClr val="7FB5CA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B85F4EB-F25A-4521-BFF2-869B93E9E94B}"/>
              </a:ext>
            </a:extLst>
          </p:cNvPr>
          <p:cNvSpPr>
            <a:spLocks noGrp="1"/>
          </p:cNvSpPr>
          <p:nvPr/>
        </p:nvSpPr>
        <p:spPr>
          <a:xfrm>
            <a:off x="2419350" y="4305300"/>
            <a:ext cx="228600" cy="228600"/>
          </a:xfrm>
          <a:prstGeom prst="rect">
            <a:avLst/>
          </a:prstGeom>
          <a:solidFill>
            <a:srgbClr val="B7DCEA"/>
          </a:solidFill>
          <a:ln w="9525">
            <a:solidFill>
              <a:srgbClr val="7FB5CA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70C9703-DF16-4066-A8E0-32FABEE9FF26}"/>
              </a:ext>
            </a:extLst>
          </p:cNvPr>
          <p:cNvSpPr>
            <a:spLocks noGrp="1"/>
          </p:cNvSpPr>
          <p:nvPr/>
        </p:nvSpPr>
        <p:spPr>
          <a:xfrm>
            <a:off x="2705100" y="4305300"/>
            <a:ext cx="228600" cy="228600"/>
          </a:xfrm>
          <a:prstGeom prst="rect">
            <a:avLst/>
          </a:prstGeom>
          <a:solidFill>
            <a:srgbClr val="B7DCEA"/>
          </a:solidFill>
          <a:ln w="9525">
            <a:solidFill>
              <a:srgbClr val="7FB5CA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75824D4-86A3-4EF6-96BE-CF967487969E}"/>
              </a:ext>
            </a:extLst>
          </p:cNvPr>
          <p:cNvSpPr>
            <a:spLocks noGrp="1"/>
          </p:cNvSpPr>
          <p:nvPr/>
        </p:nvSpPr>
        <p:spPr>
          <a:xfrm>
            <a:off x="1276350" y="4591050"/>
            <a:ext cx="228600" cy="228600"/>
          </a:xfrm>
          <a:prstGeom prst="rect">
            <a:avLst/>
          </a:prstGeom>
          <a:solidFill>
            <a:srgbClr val="D8ECF4"/>
          </a:solidFill>
          <a:ln w="9525">
            <a:solidFill>
              <a:srgbClr val="7FB5CA"/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D92A623-42D2-4B96-8D38-D6AF1F67C7DB}"/>
              </a:ext>
            </a:extLst>
          </p:cNvPr>
          <p:cNvSpPr>
            <a:spLocks noGrp="1"/>
          </p:cNvSpPr>
          <p:nvPr/>
        </p:nvSpPr>
        <p:spPr>
          <a:xfrm>
            <a:off x="1562100" y="4591050"/>
            <a:ext cx="228600" cy="228600"/>
          </a:xfrm>
          <a:prstGeom prst="rect">
            <a:avLst/>
          </a:prstGeom>
          <a:solidFill>
            <a:srgbClr val="D8ECF4"/>
          </a:solidFill>
          <a:ln w="9525">
            <a:solidFill>
              <a:srgbClr val="7FB5CA"/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214DF22-E368-4EF4-BFA3-DFD5ED6EBD51}"/>
              </a:ext>
            </a:extLst>
          </p:cNvPr>
          <p:cNvSpPr>
            <a:spLocks noGrp="1"/>
          </p:cNvSpPr>
          <p:nvPr/>
        </p:nvSpPr>
        <p:spPr>
          <a:xfrm>
            <a:off x="1847850" y="4591050"/>
            <a:ext cx="228600" cy="228600"/>
          </a:xfrm>
          <a:prstGeom prst="rect">
            <a:avLst/>
          </a:prstGeom>
          <a:solidFill>
            <a:srgbClr val="D8ECF4"/>
          </a:solidFill>
          <a:ln w="9525">
            <a:solidFill>
              <a:srgbClr val="7FB5CA"/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DABBCD4-A3A5-4A8B-8BDB-4092243E7B76}"/>
              </a:ext>
            </a:extLst>
          </p:cNvPr>
          <p:cNvSpPr>
            <a:spLocks noGrp="1"/>
          </p:cNvSpPr>
          <p:nvPr/>
        </p:nvSpPr>
        <p:spPr>
          <a:xfrm>
            <a:off x="2133600" y="4591050"/>
            <a:ext cx="228600" cy="228600"/>
          </a:xfrm>
          <a:prstGeom prst="rect">
            <a:avLst/>
          </a:prstGeom>
          <a:solidFill>
            <a:srgbClr val="D8ECF4"/>
          </a:solidFill>
          <a:ln w="9525">
            <a:solidFill>
              <a:srgbClr val="7FB5CA"/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052DF10-A05B-49CD-B76D-62EE6FFB2462}"/>
              </a:ext>
            </a:extLst>
          </p:cNvPr>
          <p:cNvSpPr>
            <a:spLocks noGrp="1"/>
          </p:cNvSpPr>
          <p:nvPr/>
        </p:nvSpPr>
        <p:spPr>
          <a:xfrm>
            <a:off x="2419350" y="4591050"/>
            <a:ext cx="228600" cy="228600"/>
          </a:xfrm>
          <a:prstGeom prst="rect">
            <a:avLst/>
          </a:prstGeom>
          <a:solidFill>
            <a:srgbClr val="D8ECF4"/>
          </a:solidFill>
          <a:ln w="9525">
            <a:solidFill>
              <a:srgbClr val="7FB5CA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98982A4-7B6B-4B6C-BD85-8CFF74DB1F75}"/>
              </a:ext>
            </a:extLst>
          </p:cNvPr>
          <p:cNvSpPr>
            <a:spLocks noGrp="1"/>
          </p:cNvSpPr>
          <p:nvPr/>
        </p:nvSpPr>
        <p:spPr>
          <a:xfrm>
            <a:off x="2705100" y="4591050"/>
            <a:ext cx="228600" cy="228600"/>
          </a:xfrm>
          <a:prstGeom prst="rect">
            <a:avLst/>
          </a:prstGeom>
          <a:solidFill>
            <a:srgbClr val="D8ECF4"/>
          </a:solidFill>
          <a:ln w="9525">
            <a:solidFill>
              <a:srgbClr val="7FB5CA"/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36407A6-43C5-4A99-940C-2B5C3C069AE2}"/>
              </a:ext>
            </a:extLst>
          </p:cNvPr>
          <p:cNvSpPr>
            <a:spLocks noGrp="1"/>
          </p:cNvSpPr>
          <p:nvPr/>
        </p:nvSpPr>
        <p:spPr>
          <a:xfrm>
            <a:off x="1162050" y="5010150"/>
            <a:ext cx="2000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ctr">
              <a:def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N_sc x N_obs grid</a:t>
            </a:r>
          </a:p>
        </p:txBody>
      </p:sp>
      <p:sp>
        <p:nvSpPr>
          <p:cNvPr id="36" name="Arrow: Right 35">
            <a:extLst>
              <a:ext uri="{FF2B5EF4-FFF2-40B4-BE49-F238E27FC236}">
                <a16:creationId xmlns:a16="http://schemas.microsoft.com/office/drawing/2014/main" id="{97706E23-E149-4BD0-B2A6-5A09A04073AD}"/>
              </a:ext>
            </a:extLst>
          </p:cNvPr>
          <p:cNvSpPr>
            <a:spLocks noGrp="1"/>
          </p:cNvSpPr>
          <p:nvPr/>
        </p:nvSpPr>
        <p:spPr>
          <a:xfrm>
            <a:off x="3676650" y="4248150"/>
            <a:ext cx="1228725" cy="152400"/>
          </a:xfrm>
          <a:prstGeom prst="rightArrow">
            <a:avLst/>
          </a:prstGeom>
          <a:solidFill>
            <a:srgbClr val="334155"/>
          </a:solidFill>
          <a:ln w="0">
            <a:solidFill>
              <a:srgbClr val="334155"/>
            </a:solidFill>
            <a:prstDash val="solid"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32FEFE4-4D64-49A6-9E7F-8A90C5CD6F83}"/>
              </a:ext>
            </a:extLst>
          </p:cNvPr>
          <p:cNvSpPr>
            <a:spLocks noGrp="1"/>
          </p:cNvSpPr>
          <p:nvPr/>
        </p:nvSpPr>
        <p:spPr>
          <a:xfrm>
            <a:off x="5219700" y="4124325"/>
            <a:ext cx="266700" cy="400050"/>
          </a:xfrm>
          <a:prstGeom prst="rect">
            <a:avLst/>
          </a:prstGeom>
          <a:solidFill>
            <a:srgbClr val="D8ECF4"/>
          </a:solidFill>
          <a:ln w="9525">
            <a:solidFill>
              <a:srgbClr val="7FB5CA"/>
            </a:solidFill>
            <a:prstDash val="solid"/>
          </a:ln>
        </p:spPr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0633839-0189-4F67-B288-307A315BFAEF}"/>
              </a:ext>
            </a:extLst>
          </p:cNvPr>
          <p:cNvSpPr>
            <a:spLocks noGrp="1"/>
          </p:cNvSpPr>
          <p:nvPr/>
        </p:nvSpPr>
        <p:spPr>
          <a:xfrm>
            <a:off x="5543550" y="4124325"/>
            <a:ext cx="266700" cy="400050"/>
          </a:xfrm>
          <a:prstGeom prst="rect">
            <a:avLst/>
          </a:prstGeom>
          <a:solidFill>
            <a:srgbClr val="D8ECF4"/>
          </a:solidFill>
          <a:ln w="9525">
            <a:solidFill>
              <a:srgbClr val="7FB5CA"/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D01D76D-3BAA-4FD9-A389-2900AD5A580C}"/>
              </a:ext>
            </a:extLst>
          </p:cNvPr>
          <p:cNvSpPr>
            <a:spLocks noGrp="1"/>
          </p:cNvSpPr>
          <p:nvPr/>
        </p:nvSpPr>
        <p:spPr>
          <a:xfrm>
            <a:off x="5867400" y="4124325"/>
            <a:ext cx="266700" cy="400050"/>
          </a:xfrm>
          <a:prstGeom prst="rect">
            <a:avLst/>
          </a:prstGeom>
          <a:solidFill>
            <a:srgbClr val="D8ECF4"/>
          </a:solidFill>
          <a:ln w="9525">
            <a:solidFill>
              <a:srgbClr val="7FB5CA"/>
            </a:solidFill>
            <a:prstDash val="solid"/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BB8FAF2-DE4E-4684-888B-135D1B9010FB}"/>
              </a:ext>
            </a:extLst>
          </p:cNvPr>
          <p:cNvSpPr>
            <a:spLocks noGrp="1"/>
          </p:cNvSpPr>
          <p:nvPr/>
        </p:nvSpPr>
        <p:spPr>
          <a:xfrm>
            <a:off x="6191250" y="4124325"/>
            <a:ext cx="266700" cy="400050"/>
          </a:xfrm>
          <a:prstGeom prst="rect">
            <a:avLst/>
          </a:prstGeom>
          <a:solidFill>
            <a:srgbClr val="D8ECF4"/>
          </a:solidFill>
          <a:ln w="9525">
            <a:solidFill>
              <a:srgbClr val="7FB5CA"/>
            </a:solidFill>
            <a:prstDash val="solid"/>
          </a:ln>
        </p:spPr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D62CD0F-7FB3-44F3-A90F-3E0F32726730}"/>
              </a:ext>
            </a:extLst>
          </p:cNvPr>
          <p:cNvSpPr>
            <a:spLocks noGrp="1"/>
          </p:cNvSpPr>
          <p:nvPr/>
        </p:nvSpPr>
        <p:spPr>
          <a:xfrm>
            <a:off x="6515100" y="4124325"/>
            <a:ext cx="266700" cy="400050"/>
          </a:xfrm>
          <a:prstGeom prst="rect">
            <a:avLst/>
          </a:prstGeom>
          <a:solidFill>
            <a:srgbClr val="D8ECF4"/>
          </a:solidFill>
          <a:ln w="9525">
            <a:solidFill>
              <a:srgbClr val="7FB5CA"/>
            </a:solidFill>
            <a:prstDash val="solid"/>
          </a:ln>
        </p:spPr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158650F-2AA2-4E19-9F77-50E1F70D6880}"/>
              </a:ext>
            </a:extLst>
          </p:cNvPr>
          <p:cNvSpPr>
            <a:spLocks noGrp="1"/>
          </p:cNvSpPr>
          <p:nvPr/>
        </p:nvSpPr>
        <p:spPr>
          <a:xfrm>
            <a:off x="6838950" y="4124325"/>
            <a:ext cx="266700" cy="400050"/>
          </a:xfrm>
          <a:prstGeom prst="rect">
            <a:avLst/>
          </a:prstGeom>
          <a:solidFill>
            <a:srgbClr val="D8ECF4"/>
          </a:solidFill>
          <a:ln w="9525">
            <a:solidFill>
              <a:srgbClr val="7FB5CA"/>
            </a:solidFill>
            <a:prstDash val="solid"/>
          </a:ln>
        </p:spPr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B6D7587-54B4-48EF-9C5C-34840CFE2946}"/>
              </a:ext>
            </a:extLst>
          </p:cNvPr>
          <p:cNvSpPr>
            <a:spLocks noGrp="1"/>
          </p:cNvSpPr>
          <p:nvPr/>
        </p:nvSpPr>
        <p:spPr>
          <a:xfrm>
            <a:off x="7162800" y="4124325"/>
            <a:ext cx="266700" cy="400050"/>
          </a:xfrm>
          <a:prstGeom prst="rect">
            <a:avLst/>
          </a:prstGeom>
          <a:solidFill>
            <a:srgbClr val="D8ECF4"/>
          </a:solidFill>
          <a:ln w="9525">
            <a:solidFill>
              <a:srgbClr val="7FB5CA"/>
            </a:solidFill>
            <a:prstDash val="solid"/>
          </a:ln>
        </p:spPr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2EC069F8-05CB-4566-9712-537568C6A579}"/>
              </a:ext>
            </a:extLst>
          </p:cNvPr>
          <p:cNvSpPr>
            <a:spLocks noGrp="1"/>
          </p:cNvSpPr>
          <p:nvPr/>
        </p:nvSpPr>
        <p:spPr>
          <a:xfrm>
            <a:off x="7486650" y="4124325"/>
            <a:ext cx="266700" cy="400050"/>
          </a:xfrm>
          <a:prstGeom prst="rect">
            <a:avLst/>
          </a:prstGeom>
          <a:solidFill>
            <a:srgbClr val="D8ECF4"/>
          </a:solidFill>
          <a:ln w="9525">
            <a:solidFill>
              <a:srgbClr val="7FB5CA"/>
            </a:solidFill>
            <a:prstDash val="solid"/>
          </a:ln>
        </p:spPr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3E189F2-4D27-461C-A56A-E8536FC2B7AE}"/>
              </a:ext>
            </a:extLst>
          </p:cNvPr>
          <p:cNvSpPr>
            <a:spLocks noGrp="1"/>
          </p:cNvSpPr>
          <p:nvPr/>
        </p:nvSpPr>
        <p:spPr>
          <a:xfrm>
            <a:off x="7810500" y="4124325"/>
            <a:ext cx="266700" cy="400050"/>
          </a:xfrm>
          <a:prstGeom prst="rect">
            <a:avLst/>
          </a:prstGeom>
          <a:solidFill>
            <a:srgbClr val="D8ECF4"/>
          </a:solidFill>
          <a:ln w="9525">
            <a:solidFill>
              <a:srgbClr val="7FB5CA"/>
            </a:solidFill>
            <a:prstDash val="solid"/>
          </a:ln>
        </p:spPr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F2C4BC5-7567-4195-AF78-95F5B607C971}"/>
              </a:ext>
            </a:extLst>
          </p:cNvPr>
          <p:cNvSpPr>
            <a:spLocks noGrp="1"/>
          </p:cNvSpPr>
          <p:nvPr/>
        </p:nvSpPr>
        <p:spPr>
          <a:xfrm>
            <a:off x="8134350" y="4124325"/>
            <a:ext cx="266700" cy="400050"/>
          </a:xfrm>
          <a:prstGeom prst="rect">
            <a:avLst/>
          </a:prstGeom>
          <a:solidFill>
            <a:srgbClr val="D8ECF4"/>
          </a:solidFill>
          <a:ln w="9525">
            <a:solidFill>
              <a:srgbClr val="7FB5CA"/>
            </a:solidFill>
            <a:prstDash val="solid"/>
          </a:ln>
        </p:spPr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77F178A-8932-414E-AB15-53D89DC0CE78}"/>
              </a:ext>
            </a:extLst>
          </p:cNvPr>
          <p:cNvSpPr>
            <a:spLocks noGrp="1"/>
          </p:cNvSpPr>
          <p:nvPr/>
        </p:nvSpPr>
        <p:spPr>
          <a:xfrm>
            <a:off x="5067300" y="5010150"/>
            <a:ext cx="3714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ctr">
              <a:def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T tokens, each token width = d_model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8E4C1DAB-1B6B-4ED7-BF16-F8370916C0B8}"/>
              </a:ext>
            </a:extLst>
          </p:cNvPr>
          <p:cNvSpPr>
            <a:spLocks noGrp="1"/>
          </p:cNvSpPr>
          <p:nvPr/>
        </p:nvSpPr>
        <p:spPr>
          <a:xfrm>
            <a:off x="8286750" y="4048125"/>
            <a:ext cx="66675" cy="66675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7570E71-A1F0-43F2-9FFC-6B3ECEF30458}"/>
              </a:ext>
            </a:extLst>
          </p:cNvPr>
          <p:cNvSpPr>
            <a:spLocks noGrp="1"/>
          </p:cNvSpPr>
          <p:nvPr/>
        </p:nvSpPr>
        <p:spPr>
          <a:xfrm>
            <a:off x="8458200" y="4000500"/>
            <a:ext cx="26860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Tokenization 不改变 batch B；只是把二维位置展开成 Transformer 可处理的序列。</a:t>
            </a:r>
          </a:p>
        </p:txBody>
      </p:sp>
    </p:spTree>
    <p:extLst>
      <p:ext uri="{BB962C8B-B14F-4D97-AF65-F5344CB8AC3E}">
        <p14:creationId xmlns:p14="http://schemas.microsoft.com/office/powerpoint/2010/main" val="13318129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E88C1CB5-2AFE-41A4-ABB0-504F92704FE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 w="0">
            <a:solidFill>
              <a:srgbClr val="F7F9FC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7264A2-9EDF-4255-B5F2-11C64601F9F2}"/>
              </a:ext>
            </a:extLst>
          </p:cNvPr>
          <p:cNvSpPr>
            <a:spLocks noGrp="1"/>
          </p:cNvSpPr>
          <p:nvPr/>
        </p:nvSpPr>
        <p:spPr>
          <a:xfrm>
            <a:off x="10001250" y="6419850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r">
              <a:defRPr sz="7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DETR architecture | 05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C6DC073-9715-4B69-97AE-D7EAA10A12D0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533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局部特征提取与通道投影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A811562-7EC6-48A2-9FB6-C1D41A6257B4}"/>
              </a:ext>
            </a:extLst>
          </p:cNvPr>
          <p:cNvSpPr>
            <a:spLocks noGrp="1"/>
          </p:cNvSpPr>
          <p:nvPr/>
        </p:nvSpPr>
        <p:spPr>
          <a:xfrm>
            <a:off x="514350" y="495300"/>
            <a:ext cx="7620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2325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325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CNN Stem 设计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EA7396E-FD22-47F4-9EBF-663A048BD218}"/>
              </a:ext>
            </a:extLst>
          </p:cNvPr>
          <p:cNvSpPr>
            <a:spLocks noGrp="1"/>
          </p:cNvSpPr>
          <p:nvPr/>
        </p:nvSpPr>
        <p:spPr>
          <a:xfrm>
            <a:off x="514350" y="1123950"/>
            <a:ext cx="1066800" cy="3810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15D8212-6942-4B61-9A4E-FBFFC4AF1EFE}"/>
              </a:ext>
            </a:extLst>
          </p:cNvPr>
          <p:cNvSpPr>
            <a:spLocks noGrp="1"/>
          </p:cNvSpPr>
          <p:nvPr/>
        </p:nvSpPr>
        <p:spPr>
          <a:xfrm>
            <a:off x="904875" y="2476500"/>
            <a:ext cx="1619250" cy="742950"/>
          </a:xfrm>
          <a:prstGeom prst="roundRect">
            <a:avLst>
              <a:gd name="adj" fmla="val 10256"/>
            </a:avLst>
          </a:prstGeom>
          <a:solidFill>
            <a:srgbClr val="B7E4C7"/>
          </a:solidFill>
          <a:ln w="19050">
            <a:solidFill>
              <a:srgbClr val="1B4332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Input channels</a:t>
            </a:r>
          </a:p>
          <a:p>
            <a:pPr algn="ctr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2N_rx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F64C392-D132-40AC-A766-14886F5CE056}"/>
              </a:ext>
            </a:extLst>
          </p:cNvPr>
          <p:cNvSpPr>
            <a:spLocks noGrp="1"/>
          </p:cNvSpPr>
          <p:nvPr/>
        </p:nvSpPr>
        <p:spPr>
          <a:xfrm>
            <a:off x="3238500" y="2343150"/>
            <a:ext cx="2000250" cy="1009650"/>
          </a:xfrm>
          <a:prstGeom prst="roundRect">
            <a:avLst>
              <a:gd name="adj" fmla="val 7547"/>
            </a:avLst>
          </a:prstGeom>
          <a:solidFill>
            <a:srgbClr val="FFE08A"/>
          </a:solidFill>
          <a:ln w="19050">
            <a:solidFill>
              <a:srgbClr val="B7791F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Conv2d</a:t>
            </a:r>
          </a:p>
          <a:p>
            <a:pPr algn="ctr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2N_rx -&gt; d_model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D085400-C192-4934-A850-2DE7E7498C72}"/>
              </a:ext>
            </a:extLst>
          </p:cNvPr>
          <p:cNvSpPr>
            <a:spLocks noGrp="1"/>
          </p:cNvSpPr>
          <p:nvPr/>
        </p:nvSpPr>
        <p:spPr>
          <a:xfrm>
            <a:off x="5667375" y="2476500"/>
            <a:ext cx="1104900" cy="742950"/>
          </a:xfrm>
          <a:prstGeom prst="roundRect">
            <a:avLst>
              <a:gd name="adj" fmla="val 10256"/>
            </a:avLst>
          </a:prstGeom>
          <a:solidFill>
            <a:srgbClr val="FFE08A"/>
          </a:solidFill>
          <a:ln w="19050">
            <a:solidFill>
              <a:srgbClr val="B7791F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GELU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BC75A62-D04E-4D73-ADA2-6844A9EB7AAB}"/>
              </a:ext>
            </a:extLst>
          </p:cNvPr>
          <p:cNvSpPr>
            <a:spLocks noGrp="1"/>
          </p:cNvSpPr>
          <p:nvPr/>
        </p:nvSpPr>
        <p:spPr>
          <a:xfrm>
            <a:off x="7239000" y="2343150"/>
            <a:ext cx="2133600" cy="1009650"/>
          </a:xfrm>
          <a:prstGeom prst="roundRect">
            <a:avLst>
              <a:gd name="adj" fmla="val 7547"/>
            </a:avLst>
          </a:prstGeom>
          <a:solidFill>
            <a:srgbClr val="FFE08A"/>
          </a:solidFill>
          <a:ln w="19050">
            <a:solidFill>
              <a:srgbClr val="B7791F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Conv2d</a:t>
            </a:r>
          </a:p>
          <a:p>
            <a:pPr algn="ctr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d_model -&gt; d_model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423C3D5-7CFA-4BE0-AE5C-4FFFD74FEDE3}"/>
              </a:ext>
            </a:extLst>
          </p:cNvPr>
          <p:cNvSpPr>
            <a:spLocks noGrp="1"/>
          </p:cNvSpPr>
          <p:nvPr/>
        </p:nvSpPr>
        <p:spPr>
          <a:xfrm>
            <a:off x="9858375" y="2476500"/>
            <a:ext cx="1200150" cy="742950"/>
          </a:xfrm>
          <a:prstGeom prst="roundRect">
            <a:avLst>
              <a:gd name="adj" fmla="val 10256"/>
            </a:avLst>
          </a:prstGeom>
          <a:solidFill>
            <a:srgbClr val="FFE08A"/>
          </a:solidFill>
          <a:ln w="19050">
            <a:solidFill>
              <a:srgbClr val="B7791F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GELU</a:t>
            </a:r>
          </a:p>
          <a:p>
            <a:pPr algn="ctr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fmap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999A4EE5-82B0-422D-A119-9CE3513C5669}"/>
              </a:ext>
            </a:extLst>
          </p:cNvPr>
          <p:cNvSpPr>
            <a:spLocks noGrp="1"/>
          </p:cNvSpPr>
          <p:nvPr/>
        </p:nvSpPr>
        <p:spPr>
          <a:xfrm>
            <a:off x="2524125" y="2771775"/>
            <a:ext cx="676275" cy="152400"/>
          </a:xfrm>
          <a:prstGeom prst="rightArrow">
            <a:avLst/>
          </a:prstGeom>
          <a:solidFill>
            <a:srgbClr val="334155"/>
          </a:solidFill>
          <a:ln w="0">
            <a:solidFill>
              <a:srgbClr val="334155"/>
            </a:solidFill>
            <a:prstDash val="solid"/>
          </a:ln>
        </p:spPr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1F186898-13C0-4B3A-B563-786E80629815}"/>
              </a:ext>
            </a:extLst>
          </p:cNvPr>
          <p:cNvSpPr>
            <a:spLocks noGrp="1"/>
          </p:cNvSpPr>
          <p:nvPr/>
        </p:nvSpPr>
        <p:spPr>
          <a:xfrm>
            <a:off x="5238750" y="2771775"/>
            <a:ext cx="381000" cy="152400"/>
          </a:xfrm>
          <a:prstGeom prst="rightArrow">
            <a:avLst/>
          </a:prstGeom>
          <a:solidFill>
            <a:srgbClr val="334155"/>
          </a:solidFill>
          <a:ln w="0">
            <a:solidFill>
              <a:srgbClr val="334155"/>
            </a:solidFill>
            <a:prstDash val="solid"/>
          </a:ln>
        </p:spPr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A6C3F9B8-DA50-45C1-BC49-4BBCA66ABEC5}"/>
              </a:ext>
            </a:extLst>
          </p:cNvPr>
          <p:cNvSpPr>
            <a:spLocks noGrp="1"/>
          </p:cNvSpPr>
          <p:nvPr/>
        </p:nvSpPr>
        <p:spPr>
          <a:xfrm>
            <a:off x="6772275" y="2771775"/>
            <a:ext cx="428625" cy="152400"/>
          </a:xfrm>
          <a:prstGeom prst="rightArrow">
            <a:avLst/>
          </a:prstGeom>
          <a:solidFill>
            <a:srgbClr val="334155"/>
          </a:solidFill>
          <a:ln w="0">
            <a:solidFill>
              <a:srgbClr val="334155"/>
            </a:solidFill>
            <a:prstDash val="solid"/>
          </a:ln>
        </p:spPr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2A5EC6FB-B64B-408F-B776-8067C16251C5}"/>
              </a:ext>
            </a:extLst>
          </p:cNvPr>
          <p:cNvSpPr>
            <a:spLocks noGrp="1"/>
          </p:cNvSpPr>
          <p:nvPr/>
        </p:nvSpPr>
        <p:spPr>
          <a:xfrm>
            <a:off x="9372600" y="2771775"/>
            <a:ext cx="438150" cy="152400"/>
          </a:xfrm>
          <a:prstGeom prst="rightArrow">
            <a:avLst/>
          </a:prstGeom>
          <a:solidFill>
            <a:srgbClr val="334155"/>
          </a:solidFill>
          <a:ln w="0">
            <a:solidFill>
              <a:srgbClr val="334155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6773AC-5004-45DD-A2D5-2B2B9D98D14D}"/>
              </a:ext>
            </a:extLst>
          </p:cNvPr>
          <p:cNvSpPr>
            <a:spLocks noGrp="1"/>
          </p:cNvSpPr>
          <p:nvPr/>
        </p:nvSpPr>
        <p:spPr>
          <a:xfrm>
            <a:off x="3390900" y="3714750"/>
            <a:ext cx="3714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空间网格保持：N_sc x N_obs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5593EEA-2028-4354-9883-3E7AC58188C6}"/>
              </a:ext>
            </a:extLst>
          </p:cNvPr>
          <p:cNvSpPr>
            <a:spLocks noGrp="1"/>
          </p:cNvSpPr>
          <p:nvPr/>
        </p:nvSpPr>
        <p:spPr>
          <a:xfrm>
            <a:off x="7181850" y="3714750"/>
            <a:ext cx="3905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输出维度：B x d_model x N_sc x N_obs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6475C7B-7D7E-4445-BF4F-D6CD5E589D7B}"/>
              </a:ext>
            </a:extLst>
          </p:cNvPr>
          <p:cNvSpPr>
            <a:spLocks noGrp="1"/>
          </p:cNvSpPr>
          <p:nvPr/>
        </p:nvSpPr>
        <p:spPr>
          <a:xfrm>
            <a:off x="1123950" y="4733925"/>
            <a:ext cx="66675" cy="66675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D69B33B-71C3-444E-9FDC-05C8EBD88A59}"/>
              </a:ext>
            </a:extLst>
          </p:cNvPr>
          <p:cNvSpPr>
            <a:spLocks noGrp="1"/>
          </p:cNvSpPr>
          <p:nvPr/>
        </p:nvSpPr>
        <p:spPr>
          <a:xfrm>
            <a:off x="1295400" y="4686300"/>
            <a:ext cx="84010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第一层把复数接收通道映射到模型维度。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2C889942-B30A-408F-A8BA-83B3113E3EF4}"/>
              </a:ext>
            </a:extLst>
          </p:cNvPr>
          <p:cNvSpPr>
            <a:spLocks noGrp="1"/>
          </p:cNvSpPr>
          <p:nvPr/>
        </p:nvSpPr>
        <p:spPr>
          <a:xfrm>
            <a:off x="1123950" y="5114925"/>
            <a:ext cx="66675" cy="66675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EF203D7-64B7-4897-89A3-A41A0C442052}"/>
              </a:ext>
            </a:extLst>
          </p:cNvPr>
          <p:cNvSpPr>
            <a:spLocks noGrp="1"/>
          </p:cNvSpPr>
          <p:nvPr/>
        </p:nvSpPr>
        <p:spPr>
          <a:xfrm>
            <a:off x="1295400" y="5067300"/>
            <a:ext cx="84010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第二层在 d_model 通道空间内继续提取局部模式。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CC3F932-1A74-45E0-A883-F46A7F0580E6}"/>
              </a:ext>
            </a:extLst>
          </p:cNvPr>
          <p:cNvSpPr>
            <a:spLocks noGrp="1"/>
          </p:cNvSpPr>
          <p:nvPr/>
        </p:nvSpPr>
        <p:spPr>
          <a:xfrm>
            <a:off x="1123950" y="5495925"/>
            <a:ext cx="66675" cy="66675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74429E6-FB67-4EC3-8E67-A1D4E564EF83}"/>
              </a:ext>
            </a:extLst>
          </p:cNvPr>
          <p:cNvSpPr>
            <a:spLocks noGrp="1"/>
          </p:cNvSpPr>
          <p:nvPr/>
        </p:nvSpPr>
        <p:spPr>
          <a:xfrm>
            <a:off x="1295400" y="5448300"/>
            <a:ext cx="84010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CNN stem 不展平 grid，为后续二维位置编码保留 N_sc 与 N_obs 结构。</a:t>
            </a:r>
          </a:p>
        </p:txBody>
      </p:sp>
    </p:spTree>
    <p:extLst>
      <p:ext uri="{BB962C8B-B14F-4D97-AF65-F5344CB8AC3E}">
        <p14:creationId xmlns:p14="http://schemas.microsoft.com/office/powerpoint/2010/main" val="10079737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D9037D8F-E3A4-49BD-ACFD-56CE688E322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 w="0">
            <a:solidFill>
              <a:srgbClr val="F7F9FC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1F97222-07F7-4C88-8D21-85974B2DBB2C}"/>
              </a:ext>
            </a:extLst>
          </p:cNvPr>
          <p:cNvSpPr>
            <a:spLocks noGrp="1"/>
          </p:cNvSpPr>
          <p:nvPr/>
        </p:nvSpPr>
        <p:spPr>
          <a:xfrm>
            <a:off x="10001250" y="6419850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r">
              <a:defRPr sz="7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DETR architecture | 06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FC357ED-C940-4F76-9FCC-50F4048C12A7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533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把 grid 坐标注入 token 序列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FBDBFF-7D8D-4202-B345-00DCE3FDE2CE}"/>
              </a:ext>
            </a:extLst>
          </p:cNvPr>
          <p:cNvSpPr>
            <a:spLocks noGrp="1"/>
          </p:cNvSpPr>
          <p:nvPr/>
        </p:nvSpPr>
        <p:spPr>
          <a:xfrm>
            <a:off x="514350" y="495300"/>
            <a:ext cx="7620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2325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325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二维位置编码与 Encoder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9B3EFF6-8259-4A9A-899F-7E6767812335}"/>
              </a:ext>
            </a:extLst>
          </p:cNvPr>
          <p:cNvSpPr>
            <a:spLocks noGrp="1"/>
          </p:cNvSpPr>
          <p:nvPr/>
        </p:nvSpPr>
        <p:spPr>
          <a:xfrm>
            <a:off x="514350" y="1123950"/>
            <a:ext cx="1066800" cy="3810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45E8EB0-9BDA-482E-B8CE-3D2BA163CE9C}"/>
              </a:ext>
            </a:extLst>
          </p:cNvPr>
          <p:cNvSpPr>
            <a:spLocks noGrp="1"/>
          </p:cNvSpPr>
          <p:nvPr/>
        </p:nvSpPr>
        <p:spPr>
          <a:xfrm>
            <a:off x="914400" y="1924050"/>
            <a:ext cx="1809750" cy="666750"/>
          </a:xfrm>
          <a:prstGeom prst="roundRect">
            <a:avLst>
              <a:gd name="adj" fmla="val 11429"/>
            </a:avLst>
          </a:prstGeom>
          <a:solidFill>
            <a:srgbClr val="A9D6E5"/>
          </a:solidFill>
          <a:ln w="19050">
            <a:solidFill>
              <a:srgbClr val="014F86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pos_k</a:t>
            </a:r>
          </a:p>
          <a:p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N_sc x d_model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1B97630-8FB0-4CD4-B494-9D8F4B26F8CA}"/>
              </a:ext>
            </a:extLst>
          </p:cNvPr>
          <p:cNvSpPr>
            <a:spLocks noGrp="1"/>
          </p:cNvSpPr>
          <p:nvPr/>
        </p:nvSpPr>
        <p:spPr>
          <a:xfrm>
            <a:off x="914400" y="2952750"/>
            <a:ext cx="1809750" cy="666750"/>
          </a:xfrm>
          <a:prstGeom prst="roundRect">
            <a:avLst>
              <a:gd name="adj" fmla="val 11429"/>
            </a:avLst>
          </a:prstGeom>
          <a:solidFill>
            <a:srgbClr val="A9D6E5"/>
          </a:solidFill>
          <a:ln w="19050">
            <a:solidFill>
              <a:srgbClr val="014F86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pos_n</a:t>
            </a:r>
          </a:p>
          <a:p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N_obs x d_model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3501886-CA4F-4E26-96FD-AB94F5B2CFD2}"/>
              </a:ext>
            </a:extLst>
          </p:cNvPr>
          <p:cNvSpPr>
            <a:spLocks noGrp="1"/>
          </p:cNvSpPr>
          <p:nvPr/>
        </p:nvSpPr>
        <p:spPr>
          <a:xfrm>
            <a:off x="3571875" y="2343150"/>
            <a:ext cx="2476500" cy="876300"/>
          </a:xfrm>
          <a:prstGeom prst="roundRect">
            <a:avLst>
              <a:gd name="adj" fmla="val 8696"/>
            </a:avLst>
          </a:prstGeom>
          <a:solidFill>
            <a:srgbClr val="A9D6E5"/>
          </a:solidFill>
          <a:ln w="19050">
            <a:solidFill>
              <a:srgbClr val="014F86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broadcast add</a:t>
            </a:r>
          </a:p>
          <a:p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N_sc x N_obs x d_model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CEB37AE-F3A6-4033-9A2C-CBA87E87EE15}"/>
              </a:ext>
            </a:extLst>
          </p:cNvPr>
          <p:cNvSpPr>
            <a:spLocks noGrp="1"/>
          </p:cNvSpPr>
          <p:nvPr/>
        </p:nvSpPr>
        <p:spPr>
          <a:xfrm>
            <a:off x="6762750" y="2343150"/>
            <a:ext cx="2286000" cy="876300"/>
          </a:xfrm>
          <a:prstGeom prst="roundRect">
            <a:avLst>
              <a:gd name="adj" fmla="val 8696"/>
            </a:avLst>
          </a:prstGeom>
          <a:solidFill>
            <a:srgbClr val="A9D6E5"/>
          </a:solidFill>
          <a:ln w="19050">
            <a:solidFill>
              <a:srgbClr val="014F86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reshape + unsqueeze</a:t>
            </a:r>
          </a:p>
          <a:p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pos: 1 x T x d_model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6CD1FF4-B67B-4AE6-B65D-D18B27D1B628}"/>
              </a:ext>
            </a:extLst>
          </p:cNvPr>
          <p:cNvSpPr>
            <a:spLocks noGrp="1"/>
          </p:cNvSpPr>
          <p:nvPr/>
        </p:nvSpPr>
        <p:spPr>
          <a:xfrm>
            <a:off x="4514850" y="4114800"/>
            <a:ext cx="2095500" cy="685800"/>
          </a:xfrm>
          <a:prstGeom prst="roundRect">
            <a:avLst>
              <a:gd name="adj" fmla="val 11111"/>
            </a:avLst>
          </a:prstGeom>
          <a:solidFill>
            <a:srgbClr val="B7E4C7"/>
          </a:solidFill>
          <a:ln w="19050">
            <a:solidFill>
              <a:srgbClr val="1B4332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encoder_input</a:t>
            </a:r>
          </a:p>
          <a:p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 x T x d_model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6B06E1-58B5-4993-A9CE-E0DE8E55DAB5}"/>
              </a:ext>
            </a:extLst>
          </p:cNvPr>
          <p:cNvSpPr>
            <a:spLocks noGrp="1"/>
          </p:cNvSpPr>
          <p:nvPr/>
        </p:nvSpPr>
        <p:spPr>
          <a:xfrm>
            <a:off x="7524750" y="3981450"/>
            <a:ext cx="2667000" cy="952500"/>
          </a:xfrm>
          <a:prstGeom prst="roundRect">
            <a:avLst>
              <a:gd name="adj" fmla="val 8000"/>
            </a:avLst>
          </a:prstGeom>
          <a:solidFill>
            <a:srgbClr val="CDB4DB"/>
          </a:solidFill>
          <a:ln w="19050">
            <a:solidFill>
              <a:srgbClr val="6D28D9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Transformer Encoder</a:t>
            </a:r>
          </a:p>
          <a:p>
            <a:pPr algn="ctr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self attention over T tokens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637F7A7-58AD-49C9-8155-035C91DF3308}"/>
              </a:ext>
            </a:extLst>
          </p:cNvPr>
          <p:cNvSpPr>
            <a:spLocks noGrp="1"/>
          </p:cNvSpPr>
          <p:nvPr/>
        </p:nvSpPr>
        <p:spPr>
          <a:xfrm>
            <a:off x="8096250" y="5429250"/>
            <a:ext cx="1752600" cy="552450"/>
          </a:xfrm>
          <a:prstGeom prst="roundRect">
            <a:avLst>
              <a:gd name="adj" fmla="val 13793"/>
            </a:avLst>
          </a:prstGeom>
          <a:solidFill>
            <a:srgbClr val="A9D6E5"/>
          </a:solidFill>
          <a:ln w="19050">
            <a:solidFill>
              <a:srgbClr val="014F86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memory</a:t>
            </a:r>
          </a:p>
          <a:p>
            <a:pPr algn="ctr">
              <a:defRPr sz="1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 x T x d_model</a:t>
            </a:r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E172E09E-6395-4368-AE5E-68DF22456ACA}"/>
              </a:ext>
            </a:extLst>
          </p:cNvPr>
          <p:cNvSpPr>
            <a:spLocks noGrp="1"/>
          </p:cNvSpPr>
          <p:nvPr/>
        </p:nvSpPr>
        <p:spPr>
          <a:xfrm>
            <a:off x="2762250" y="2257425"/>
            <a:ext cx="752475" cy="371475"/>
          </a:xfrm>
          <a:prstGeom prst="line">
            <a:avLst/>
          </a:prstGeom>
          <a:ln w="19050">
            <a:solidFill>
              <a:srgbClr val="334155"/>
            </a:solidFill>
            <a:prstDash val="solid"/>
          </a:ln>
        </p:spPr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755A9122-CC20-4C56-9992-1A98BE4DBE03}"/>
              </a:ext>
            </a:extLst>
          </p:cNvPr>
          <p:cNvSpPr>
            <a:spLocks noGrp="1"/>
          </p:cNvSpPr>
          <p:nvPr/>
        </p:nvSpPr>
        <p:spPr>
          <a:xfrm>
            <a:off x="2762250" y="2914650"/>
            <a:ext cx="752475" cy="371475"/>
          </a:xfrm>
          <a:prstGeom prst="line">
            <a:avLst/>
          </a:prstGeom>
          <a:ln w="19050">
            <a:solidFill>
              <a:srgbClr val="334155"/>
            </a:solidFill>
            <a:prstDash val="solid"/>
          </a:ln>
        </p:spPr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05B0BEDD-58E6-48AE-90DD-C8D7B397B047}"/>
              </a:ext>
            </a:extLst>
          </p:cNvPr>
          <p:cNvSpPr>
            <a:spLocks noGrp="1"/>
          </p:cNvSpPr>
          <p:nvPr/>
        </p:nvSpPr>
        <p:spPr>
          <a:xfrm>
            <a:off x="6076950" y="2705100"/>
            <a:ext cx="628650" cy="152400"/>
          </a:xfrm>
          <a:prstGeom prst="rightArrow">
            <a:avLst/>
          </a:prstGeom>
          <a:solidFill>
            <a:srgbClr val="334155"/>
          </a:solidFill>
          <a:ln w="0">
            <a:solidFill>
              <a:srgbClr val="334155"/>
            </a:solidFill>
            <a:prstDash val="solid"/>
          </a:ln>
        </p:spPr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DD0E08DE-4C18-4700-8A10-1FF3186E869F}"/>
              </a:ext>
            </a:extLst>
          </p:cNvPr>
          <p:cNvSpPr>
            <a:spLocks noGrp="1"/>
          </p:cNvSpPr>
          <p:nvPr/>
        </p:nvSpPr>
        <p:spPr>
          <a:xfrm>
            <a:off x="6457950" y="3238500"/>
            <a:ext cx="1447800" cy="857250"/>
          </a:xfrm>
          <a:prstGeom prst="line">
            <a:avLst/>
          </a:prstGeom>
          <a:ln w="19050">
            <a:solidFill>
              <a:srgbClr val="334155"/>
            </a:solidFill>
            <a:prstDash val="solid"/>
          </a:ln>
        </p:spPr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8D8CB501-2221-46D0-B888-A20C66A0BA74}"/>
              </a:ext>
            </a:extLst>
          </p:cNvPr>
          <p:cNvSpPr>
            <a:spLocks noGrp="1"/>
          </p:cNvSpPr>
          <p:nvPr/>
        </p:nvSpPr>
        <p:spPr>
          <a:xfrm>
            <a:off x="6619875" y="4381500"/>
            <a:ext cx="847725" cy="152400"/>
          </a:xfrm>
          <a:prstGeom prst="rightArrow">
            <a:avLst/>
          </a:prstGeom>
          <a:solidFill>
            <a:srgbClr val="334155"/>
          </a:solidFill>
          <a:ln w="0">
            <a:solidFill>
              <a:srgbClr val="334155"/>
            </a:solidFill>
            <a:prstDash val="solid"/>
          </a:ln>
        </p:spPr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9CBA5173-AF7B-4CFB-BDA9-5E9F6933B2B7}"/>
              </a:ext>
            </a:extLst>
          </p:cNvPr>
          <p:cNvSpPr>
            <a:spLocks noGrp="1"/>
          </p:cNvSpPr>
          <p:nvPr/>
        </p:nvSpPr>
        <p:spPr>
          <a:xfrm>
            <a:off x="8782050" y="4972050"/>
            <a:ext cx="152400" cy="419100"/>
          </a:xfrm>
          <a:prstGeom prst="downArrow">
            <a:avLst/>
          </a:prstGeom>
          <a:solidFill>
            <a:srgbClr val="334155"/>
          </a:solidFill>
          <a:ln w="0">
            <a:solidFill>
              <a:srgbClr val="334155"/>
            </a:solidFill>
            <a:prstDash val="solid"/>
          </a:ln>
        </p:spPr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EBE407A-E7B8-41CD-8AEA-94DABD442E91}"/>
              </a:ext>
            </a:extLst>
          </p:cNvPr>
          <p:cNvSpPr>
            <a:spLocks noGrp="1"/>
          </p:cNvSpPr>
          <p:nvPr/>
        </p:nvSpPr>
        <p:spPr>
          <a:xfrm>
            <a:off x="1181100" y="4943475"/>
            <a:ext cx="66675" cy="66675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B813D6E-D3E3-4E58-B2A1-B9AE3797431B}"/>
              </a:ext>
            </a:extLst>
          </p:cNvPr>
          <p:cNvSpPr>
            <a:spLocks noGrp="1"/>
          </p:cNvSpPr>
          <p:nvPr/>
        </p:nvSpPr>
        <p:spPr>
          <a:xfrm>
            <a:off x="1352550" y="4895850"/>
            <a:ext cx="38290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位置编码是 learnable parameter；这里没有使用 _sincos_pos。</a:t>
            </a:r>
          </a:p>
        </p:txBody>
      </p:sp>
    </p:spTree>
    <p:extLst>
      <p:ext uri="{BB962C8B-B14F-4D97-AF65-F5344CB8AC3E}">
        <p14:creationId xmlns:p14="http://schemas.microsoft.com/office/powerpoint/2010/main" val="3748000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91D3358B-FE5C-4875-9967-8694887582C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 w="0">
            <a:solidFill>
              <a:srgbClr val="F7F9FC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2ECBD84-19DB-4365-9EE5-E195FEA41049}"/>
              </a:ext>
            </a:extLst>
          </p:cNvPr>
          <p:cNvSpPr>
            <a:spLocks noGrp="1"/>
          </p:cNvSpPr>
          <p:nvPr/>
        </p:nvSpPr>
        <p:spPr>
          <a:xfrm>
            <a:off x="10001250" y="6419850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r">
              <a:defRPr sz="7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DETR architecture | 07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ACF17F5-C3D8-4406-BD22-B30929EDE498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533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从 memory 中查询候选路径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40DB79E-3DA0-4D9F-8D0F-2AF946CB48CC}"/>
              </a:ext>
            </a:extLst>
          </p:cNvPr>
          <p:cNvSpPr>
            <a:spLocks noGrp="1"/>
          </p:cNvSpPr>
          <p:nvPr/>
        </p:nvSpPr>
        <p:spPr>
          <a:xfrm>
            <a:off x="514350" y="495300"/>
            <a:ext cx="7620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2325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325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Learnable Queries 与 Decoder Attention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ED02519-588F-47AC-8BDB-89C429B98C27}"/>
              </a:ext>
            </a:extLst>
          </p:cNvPr>
          <p:cNvSpPr>
            <a:spLocks noGrp="1"/>
          </p:cNvSpPr>
          <p:nvPr/>
        </p:nvSpPr>
        <p:spPr>
          <a:xfrm>
            <a:off x="514350" y="1123950"/>
            <a:ext cx="1066800" cy="3810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B25ACD8-3750-46DE-A003-31AE2C379C82}"/>
              </a:ext>
            </a:extLst>
          </p:cNvPr>
          <p:cNvSpPr>
            <a:spLocks noGrp="1"/>
          </p:cNvSpPr>
          <p:nvPr/>
        </p:nvSpPr>
        <p:spPr>
          <a:xfrm>
            <a:off x="876300" y="1809750"/>
            <a:ext cx="2095500" cy="742950"/>
          </a:xfrm>
          <a:prstGeom prst="roundRect">
            <a:avLst>
              <a:gd name="adj" fmla="val 10256"/>
            </a:avLst>
          </a:prstGeom>
          <a:solidFill>
            <a:srgbClr val="A9D6E5"/>
          </a:solidFill>
          <a:ln w="19050">
            <a:solidFill>
              <a:srgbClr val="014F86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query parameters</a:t>
            </a:r>
          </a:p>
          <a:p>
            <a:pPr algn="ctr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q x d_model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6366DAE-4525-4162-AA03-A721D795E82E}"/>
              </a:ext>
            </a:extLst>
          </p:cNvPr>
          <p:cNvSpPr>
            <a:spLocks noGrp="1"/>
          </p:cNvSpPr>
          <p:nvPr/>
        </p:nvSpPr>
        <p:spPr>
          <a:xfrm>
            <a:off x="876300" y="3143250"/>
            <a:ext cx="2266950" cy="857250"/>
          </a:xfrm>
          <a:prstGeom prst="roundRect">
            <a:avLst>
              <a:gd name="adj" fmla="val 8889"/>
            </a:avLst>
          </a:prstGeom>
          <a:solidFill>
            <a:srgbClr val="A9D6E5"/>
          </a:solidFill>
          <a:ln w="19050">
            <a:solidFill>
              <a:srgbClr val="014F86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unsqueeze + expand</a:t>
            </a:r>
          </a:p>
          <a:p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queries: B x q x d_model</a:t>
            </a:r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5F132CFA-76D2-45FF-83D2-3E5C547E5039}"/>
              </a:ext>
            </a:extLst>
          </p:cNvPr>
          <p:cNvSpPr>
            <a:spLocks noGrp="1"/>
          </p:cNvSpPr>
          <p:nvPr/>
        </p:nvSpPr>
        <p:spPr>
          <a:xfrm>
            <a:off x="1847850" y="2571750"/>
            <a:ext cx="152400" cy="533400"/>
          </a:xfrm>
          <a:prstGeom prst="downArrow">
            <a:avLst/>
          </a:prstGeom>
          <a:solidFill>
            <a:srgbClr val="334155"/>
          </a:solidFill>
          <a:ln w="0">
            <a:solidFill>
              <a:srgbClr val="334155"/>
            </a:solidFill>
            <a:prstDash val="solid"/>
          </a:ln>
        </p:spPr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C86D9F7-72FF-496F-969C-16631EEEB2BD}"/>
              </a:ext>
            </a:extLst>
          </p:cNvPr>
          <p:cNvSpPr>
            <a:spLocks noGrp="1"/>
          </p:cNvSpPr>
          <p:nvPr/>
        </p:nvSpPr>
        <p:spPr>
          <a:xfrm>
            <a:off x="4591050" y="1809750"/>
            <a:ext cx="2095500" cy="742950"/>
          </a:xfrm>
          <a:prstGeom prst="roundRect">
            <a:avLst>
              <a:gd name="adj" fmla="val 10256"/>
            </a:avLst>
          </a:prstGeom>
          <a:solidFill>
            <a:srgbClr val="A9D6E5"/>
          </a:solidFill>
          <a:ln w="19050">
            <a:solidFill>
              <a:srgbClr val="014F86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memory</a:t>
            </a:r>
          </a:p>
          <a:p>
            <a:pPr algn="ctr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 x T x d_model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999C1E4-9DEA-4B07-B714-6D8C37DED394}"/>
              </a:ext>
            </a:extLst>
          </p:cNvPr>
          <p:cNvSpPr>
            <a:spLocks noGrp="1"/>
          </p:cNvSpPr>
          <p:nvPr/>
        </p:nvSpPr>
        <p:spPr>
          <a:xfrm>
            <a:off x="4305300" y="3143250"/>
            <a:ext cx="2724150" cy="819150"/>
          </a:xfrm>
          <a:prstGeom prst="roundRect">
            <a:avLst>
              <a:gd name="adj" fmla="val 9302"/>
            </a:avLst>
          </a:prstGeom>
          <a:solidFill>
            <a:srgbClr val="CDB4DB"/>
          </a:solidFill>
          <a:ln w="19050">
            <a:solidFill>
              <a:srgbClr val="6D28D9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Decoder self-attention</a:t>
            </a:r>
          </a:p>
          <a:p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queries exchange information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EE3F075-0CDF-49C1-A09D-060CBB28C56B}"/>
              </a:ext>
            </a:extLst>
          </p:cNvPr>
          <p:cNvSpPr>
            <a:spLocks noGrp="1"/>
          </p:cNvSpPr>
          <p:nvPr/>
        </p:nvSpPr>
        <p:spPr>
          <a:xfrm>
            <a:off x="7543800" y="3143250"/>
            <a:ext cx="2857500" cy="819150"/>
          </a:xfrm>
          <a:prstGeom prst="roundRect">
            <a:avLst>
              <a:gd name="adj" fmla="val 9302"/>
            </a:avLst>
          </a:prstGeom>
          <a:solidFill>
            <a:srgbClr val="CDB4DB"/>
          </a:solidFill>
          <a:ln w="19050">
            <a:solidFill>
              <a:srgbClr val="6D28D9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Cross-attention</a:t>
            </a:r>
          </a:p>
          <a:p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queries attend encoder memory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86D34AF-04C6-4B4C-98B2-FD261C8B383D}"/>
              </a:ext>
            </a:extLst>
          </p:cNvPr>
          <p:cNvSpPr>
            <a:spLocks noGrp="1"/>
          </p:cNvSpPr>
          <p:nvPr/>
        </p:nvSpPr>
        <p:spPr>
          <a:xfrm>
            <a:off x="8096250" y="4819650"/>
            <a:ext cx="2000250" cy="723900"/>
          </a:xfrm>
          <a:prstGeom prst="roundRect">
            <a:avLst>
              <a:gd name="adj" fmla="val 10526"/>
            </a:avLst>
          </a:prstGeom>
          <a:solidFill>
            <a:srgbClr val="A9D6E5"/>
          </a:solidFill>
          <a:ln w="19050">
            <a:solidFill>
              <a:srgbClr val="014F86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decoded</a:t>
            </a:r>
          </a:p>
          <a:p>
            <a:pPr algn="ctr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 x q x d_model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E1E5DC95-D34A-4A1C-AE3B-AC3EA36A4C3B}"/>
              </a:ext>
            </a:extLst>
          </p:cNvPr>
          <p:cNvSpPr>
            <a:spLocks noGrp="1"/>
          </p:cNvSpPr>
          <p:nvPr/>
        </p:nvSpPr>
        <p:spPr>
          <a:xfrm>
            <a:off x="3162300" y="3495675"/>
            <a:ext cx="1085850" cy="152400"/>
          </a:xfrm>
          <a:prstGeom prst="rightArrow">
            <a:avLst/>
          </a:prstGeom>
          <a:solidFill>
            <a:srgbClr val="334155"/>
          </a:solidFill>
          <a:ln w="0">
            <a:solidFill>
              <a:srgbClr val="334155"/>
            </a:solidFill>
            <a:prstDash val="solid"/>
          </a:ln>
        </p:spPr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4203E6D2-A586-4645-BA0A-D2AED3F55616}"/>
              </a:ext>
            </a:extLst>
          </p:cNvPr>
          <p:cNvSpPr>
            <a:spLocks noGrp="1"/>
          </p:cNvSpPr>
          <p:nvPr/>
        </p:nvSpPr>
        <p:spPr>
          <a:xfrm>
            <a:off x="6705600" y="2190750"/>
            <a:ext cx="1943100" cy="914400"/>
          </a:xfrm>
          <a:prstGeom prst="line">
            <a:avLst/>
          </a:prstGeom>
          <a:ln w="19050">
            <a:solidFill>
              <a:srgbClr val="334155"/>
            </a:solidFill>
            <a:prstDash val="solid"/>
          </a:ln>
        </p:spPr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7D21DA6F-8D98-494C-AB8E-C129925D250F}"/>
              </a:ext>
            </a:extLst>
          </p:cNvPr>
          <p:cNvSpPr>
            <a:spLocks noGrp="1"/>
          </p:cNvSpPr>
          <p:nvPr/>
        </p:nvSpPr>
        <p:spPr>
          <a:xfrm>
            <a:off x="7048500" y="3495675"/>
            <a:ext cx="438150" cy="152400"/>
          </a:xfrm>
          <a:prstGeom prst="rightArrow">
            <a:avLst/>
          </a:prstGeom>
          <a:solidFill>
            <a:srgbClr val="334155"/>
          </a:solidFill>
          <a:ln w="0">
            <a:solidFill>
              <a:srgbClr val="334155"/>
            </a:solidFill>
            <a:prstDash val="solid"/>
          </a:ln>
        </p:spPr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C905C667-52F1-4525-8EDD-E198274F1B8E}"/>
              </a:ext>
            </a:extLst>
          </p:cNvPr>
          <p:cNvSpPr>
            <a:spLocks noGrp="1"/>
          </p:cNvSpPr>
          <p:nvPr/>
        </p:nvSpPr>
        <p:spPr>
          <a:xfrm>
            <a:off x="8896350" y="4000500"/>
            <a:ext cx="152400" cy="781050"/>
          </a:xfrm>
          <a:prstGeom prst="downArrow">
            <a:avLst/>
          </a:prstGeom>
          <a:solidFill>
            <a:srgbClr val="334155"/>
          </a:solidFill>
          <a:ln w="0">
            <a:solidFill>
              <a:srgbClr val="334155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B307701-BBFD-47B1-94D2-82A4952EFE85}"/>
              </a:ext>
            </a:extLst>
          </p:cNvPr>
          <p:cNvSpPr>
            <a:spLocks noGrp="1"/>
          </p:cNvSpPr>
          <p:nvPr/>
        </p:nvSpPr>
        <p:spPr>
          <a:xfrm>
            <a:off x="876300" y="5181600"/>
            <a:ext cx="5905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q 是候选路径槽位数；每个槽位最终会通过 heads 预测路径相关参数。</a:t>
            </a:r>
          </a:p>
        </p:txBody>
      </p:sp>
    </p:spTree>
    <p:extLst>
      <p:ext uri="{BB962C8B-B14F-4D97-AF65-F5344CB8AC3E}">
        <p14:creationId xmlns:p14="http://schemas.microsoft.com/office/powerpoint/2010/main" val="5353713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47762501-9260-4B16-864D-E8F40ED2086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 w="0">
            <a:solidFill>
              <a:srgbClr val="F7F9FC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0572759-7DC8-46C3-AD11-85BD0F1C079E}"/>
              </a:ext>
            </a:extLst>
          </p:cNvPr>
          <p:cNvSpPr>
            <a:spLocks noGrp="1"/>
          </p:cNvSpPr>
          <p:nvPr/>
        </p:nvSpPr>
        <p:spPr>
          <a:xfrm>
            <a:off x="10001250" y="6419850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r">
              <a:defRPr sz="7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DETR architecture | 08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2546A0C-1C0E-4267-9901-25E584163027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533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decoded -&gt; alpha / objectness / rho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F90B23C-E68D-44BB-8E7A-6646AE6FFD85}"/>
              </a:ext>
            </a:extLst>
          </p:cNvPr>
          <p:cNvSpPr>
            <a:spLocks noGrp="1"/>
          </p:cNvSpPr>
          <p:nvPr/>
        </p:nvSpPr>
        <p:spPr>
          <a:xfrm>
            <a:off x="514350" y="495300"/>
            <a:ext cx="7620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2325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325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路径存在性与基础参数 Heads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1B5CF8-34A9-404E-BDE6-D02B64C1EC74}"/>
              </a:ext>
            </a:extLst>
          </p:cNvPr>
          <p:cNvSpPr>
            <a:spLocks noGrp="1"/>
          </p:cNvSpPr>
          <p:nvPr/>
        </p:nvSpPr>
        <p:spPr>
          <a:xfrm>
            <a:off x="514350" y="1123950"/>
            <a:ext cx="1066800" cy="3810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8AAEE53-5503-4DA9-89B3-FB85C32972D6}"/>
              </a:ext>
            </a:extLst>
          </p:cNvPr>
          <p:cNvSpPr>
            <a:spLocks noGrp="1"/>
          </p:cNvSpPr>
          <p:nvPr/>
        </p:nvSpPr>
        <p:spPr>
          <a:xfrm>
            <a:off x="685800" y="2724150"/>
            <a:ext cx="2000250" cy="895350"/>
          </a:xfrm>
          <a:prstGeom prst="roundRect">
            <a:avLst>
              <a:gd name="adj" fmla="val 8511"/>
            </a:avLst>
          </a:prstGeom>
          <a:solidFill>
            <a:srgbClr val="A9D6E5"/>
          </a:solidFill>
          <a:ln w="19050">
            <a:solidFill>
              <a:srgbClr val="014F86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decoded</a:t>
            </a:r>
          </a:p>
          <a:p>
            <a:pPr algn="ctr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 x q x d_model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DA0C2F0-66F3-4CD9-8942-89E5A2B6AA3E}"/>
              </a:ext>
            </a:extLst>
          </p:cNvPr>
          <p:cNvSpPr>
            <a:spLocks noGrp="1"/>
          </p:cNvSpPr>
          <p:nvPr/>
        </p:nvSpPr>
        <p:spPr>
          <a:xfrm>
            <a:off x="3905250" y="1809750"/>
            <a:ext cx="2476500" cy="800100"/>
          </a:xfrm>
          <a:prstGeom prst="roundRect">
            <a:avLst>
              <a:gd name="adj" fmla="val 9524"/>
            </a:avLst>
          </a:prstGeom>
          <a:solidFill>
            <a:srgbClr val="F8C4C4"/>
          </a:solidFill>
          <a:ln w="19050">
            <a:solidFill>
              <a:srgbClr val="9B2226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alpha_head</a:t>
            </a:r>
          </a:p>
          <a:p>
            <a:pPr algn="ctr">
              <a:def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Linear d_model -&gt; 1</a:t>
            </a:r>
          </a:p>
          <a:p>
            <a:pPr algn="ctr">
              <a:def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squeeze + softplus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6096C1F-0744-498B-B3DB-653EC6F3741C}"/>
              </a:ext>
            </a:extLst>
          </p:cNvPr>
          <p:cNvSpPr>
            <a:spLocks noGrp="1"/>
          </p:cNvSpPr>
          <p:nvPr/>
        </p:nvSpPr>
        <p:spPr>
          <a:xfrm>
            <a:off x="7810500" y="1866900"/>
            <a:ext cx="2000250" cy="685800"/>
          </a:xfrm>
          <a:prstGeom prst="roundRect">
            <a:avLst>
              <a:gd name="adj" fmla="val 11111"/>
            </a:avLst>
          </a:prstGeom>
          <a:solidFill>
            <a:srgbClr val="A9D6E5"/>
          </a:solidFill>
          <a:ln w="19050">
            <a:solidFill>
              <a:srgbClr val="014F86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alpha_all</a:t>
            </a:r>
          </a:p>
          <a:p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 x q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4CE0B310-F437-4068-952C-B42614A5A075}"/>
              </a:ext>
            </a:extLst>
          </p:cNvPr>
          <p:cNvSpPr>
            <a:spLocks noGrp="1"/>
          </p:cNvSpPr>
          <p:nvPr/>
        </p:nvSpPr>
        <p:spPr>
          <a:xfrm>
            <a:off x="2724150" y="2209800"/>
            <a:ext cx="1123950" cy="962025"/>
          </a:xfrm>
          <a:prstGeom prst="line">
            <a:avLst/>
          </a:prstGeom>
          <a:ln w="14288">
            <a:solidFill>
              <a:srgbClr val="64748B"/>
            </a:solidFill>
            <a:prstDash val="solid"/>
          </a:ln>
        </p:spPr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193C2C1E-5B0F-4150-8AE7-E75053E4A6AE}"/>
              </a:ext>
            </a:extLst>
          </p:cNvPr>
          <p:cNvSpPr>
            <a:spLocks noGrp="1"/>
          </p:cNvSpPr>
          <p:nvPr/>
        </p:nvSpPr>
        <p:spPr>
          <a:xfrm>
            <a:off x="6419850" y="2133600"/>
            <a:ext cx="1333500" cy="152400"/>
          </a:xfrm>
          <a:prstGeom prst="rightArrow">
            <a:avLst/>
          </a:prstGeom>
          <a:solidFill>
            <a:srgbClr val="334155"/>
          </a:solidFill>
          <a:ln w="0">
            <a:solidFill>
              <a:srgbClr val="334155"/>
            </a:solidFill>
            <a:prstDash val="solid"/>
          </a:ln>
        </p:spPr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030AB40-10F2-4DFC-82D0-C64F4C5F1431}"/>
              </a:ext>
            </a:extLst>
          </p:cNvPr>
          <p:cNvSpPr>
            <a:spLocks noGrp="1"/>
          </p:cNvSpPr>
          <p:nvPr/>
        </p:nvSpPr>
        <p:spPr>
          <a:xfrm>
            <a:off x="3905250" y="3048000"/>
            <a:ext cx="2476500" cy="800100"/>
          </a:xfrm>
          <a:prstGeom prst="roundRect">
            <a:avLst>
              <a:gd name="adj" fmla="val 9524"/>
            </a:avLst>
          </a:prstGeom>
          <a:solidFill>
            <a:srgbClr val="F8C4C4"/>
          </a:solidFill>
          <a:ln w="19050">
            <a:solidFill>
              <a:srgbClr val="9B2226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obj_head</a:t>
            </a:r>
          </a:p>
          <a:p>
            <a:pPr algn="ctr">
              <a:def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Linear d_model -&gt; 1</a:t>
            </a:r>
          </a:p>
          <a:p>
            <a:pPr algn="ctr">
              <a:def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squeeze + sigmoid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BC96A0B-84EA-4B7A-B60B-1A0B93B5D2D6}"/>
              </a:ext>
            </a:extLst>
          </p:cNvPr>
          <p:cNvSpPr>
            <a:spLocks noGrp="1"/>
          </p:cNvSpPr>
          <p:nvPr/>
        </p:nvSpPr>
        <p:spPr>
          <a:xfrm>
            <a:off x="7810500" y="3105150"/>
            <a:ext cx="2000250" cy="685800"/>
          </a:xfrm>
          <a:prstGeom prst="roundRect">
            <a:avLst>
              <a:gd name="adj" fmla="val 11111"/>
            </a:avLst>
          </a:prstGeom>
          <a:solidFill>
            <a:srgbClr val="A9D6E5"/>
          </a:solidFill>
          <a:ln w="19050">
            <a:solidFill>
              <a:srgbClr val="014F86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path_prob_all</a:t>
            </a:r>
          </a:p>
          <a:p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 x q</a:t>
            </a:r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2E2AA9AA-62D4-448E-B033-798CD27A2D4E}"/>
              </a:ext>
            </a:extLst>
          </p:cNvPr>
          <p:cNvSpPr>
            <a:spLocks noGrp="1"/>
          </p:cNvSpPr>
          <p:nvPr/>
        </p:nvSpPr>
        <p:spPr>
          <a:xfrm>
            <a:off x="2724150" y="3171825"/>
            <a:ext cx="1123950" cy="276225"/>
          </a:xfrm>
          <a:prstGeom prst="line">
            <a:avLst/>
          </a:prstGeom>
          <a:ln w="14288">
            <a:solidFill>
              <a:srgbClr val="64748B"/>
            </a:solidFill>
            <a:prstDash val="solid"/>
          </a:ln>
        </p:spPr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66430AE1-A257-4CD2-8B60-77B386C9D12B}"/>
              </a:ext>
            </a:extLst>
          </p:cNvPr>
          <p:cNvSpPr>
            <a:spLocks noGrp="1"/>
          </p:cNvSpPr>
          <p:nvPr/>
        </p:nvSpPr>
        <p:spPr>
          <a:xfrm>
            <a:off x="6419850" y="3371850"/>
            <a:ext cx="1333500" cy="152400"/>
          </a:xfrm>
          <a:prstGeom prst="rightArrow">
            <a:avLst/>
          </a:prstGeom>
          <a:solidFill>
            <a:srgbClr val="334155"/>
          </a:solidFill>
          <a:ln w="0">
            <a:solidFill>
              <a:srgbClr val="334155"/>
            </a:solidFill>
            <a:prstDash val="solid"/>
          </a:ln>
        </p:spPr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9C65A41-E0E8-4FCF-9140-37F94085FB74}"/>
              </a:ext>
            </a:extLst>
          </p:cNvPr>
          <p:cNvSpPr>
            <a:spLocks noGrp="1"/>
          </p:cNvSpPr>
          <p:nvPr/>
        </p:nvSpPr>
        <p:spPr>
          <a:xfrm>
            <a:off x="3905250" y="4286250"/>
            <a:ext cx="2476500" cy="800100"/>
          </a:xfrm>
          <a:prstGeom prst="roundRect">
            <a:avLst>
              <a:gd name="adj" fmla="val 9524"/>
            </a:avLst>
          </a:prstGeom>
          <a:solidFill>
            <a:srgbClr val="F8C4C4"/>
          </a:solidFill>
          <a:ln w="19050">
            <a:solidFill>
              <a:srgbClr val="9B2226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rho_head</a:t>
            </a:r>
          </a:p>
          <a:p>
            <a:pPr algn="ctr">
              <a:def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Linear d_model -&gt; 1</a:t>
            </a:r>
          </a:p>
          <a:p>
            <a:pPr algn="ctr">
              <a:def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squeeze + sigmoid + scale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449BECB-ED5D-4C0C-8A0A-2C477E1E24D2}"/>
              </a:ext>
            </a:extLst>
          </p:cNvPr>
          <p:cNvSpPr>
            <a:spLocks noGrp="1"/>
          </p:cNvSpPr>
          <p:nvPr/>
        </p:nvSpPr>
        <p:spPr>
          <a:xfrm>
            <a:off x="7810500" y="4343400"/>
            <a:ext cx="2000250" cy="685800"/>
          </a:xfrm>
          <a:prstGeom prst="roundRect">
            <a:avLst>
              <a:gd name="adj" fmla="val 11111"/>
            </a:avLst>
          </a:prstGeom>
          <a:solidFill>
            <a:srgbClr val="A9D6E5"/>
          </a:solidFill>
          <a:ln w="19050">
            <a:solidFill>
              <a:srgbClr val="014F86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rho_raw_all</a:t>
            </a:r>
          </a:p>
          <a:p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 x q</a:t>
            </a:r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6A4AD064-EEED-4EAA-ABE4-5DF32B068FB9}"/>
              </a:ext>
            </a:extLst>
          </p:cNvPr>
          <p:cNvSpPr>
            <a:spLocks noGrp="1"/>
          </p:cNvSpPr>
          <p:nvPr/>
        </p:nvSpPr>
        <p:spPr>
          <a:xfrm>
            <a:off x="2724150" y="3171825"/>
            <a:ext cx="1123950" cy="1514475"/>
          </a:xfrm>
          <a:prstGeom prst="line">
            <a:avLst/>
          </a:prstGeom>
          <a:ln w="14288">
            <a:solidFill>
              <a:srgbClr val="64748B"/>
            </a:solidFill>
            <a:prstDash val="solid"/>
          </a:ln>
        </p:spPr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685E12AA-127F-4387-A0EC-05DB10C885CE}"/>
              </a:ext>
            </a:extLst>
          </p:cNvPr>
          <p:cNvSpPr>
            <a:spLocks noGrp="1"/>
          </p:cNvSpPr>
          <p:nvPr/>
        </p:nvSpPr>
        <p:spPr>
          <a:xfrm>
            <a:off x="6419850" y="4610100"/>
            <a:ext cx="1333500" cy="152400"/>
          </a:xfrm>
          <a:prstGeom prst="rightArrow">
            <a:avLst/>
          </a:prstGeom>
          <a:solidFill>
            <a:srgbClr val="334155"/>
          </a:solidFill>
          <a:ln w="0">
            <a:solidFill>
              <a:srgbClr val="334155"/>
            </a:solidFill>
            <a:prstDash val="solid"/>
          </a:ln>
        </p:spPr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272BBE59-4D63-4A7C-87CD-1FB6B1BAB71F}"/>
              </a:ext>
            </a:extLst>
          </p:cNvPr>
          <p:cNvSpPr>
            <a:spLocks noGrp="1"/>
          </p:cNvSpPr>
          <p:nvPr/>
        </p:nvSpPr>
        <p:spPr>
          <a:xfrm>
            <a:off x="1123950" y="5381625"/>
            <a:ext cx="66675" cy="66675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C924C29-D1E1-41BD-AE6E-FB8F31011B24}"/>
              </a:ext>
            </a:extLst>
          </p:cNvPr>
          <p:cNvSpPr>
            <a:spLocks noGrp="1"/>
          </p:cNvSpPr>
          <p:nvPr/>
        </p:nvSpPr>
        <p:spPr>
          <a:xfrm>
            <a:off x="1295400" y="5334000"/>
            <a:ext cx="85915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alpha_all 表示路径幅度/权重的非负预测。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8134D93-FF9A-4D3E-9180-E4C9FC3ECC37}"/>
              </a:ext>
            </a:extLst>
          </p:cNvPr>
          <p:cNvSpPr>
            <a:spLocks noGrp="1"/>
          </p:cNvSpPr>
          <p:nvPr/>
        </p:nvSpPr>
        <p:spPr>
          <a:xfrm>
            <a:off x="1123950" y="5705475"/>
            <a:ext cx="66675" cy="66675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2A7A98F-4C80-42BA-A444-E8DABD43D2D0}"/>
              </a:ext>
            </a:extLst>
          </p:cNvPr>
          <p:cNvSpPr>
            <a:spLocks noGrp="1"/>
          </p:cNvSpPr>
          <p:nvPr/>
        </p:nvSpPr>
        <p:spPr>
          <a:xfrm>
            <a:off x="1295400" y="5657850"/>
            <a:ext cx="85915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path_prob_all 表示候选 query 成为有效路径的概率。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ACE2E0D5-A327-48C4-8F2D-7D4403EBA5F0}"/>
              </a:ext>
            </a:extLst>
          </p:cNvPr>
          <p:cNvSpPr>
            <a:spLocks noGrp="1"/>
          </p:cNvSpPr>
          <p:nvPr/>
        </p:nvSpPr>
        <p:spPr>
          <a:xfrm>
            <a:off x="1123950" y="6029325"/>
            <a:ext cx="66675" cy="66675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BD26011-13ED-4654-8A76-055354781A76}"/>
              </a:ext>
            </a:extLst>
          </p:cNvPr>
          <p:cNvSpPr>
            <a:spLocks noGrp="1"/>
          </p:cNvSpPr>
          <p:nvPr/>
        </p:nvSpPr>
        <p:spPr>
          <a:xfrm>
            <a:off x="1295400" y="5981700"/>
            <a:ext cx="85915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rho_raw_all 是路径位置参数 rho 的 query 级预测。</a:t>
            </a:r>
          </a:p>
        </p:txBody>
      </p:sp>
    </p:spTree>
    <p:extLst>
      <p:ext uri="{BB962C8B-B14F-4D97-AF65-F5344CB8AC3E}">
        <p14:creationId xmlns:p14="http://schemas.microsoft.com/office/powerpoint/2010/main" val="13211692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73530C9A-198A-4035-B750-45DED59388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 w="0">
            <a:solidFill>
              <a:srgbClr val="F7F9FC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B460EAC-EBF2-4D25-AC22-9D8C06E4BEA7}"/>
              </a:ext>
            </a:extLst>
          </p:cNvPr>
          <p:cNvSpPr>
            <a:spLocks noGrp="1"/>
          </p:cNvSpPr>
          <p:nvPr/>
        </p:nvSpPr>
        <p:spPr>
          <a:xfrm>
            <a:off x="10001250" y="6419850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r">
              <a:defRPr sz="7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DETR architecture | 09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98EA4B2-1CBF-42FC-973A-B82941C2E152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533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free / scaled / grid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3F51073-8D55-42D8-99AF-2F9266F3B7AB}"/>
              </a:ext>
            </a:extLst>
          </p:cNvPr>
          <p:cNvSpPr>
            <a:spLocks noGrp="1"/>
          </p:cNvSpPr>
          <p:nvPr/>
        </p:nvSpPr>
        <p:spPr>
          <a:xfrm>
            <a:off x="514350" y="495300"/>
            <a:ext cx="7620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2325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325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mu Head 三种模式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CF62DCC-A021-4933-BC79-CEB01705778C}"/>
              </a:ext>
            </a:extLst>
          </p:cNvPr>
          <p:cNvSpPr>
            <a:spLocks noGrp="1"/>
          </p:cNvSpPr>
          <p:nvPr/>
        </p:nvSpPr>
        <p:spPr>
          <a:xfrm>
            <a:off x="514350" y="1123950"/>
            <a:ext cx="1066800" cy="3810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AA0FAA7-CA65-45FE-90A6-9A7BF1DA6962}"/>
              </a:ext>
            </a:extLst>
          </p:cNvPr>
          <p:cNvSpPr>
            <a:spLocks noGrp="1"/>
          </p:cNvSpPr>
          <p:nvPr/>
        </p:nvSpPr>
        <p:spPr>
          <a:xfrm>
            <a:off x="4953000" y="1371600"/>
            <a:ext cx="2095500" cy="666750"/>
          </a:xfrm>
          <a:prstGeom prst="roundRect">
            <a:avLst>
              <a:gd name="adj" fmla="val 11429"/>
            </a:avLst>
          </a:prstGeom>
          <a:solidFill>
            <a:srgbClr val="A9D6E5"/>
          </a:solidFill>
          <a:ln w="19050">
            <a:solidFill>
              <a:srgbClr val="014F86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decoded</a:t>
            </a:r>
          </a:p>
          <a:p>
            <a:pPr algn="ctr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 x q x d_model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B79275C-A38D-4C26-A0B7-E0B5E2A46129}"/>
              </a:ext>
            </a:extLst>
          </p:cNvPr>
          <p:cNvSpPr>
            <a:spLocks noGrp="1"/>
          </p:cNvSpPr>
          <p:nvPr/>
        </p:nvSpPr>
        <p:spPr>
          <a:xfrm>
            <a:off x="685800" y="2324100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ctr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free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9EB048D-2D36-4FD2-AA7B-F965271155FD}"/>
              </a:ext>
            </a:extLst>
          </p:cNvPr>
          <p:cNvSpPr>
            <a:spLocks noGrp="1"/>
          </p:cNvSpPr>
          <p:nvPr/>
        </p:nvSpPr>
        <p:spPr>
          <a:xfrm>
            <a:off x="685800" y="2724150"/>
            <a:ext cx="2667000" cy="1066800"/>
          </a:xfrm>
          <a:prstGeom prst="roundRect">
            <a:avLst>
              <a:gd name="adj" fmla="val 7143"/>
            </a:avLst>
          </a:prstGeom>
          <a:solidFill>
            <a:srgbClr val="F8C4C4"/>
          </a:solidFill>
          <a:ln w="19050">
            <a:solidFill>
              <a:srgbClr val="9B2226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mu_head</a:t>
            </a:r>
          </a:p>
          <a:p>
            <a:pPr algn="ctr">
              <a:def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 x q x 1</a:t>
            </a:r>
          </a:p>
          <a:p>
            <a:pPr algn="ctr">
              <a:def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squeeze -&gt; B x q</a:t>
            </a:r>
          </a:p>
          <a:p>
            <a:pPr algn="ctr">
              <a:def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sigmoid + scale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9D26ADC-D382-4FE1-8AC9-FE2097F3BF71}"/>
              </a:ext>
            </a:extLst>
          </p:cNvPr>
          <p:cNvSpPr>
            <a:spLocks noGrp="1"/>
          </p:cNvSpPr>
          <p:nvPr/>
        </p:nvSpPr>
        <p:spPr>
          <a:xfrm>
            <a:off x="685800" y="4152900"/>
            <a:ext cx="2667000" cy="781050"/>
          </a:xfrm>
          <a:prstGeom prst="roundRect">
            <a:avLst>
              <a:gd name="adj" fmla="val 9756"/>
            </a:avLst>
          </a:prstGeom>
          <a:solidFill>
            <a:srgbClr val="A9D6E5"/>
          </a:solidFill>
          <a:ln w="19050">
            <a:solidFill>
              <a:srgbClr val="014F86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mu_raw_all</a:t>
            </a:r>
          </a:p>
          <a:p>
            <a:pPr algn="ctr">
              <a:def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 x q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964BD782-F701-465F-988B-E1E20EF00E64}"/>
              </a:ext>
            </a:extLst>
          </p:cNvPr>
          <p:cNvSpPr>
            <a:spLocks noGrp="1"/>
          </p:cNvSpPr>
          <p:nvPr/>
        </p:nvSpPr>
        <p:spPr>
          <a:xfrm>
            <a:off x="2019300" y="2076450"/>
            <a:ext cx="3981450" cy="590550"/>
          </a:xfrm>
          <a:prstGeom prst="line">
            <a:avLst/>
          </a:prstGeom>
          <a:ln w="19050">
            <a:solidFill>
              <a:srgbClr val="334155"/>
            </a:solidFill>
            <a:prstDash val="solid"/>
          </a:ln>
        </p:spPr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D99AFBF1-9DAC-49F2-81EC-5135F5951108}"/>
              </a:ext>
            </a:extLst>
          </p:cNvPr>
          <p:cNvSpPr>
            <a:spLocks noGrp="1"/>
          </p:cNvSpPr>
          <p:nvPr/>
        </p:nvSpPr>
        <p:spPr>
          <a:xfrm>
            <a:off x="1943100" y="3829050"/>
            <a:ext cx="152400" cy="285750"/>
          </a:xfrm>
          <a:prstGeom prst="downArrow">
            <a:avLst/>
          </a:prstGeom>
          <a:solidFill>
            <a:srgbClr val="334155"/>
          </a:solidFill>
          <a:ln w="0">
            <a:solidFill>
              <a:srgbClr val="334155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268D58D-DE86-41A1-AF83-5494ED2F0A07}"/>
              </a:ext>
            </a:extLst>
          </p:cNvPr>
          <p:cNvSpPr>
            <a:spLocks noGrp="1"/>
          </p:cNvSpPr>
          <p:nvPr/>
        </p:nvSpPr>
        <p:spPr>
          <a:xfrm>
            <a:off x="4400550" y="2324100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ctr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scaled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B04C969-5254-4F79-B335-49BAC1138B35}"/>
              </a:ext>
            </a:extLst>
          </p:cNvPr>
          <p:cNvSpPr>
            <a:spLocks noGrp="1"/>
          </p:cNvSpPr>
          <p:nvPr/>
        </p:nvSpPr>
        <p:spPr>
          <a:xfrm>
            <a:off x="4400550" y="2724150"/>
            <a:ext cx="2667000" cy="1066800"/>
          </a:xfrm>
          <a:prstGeom prst="roundRect">
            <a:avLst>
              <a:gd name="adj" fmla="val 7143"/>
            </a:avLst>
          </a:prstGeom>
          <a:solidFill>
            <a:srgbClr val="F8C4C4"/>
          </a:solidFill>
          <a:ln w="19050">
            <a:solidFill>
              <a:srgbClr val="9B2226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mu_head</a:t>
            </a:r>
          </a:p>
          <a:p>
            <a:pPr algn="ctr">
              <a:def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 x q x 1</a:t>
            </a:r>
          </a:p>
          <a:p>
            <a:pPr algn="ctr">
              <a:def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sigmoid -&gt; frac B x q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0631233-6BC6-4ADB-AAEB-B93DBE777E32}"/>
              </a:ext>
            </a:extLst>
          </p:cNvPr>
          <p:cNvSpPr>
            <a:spLocks noGrp="1"/>
          </p:cNvSpPr>
          <p:nvPr/>
        </p:nvSpPr>
        <p:spPr>
          <a:xfrm>
            <a:off x="4400550" y="4152900"/>
            <a:ext cx="2667000" cy="781050"/>
          </a:xfrm>
          <a:prstGeom prst="roundRect">
            <a:avLst>
              <a:gd name="adj" fmla="val 9756"/>
            </a:avLst>
          </a:prstGeom>
          <a:solidFill>
            <a:srgbClr val="A9D6E5"/>
          </a:solidFill>
          <a:ln w="19050">
            <a:solidFill>
              <a:srgbClr val="014F86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frac + extent</a:t>
            </a:r>
          </a:p>
          <a:p>
            <a:pPr algn="ctr">
              <a:def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mu_min + frac * extent range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0AE38624-9282-4175-9384-7D962CF25FE7}"/>
              </a:ext>
            </a:extLst>
          </p:cNvPr>
          <p:cNvSpPr>
            <a:spLocks noGrp="1"/>
          </p:cNvSpPr>
          <p:nvPr/>
        </p:nvSpPr>
        <p:spPr>
          <a:xfrm>
            <a:off x="5734050" y="2076450"/>
            <a:ext cx="266700" cy="590550"/>
          </a:xfrm>
          <a:prstGeom prst="line">
            <a:avLst/>
          </a:prstGeom>
          <a:ln w="19050">
            <a:solidFill>
              <a:srgbClr val="334155"/>
            </a:solidFill>
            <a:prstDash val="solid"/>
          </a:ln>
        </p:spPr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F6DC41DB-FCC0-4C1F-B4F0-D9EB60C2D66A}"/>
              </a:ext>
            </a:extLst>
          </p:cNvPr>
          <p:cNvSpPr>
            <a:spLocks noGrp="1"/>
          </p:cNvSpPr>
          <p:nvPr/>
        </p:nvSpPr>
        <p:spPr>
          <a:xfrm>
            <a:off x="5657850" y="3829050"/>
            <a:ext cx="152400" cy="285750"/>
          </a:xfrm>
          <a:prstGeom prst="downArrow">
            <a:avLst/>
          </a:prstGeom>
          <a:solidFill>
            <a:srgbClr val="334155"/>
          </a:solidFill>
          <a:ln w="0">
            <a:solidFill>
              <a:srgbClr val="334155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F1F5EBB-9A85-4AC4-8641-3682AC06D552}"/>
              </a:ext>
            </a:extLst>
          </p:cNvPr>
          <p:cNvSpPr>
            <a:spLocks noGrp="1"/>
          </p:cNvSpPr>
          <p:nvPr/>
        </p:nvSpPr>
        <p:spPr>
          <a:xfrm>
            <a:off x="8115300" y="2324100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ctr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grid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AB6E5A7-8963-4F70-B262-0C3F121FB88C}"/>
              </a:ext>
            </a:extLst>
          </p:cNvPr>
          <p:cNvSpPr>
            <a:spLocks noGrp="1"/>
          </p:cNvSpPr>
          <p:nvPr/>
        </p:nvSpPr>
        <p:spPr>
          <a:xfrm>
            <a:off x="8115300" y="2724150"/>
            <a:ext cx="2667000" cy="1066800"/>
          </a:xfrm>
          <a:prstGeom prst="roundRect">
            <a:avLst>
              <a:gd name="adj" fmla="val 7143"/>
            </a:avLst>
          </a:prstGeom>
          <a:solidFill>
            <a:srgbClr val="F8C4C4"/>
          </a:solidFill>
          <a:ln w="19050">
            <a:solidFill>
              <a:srgbClr val="9B2226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mu_head</a:t>
            </a:r>
          </a:p>
          <a:p>
            <a:pPr algn="ctr">
              <a:def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 x q x num_mu_bins</a:t>
            </a:r>
          </a:p>
          <a:p>
            <a:pPr algn="ctr">
              <a:def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softmax over bins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10E4A8C-3F43-4F25-BD7B-B3B669EB5D0E}"/>
              </a:ext>
            </a:extLst>
          </p:cNvPr>
          <p:cNvSpPr>
            <a:spLocks noGrp="1"/>
          </p:cNvSpPr>
          <p:nvPr/>
        </p:nvSpPr>
        <p:spPr>
          <a:xfrm>
            <a:off x="8115300" y="4152900"/>
            <a:ext cx="2667000" cy="781050"/>
          </a:xfrm>
          <a:prstGeom prst="roundRect">
            <a:avLst>
              <a:gd name="adj" fmla="val 9756"/>
            </a:avLst>
          </a:prstGeom>
          <a:solidFill>
            <a:srgbClr val="A9D6E5"/>
          </a:solidFill>
          <a:ln w="19050">
            <a:solidFill>
              <a:srgbClr val="014F86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weighted sum with mu_dict</a:t>
            </a:r>
          </a:p>
          <a:p>
            <a:pPr algn="ctr">
              <a:def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frac B x q</a:t>
            </a:r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12D69379-3B49-4F23-B9DD-97433AE5222A}"/>
              </a:ext>
            </a:extLst>
          </p:cNvPr>
          <p:cNvSpPr>
            <a:spLocks noGrp="1"/>
          </p:cNvSpPr>
          <p:nvPr/>
        </p:nvSpPr>
        <p:spPr>
          <a:xfrm>
            <a:off x="6000750" y="2076450"/>
            <a:ext cx="3448050" cy="590550"/>
          </a:xfrm>
          <a:prstGeom prst="line">
            <a:avLst/>
          </a:prstGeom>
          <a:ln w="19050">
            <a:solidFill>
              <a:srgbClr val="334155"/>
            </a:solidFill>
            <a:prstDash val="solid"/>
          </a:ln>
        </p:spPr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DAC0888A-3223-4A6A-8D92-1093A7A76BF2}"/>
              </a:ext>
            </a:extLst>
          </p:cNvPr>
          <p:cNvSpPr>
            <a:spLocks noGrp="1"/>
          </p:cNvSpPr>
          <p:nvPr/>
        </p:nvSpPr>
        <p:spPr>
          <a:xfrm>
            <a:off x="9372600" y="3829050"/>
            <a:ext cx="152400" cy="285750"/>
          </a:xfrm>
          <a:prstGeom prst="downArrow">
            <a:avLst/>
          </a:prstGeom>
          <a:solidFill>
            <a:srgbClr val="334155"/>
          </a:solidFill>
          <a:ln w="0">
            <a:solidFill>
              <a:srgbClr val="334155"/>
            </a:solidFill>
            <a:prstDash val="solid"/>
          </a:ln>
        </p:spPr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CF4561CC-1B2A-4F25-92DF-550B6E38345C}"/>
              </a:ext>
            </a:extLst>
          </p:cNvPr>
          <p:cNvSpPr>
            <a:spLocks noGrp="1"/>
          </p:cNvSpPr>
          <p:nvPr/>
        </p:nvSpPr>
        <p:spPr>
          <a:xfrm>
            <a:off x="4343400" y="5372100"/>
            <a:ext cx="2190750" cy="704850"/>
          </a:xfrm>
          <a:prstGeom prst="roundRect">
            <a:avLst>
              <a:gd name="adj" fmla="val 10811"/>
            </a:avLst>
          </a:prstGeom>
          <a:solidFill>
            <a:srgbClr val="A9D6E5"/>
          </a:solidFill>
          <a:ln w="19050">
            <a:solidFill>
              <a:srgbClr val="014F86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08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cross_path_stats</a:t>
            </a:r>
          </a:p>
          <a:p>
            <a:pPr algn="ctr">
              <a:defRPr sz="108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mean over query dim</a:t>
            </a:r>
          </a:p>
          <a:p>
            <a:pPr algn="ctr">
              <a:defRPr sz="108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 x d_model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04AB68C7-AA10-4EC4-BB93-E7C2F69DFEAA}"/>
              </a:ext>
            </a:extLst>
          </p:cNvPr>
          <p:cNvSpPr>
            <a:spLocks noGrp="1"/>
          </p:cNvSpPr>
          <p:nvPr/>
        </p:nvSpPr>
        <p:spPr>
          <a:xfrm>
            <a:off x="6858000" y="5372100"/>
            <a:ext cx="2190750" cy="704850"/>
          </a:xfrm>
          <a:prstGeom prst="roundRect">
            <a:avLst>
              <a:gd name="adj" fmla="val 10811"/>
            </a:avLst>
          </a:prstGeom>
          <a:solidFill>
            <a:srgbClr val="F8C4C4"/>
          </a:solidFill>
          <a:ln w="19050">
            <a:solidFill>
              <a:srgbClr val="9B2226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08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s_head MLP</a:t>
            </a:r>
          </a:p>
          <a:p>
            <a:pPr algn="ctr">
              <a:defRPr sz="108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 x d_model -&gt; B x 1</a:t>
            </a:r>
          </a:p>
          <a:p>
            <a:pPr algn="ctr">
              <a:defRPr sz="108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extent</a:t>
            </a:r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24E1EDB2-5CDF-4B03-AD64-61372C725554}"/>
              </a:ext>
            </a:extLst>
          </p:cNvPr>
          <p:cNvSpPr>
            <a:spLocks noGrp="1"/>
          </p:cNvSpPr>
          <p:nvPr/>
        </p:nvSpPr>
        <p:spPr>
          <a:xfrm>
            <a:off x="6534150" y="5648325"/>
            <a:ext cx="266700" cy="152400"/>
          </a:xfrm>
          <a:prstGeom prst="rightArrow">
            <a:avLst/>
          </a:prstGeom>
          <a:solidFill>
            <a:srgbClr val="334155"/>
          </a:solidFill>
          <a:ln w="0">
            <a:solidFill>
              <a:srgbClr val="334155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C10204D-14C0-48DD-AE68-64341C9B93D2}"/>
              </a:ext>
            </a:extLst>
          </p:cNvPr>
          <p:cNvSpPr>
            <a:spLocks noGrp="1"/>
          </p:cNvSpPr>
          <p:nvPr/>
        </p:nvSpPr>
        <p:spPr>
          <a:xfrm>
            <a:off x="781050" y="6038850"/>
            <a:ext cx="4572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0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scaled/grid 共用 extent；free 分支直接给出 mu_raw_all。</a:t>
            </a:r>
          </a:p>
        </p:txBody>
      </p:sp>
    </p:spTree>
    <p:extLst>
      <p:ext uri="{BB962C8B-B14F-4D97-AF65-F5344CB8AC3E}">
        <p14:creationId xmlns:p14="http://schemas.microsoft.com/office/powerpoint/2010/main" val="15697456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31E46F85-F194-40E9-B8F2-F6166363DC5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 w="0">
            <a:solidFill>
              <a:srgbClr val="F7F9FC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7AF7ECF-D298-4D2D-95BB-E3F98DE90DA0}"/>
              </a:ext>
            </a:extLst>
          </p:cNvPr>
          <p:cNvSpPr>
            <a:spLocks noGrp="1"/>
          </p:cNvSpPr>
          <p:nvPr/>
        </p:nvSpPr>
        <p:spPr>
          <a:xfrm>
            <a:off x="10001250" y="6419850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r">
              <a:defRPr sz="7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DETR architecture | 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4B21BBD-78BA-409A-B269-609FBEAFC62A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533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从 q 个候选槽位到 L_eff 条有效路径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5074BF5-D15E-4789-9250-65F164C21839}"/>
              </a:ext>
            </a:extLst>
          </p:cNvPr>
          <p:cNvSpPr>
            <a:spLocks noGrp="1"/>
          </p:cNvSpPr>
          <p:nvPr/>
        </p:nvSpPr>
        <p:spPr>
          <a:xfrm>
            <a:off x="514350" y="495300"/>
            <a:ext cx="7620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2325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325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Top-k 选择与 Gauge Fix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BBE0340-D289-4AA1-9A2A-FDABF701FB57}"/>
              </a:ext>
            </a:extLst>
          </p:cNvPr>
          <p:cNvSpPr>
            <a:spLocks noGrp="1"/>
          </p:cNvSpPr>
          <p:nvPr/>
        </p:nvSpPr>
        <p:spPr>
          <a:xfrm>
            <a:off x="514350" y="1123950"/>
            <a:ext cx="1066800" cy="3810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344D047-08EE-4BFF-BE6E-32F7A5360E32}"/>
              </a:ext>
            </a:extLst>
          </p:cNvPr>
          <p:cNvSpPr>
            <a:spLocks noGrp="1"/>
          </p:cNvSpPr>
          <p:nvPr/>
        </p:nvSpPr>
        <p:spPr>
          <a:xfrm>
            <a:off x="819150" y="1638300"/>
            <a:ext cx="1619250" cy="571500"/>
          </a:xfrm>
          <a:prstGeom prst="roundRect">
            <a:avLst>
              <a:gd name="adj" fmla="val 13333"/>
            </a:avLst>
          </a:prstGeom>
          <a:solidFill>
            <a:srgbClr val="A9D6E5"/>
          </a:solidFill>
          <a:ln w="19050">
            <a:solidFill>
              <a:srgbClr val="014F86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alpha_all</a:t>
            </a:r>
          </a:p>
          <a:p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 x q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DC01041-34D5-4072-BD8C-2730EFA19CAD}"/>
              </a:ext>
            </a:extLst>
          </p:cNvPr>
          <p:cNvSpPr>
            <a:spLocks noGrp="1"/>
          </p:cNvSpPr>
          <p:nvPr/>
        </p:nvSpPr>
        <p:spPr>
          <a:xfrm>
            <a:off x="819150" y="2495550"/>
            <a:ext cx="1619250" cy="571500"/>
          </a:xfrm>
          <a:prstGeom prst="roundRect">
            <a:avLst>
              <a:gd name="adj" fmla="val 13333"/>
            </a:avLst>
          </a:prstGeom>
          <a:solidFill>
            <a:srgbClr val="A9D6E5"/>
          </a:solidFill>
          <a:ln w="19050">
            <a:solidFill>
              <a:srgbClr val="014F86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path_prob_all</a:t>
            </a:r>
          </a:p>
          <a:p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 x q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3227157-993A-4787-B353-6E6EF07C15BE}"/>
              </a:ext>
            </a:extLst>
          </p:cNvPr>
          <p:cNvSpPr>
            <a:spLocks noGrp="1"/>
          </p:cNvSpPr>
          <p:nvPr/>
        </p:nvSpPr>
        <p:spPr>
          <a:xfrm>
            <a:off x="3295650" y="2019300"/>
            <a:ext cx="2571750" cy="781050"/>
          </a:xfrm>
          <a:prstGeom prst="roundRect">
            <a:avLst>
              <a:gd name="adj" fmla="val 9756"/>
            </a:avLst>
          </a:prstGeom>
          <a:solidFill>
            <a:srgbClr val="A9D6E5"/>
          </a:solidFill>
          <a:ln w="19050">
            <a:solidFill>
              <a:srgbClr val="014F86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score = alpha_all * path_prob_all</a:t>
            </a:r>
          </a:p>
          <a:p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 x q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3A73CF9-BFF6-4EE1-8483-BC89D4B881A2}"/>
              </a:ext>
            </a:extLst>
          </p:cNvPr>
          <p:cNvSpPr>
            <a:spLocks noGrp="1"/>
          </p:cNvSpPr>
          <p:nvPr/>
        </p:nvSpPr>
        <p:spPr>
          <a:xfrm>
            <a:off x="6705600" y="2019300"/>
            <a:ext cx="2381250" cy="781050"/>
          </a:xfrm>
          <a:prstGeom prst="roundRect">
            <a:avLst>
              <a:gd name="adj" fmla="val 9756"/>
            </a:avLst>
          </a:prstGeom>
          <a:solidFill>
            <a:srgbClr val="F6B26B"/>
          </a:solidFill>
          <a:ln w="19050">
            <a:solidFill>
              <a:srgbClr val="B45309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top-k over query dim</a:t>
            </a:r>
          </a:p>
          <a:p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top_idx: B x L_eff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CB4EAB8E-CDBB-4D00-8F5D-5DAF4BAC4AF4}"/>
              </a:ext>
            </a:extLst>
          </p:cNvPr>
          <p:cNvSpPr>
            <a:spLocks noGrp="1"/>
          </p:cNvSpPr>
          <p:nvPr/>
        </p:nvSpPr>
        <p:spPr>
          <a:xfrm>
            <a:off x="2476500" y="1924050"/>
            <a:ext cx="762000" cy="419100"/>
          </a:xfrm>
          <a:prstGeom prst="line">
            <a:avLst/>
          </a:prstGeom>
          <a:ln w="19050">
            <a:solidFill>
              <a:srgbClr val="334155"/>
            </a:solidFill>
            <a:prstDash val="solid"/>
          </a:ln>
        </p:spPr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C3FFD7A9-4C18-44F6-B6AC-007AA9EDD692}"/>
              </a:ext>
            </a:extLst>
          </p:cNvPr>
          <p:cNvSpPr>
            <a:spLocks noGrp="1"/>
          </p:cNvSpPr>
          <p:nvPr/>
        </p:nvSpPr>
        <p:spPr>
          <a:xfrm>
            <a:off x="2476500" y="2457450"/>
            <a:ext cx="762000" cy="323850"/>
          </a:xfrm>
          <a:prstGeom prst="line">
            <a:avLst/>
          </a:prstGeom>
          <a:ln w="19050">
            <a:solidFill>
              <a:srgbClr val="334155"/>
            </a:solidFill>
            <a:prstDash val="solid"/>
          </a:ln>
        </p:spPr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F27D7031-6727-4615-AA93-72E401E171AE}"/>
              </a:ext>
            </a:extLst>
          </p:cNvPr>
          <p:cNvSpPr>
            <a:spLocks noGrp="1"/>
          </p:cNvSpPr>
          <p:nvPr/>
        </p:nvSpPr>
        <p:spPr>
          <a:xfrm>
            <a:off x="5905500" y="2333625"/>
            <a:ext cx="742950" cy="152400"/>
          </a:xfrm>
          <a:prstGeom prst="rightArrow">
            <a:avLst/>
          </a:prstGeom>
          <a:solidFill>
            <a:srgbClr val="334155"/>
          </a:solidFill>
          <a:ln w="0">
            <a:solidFill>
              <a:srgbClr val="334155"/>
            </a:solidFill>
            <a:prstDash val="solid"/>
          </a:ln>
        </p:spPr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8EB9464-DC03-4477-ABB6-F5327ABAF91D}"/>
              </a:ext>
            </a:extLst>
          </p:cNvPr>
          <p:cNvSpPr>
            <a:spLocks noGrp="1"/>
          </p:cNvSpPr>
          <p:nvPr/>
        </p:nvSpPr>
        <p:spPr>
          <a:xfrm>
            <a:off x="1066800" y="3905250"/>
            <a:ext cx="2000250" cy="609600"/>
          </a:xfrm>
          <a:prstGeom prst="roundRect">
            <a:avLst>
              <a:gd name="adj" fmla="val 12500"/>
            </a:avLst>
          </a:prstGeom>
          <a:solidFill>
            <a:srgbClr val="A9D6E5"/>
          </a:solidFill>
          <a:ln w="19050">
            <a:solidFill>
              <a:srgbClr val="014F86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08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mu_raw_all -&gt; mu_raw</a:t>
            </a:r>
          </a:p>
          <a:p>
            <a:pPr algn="ctr">
              <a:defRPr sz="108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 x L_eff</a:t>
            </a: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650F7EFE-0A98-495B-97F9-8E8F5B0485A9}"/>
              </a:ext>
            </a:extLst>
          </p:cNvPr>
          <p:cNvSpPr>
            <a:spLocks noGrp="1"/>
          </p:cNvSpPr>
          <p:nvPr/>
        </p:nvSpPr>
        <p:spPr>
          <a:xfrm>
            <a:off x="2066925" y="2838450"/>
            <a:ext cx="5819775" cy="1028700"/>
          </a:xfrm>
          <a:prstGeom prst="line">
            <a:avLst/>
          </a:prstGeom>
          <a:ln w="14288">
            <a:solidFill>
              <a:srgbClr val="64748B"/>
            </a:solidFill>
            <a:prstDash val="solid"/>
          </a:ln>
        </p:spPr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B7A91A7-6EA3-4881-9B08-3E97E16612FE}"/>
              </a:ext>
            </a:extLst>
          </p:cNvPr>
          <p:cNvSpPr>
            <a:spLocks noGrp="1"/>
          </p:cNvSpPr>
          <p:nvPr/>
        </p:nvSpPr>
        <p:spPr>
          <a:xfrm>
            <a:off x="3371850" y="3905250"/>
            <a:ext cx="2000250" cy="609600"/>
          </a:xfrm>
          <a:prstGeom prst="roundRect">
            <a:avLst>
              <a:gd name="adj" fmla="val 12500"/>
            </a:avLst>
          </a:prstGeom>
          <a:solidFill>
            <a:srgbClr val="A9D6E5"/>
          </a:solidFill>
          <a:ln w="19050">
            <a:solidFill>
              <a:srgbClr val="014F86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08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rho_raw_all -&gt; rho_raw</a:t>
            </a:r>
          </a:p>
          <a:p>
            <a:pPr algn="ctr">
              <a:defRPr sz="108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 x L_eff</a:t>
            </a:r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0B4F5049-4028-46DF-BEEC-8F1C2F3573CB}"/>
              </a:ext>
            </a:extLst>
          </p:cNvPr>
          <p:cNvSpPr>
            <a:spLocks noGrp="1"/>
          </p:cNvSpPr>
          <p:nvPr/>
        </p:nvSpPr>
        <p:spPr>
          <a:xfrm>
            <a:off x="4371975" y="2838450"/>
            <a:ext cx="3514725" cy="1028700"/>
          </a:xfrm>
          <a:prstGeom prst="line">
            <a:avLst/>
          </a:prstGeom>
          <a:ln w="14288">
            <a:solidFill>
              <a:srgbClr val="64748B"/>
            </a:solidFill>
            <a:prstDash val="solid"/>
          </a:ln>
        </p:spPr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AA43DA9-3AF9-4FAD-A5D1-0CE82273A949}"/>
              </a:ext>
            </a:extLst>
          </p:cNvPr>
          <p:cNvSpPr>
            <a:spLocks noGrp="1"/>
          </p:cNvSpPr>
          <p:nvPr/>
        </p:nvSpPr>
        <p:spPr>
          <a:xfrm>
            <a:off x="5676900" y="3905250"/>
            <a:ext cx="2000250" cy="609600"/>
          </a:xfrm>
          <a:prstGeom prst="roundRect">
            <a:avLst>
              <a:gd name="adj" fmla="val 12500"/>
            </a:avLst>
          </a:prstGeom>
          <a:solidFill>
            <a:srgbClr val="A9D6E5"/>
          </a:solidFill>
          <a:ln w="19050">
            <a:solidFill>
              <a:srgbClr val="014F86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08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alpha_all -&gt; alpha</a:t>
            </a:r>
          </a:p>
          <a:p>
            <a:pPr algn="ctr">
              <a:defRPr sz="108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 x L_eff</a:t>
            </a:r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6F14AC67-74E9-4865-A4D6-E683C226D12B}"/>
              </a:ext>
            </a:extLst>
          </p:cNvPr>
          <p:cNvSpPr>
            <a:spLocks noGrp="1"/>
          </p:cNvSpPr>
          <p:nvPr/>
        </p:nvSpPr>
        <p:spPr>
          <a:xfrm>
            <a:off x="6677025" y="2838450"/>
            <a:ext cx="1209675" cy="1028700"/>
          </a:xfrm>
          <a:prstGeom prst="line">
            <a:avLst/>
          </a:prstGeom>
          <a:ln w="14288">
            <a:solidFill>
              <a:srgbClr val="64748B"/>
            </a:solidFill>
            <a:prstDash val="solid"/>
          </a:ln>
        </p:spPr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E912CEDB-485D-4E6E-AB6F-49CE95EDD76B}"/>
              </a:ext>
            </a:extLst>
          </p:cNvPr>
          <p:cNvSpPr>
            <a:spLocks noGrp="1"/>
          </p:cNvSpPr>
          <p:nvPr/>
        </p:nvSpPr>
        <p:spPr>
          <a:xfrm>
            <a:off x="7981950" y="3905250"/>
            <a:ext cx="2000250" cy="609600"/>
          </a:xfrm>
          <a:prstGeom prst="roundRect">
            <a:avLst>
              <a:gd name="adj" fmla="val 12500"/>
            </a:avLst>
          </a:prstGeom>
          <a:solidFill>
            <a:srgbClr val="A9D6E5"/>
          </a:solidFill>
          <a:ln w="19050">
            <a:solidFill>
              <a:srgbClr val="014F86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08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path_prob_all -&gt; path_prob</a:t>
            </a:r>
          </a:p>
          <a:p>
            <a:pPr algn="ctr">
              <a:defRPr sz="108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 x L_eff</a:t>
            </a:r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AFBB1AB6-0AB9-4422-83BF-BCCF9D846019}"/>
              </a:ext>
            </a:extLst>
          </p:cNvPr>
          <p:cNvSpPr>
            <a:spLocks noGrp="1"/>
          </p:cNvSpPr>
          <p:nvPr/>
        </p:nvSpPr>
        <p:spPr>
          <a:xfrm>
            <a:off x="7886700" y="2838450"/>
            <a:ext cx="1095375" cy="1028700"/>
          </a:xfrm>
          <a:prstGeom prst="line">
            <a:avLst/>
          </a:prstGeom>
          <a:ln w="14288">
            <a:solidFill>
              <a:srgbClr val="64748B"/>
            </a:solidFill>
            <a:prstDash val="solid"/>
          </a:ln>
        </p:spPr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1176D208-8EC1-4215-88C0-340F4612214D}"/>
              </a:ext>
            </a:extLst>
          </p:cNvPr>
          <p:cNvSpPr>
            <a:spLocks noGrp="1"/>
          </p:cNvSpPr>
          <p:nvPr/>
        </p:nvSpPr>
        <p:spPr>
          <a:xfrm>
            <a:off x="1657350" y="5257800"/>
            <a:ext cx="2571750" cy="819150"/>
          </a:xfrm>
          <a:prstGeom prst="roundRect">
            <a:avLst>
              <a:gd name="adj" fmla="val 9302"/>
            </a:avLst>
          </a:prstGeom>
          <a:solidFill>
            <a:srgbClr val="F6B26B"/>
          </a:solidFill>
          <a:ln w="19050">
            <a:solidFill>
              <a:srgbClr val="B45309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gauge_fix_mu</a:t>
            </a:r>
          </a:p>
          <a:p>
            <a:pPr algn="ctr">
              <a:def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mu0 = max(mu_raw)</a:t>
            </a:r>
          </a:p>
          <a:p>
            <a:pPr algn="ctr">
              <a:def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mu_rel = mu_raw - mu0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31E0B461-897C-427D-A7BE-86288AA2EE85}"/>
              </a:ext>
            </a:extLst>
          </p:cNvPr>
          <p:cNvSpPr>
            <a:spLocks noGrp="1"/>
          </p:cNvSpPr>
          <p:nvPr/>
        </p:nvSpPr>
        <p:spPr>
          <a:xfrm>
            <a:off x="4819650" y="5257800"/>
            <a:ext cx="2571750" cy="819150"/>
          </a:xfrm>
          <a:prstGeom prst="roundRect">
            <a:avLst>
              <a:gd name="adj" fmla="val 9302"/>
            </a:avLst>
          </a:prstGeom>
          <a:solidFill>
            <a:srgbClr val="F6B26B"/>
          </a:solidFill>
          <a:ln w="19050">
            <a:solidFill>
              <a:srgbClr val="B45309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gauge_fix_rho</a:t>
            </a:r>
          </a:p>
          <a:p>
            <a:pPr algn="ctr">
              <a:def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rho0 = mean(rho_raw)</a:t>
            </a:r>
          </a:p>
          <a:p>
            <a:pPr algn="ctr">
              <a:def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rho_rel = rho_raw - rho0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315C86B9-CC53-4035-B9BC-8DB6C7E40E4F}"/>
              </a:ext>
            </a:extLst>
          </p:cNvPr>
          <p:cNvSpPr>
            <a:spLocks noGrp="1"/>
          </p:cNvSpPr>
          <p:nvPr/>
        </p:nvSpPr>
        <p:spPr>
          <a:xfrm>
            <a:off x="7962900" y="5257800"/>
            <a:ext cx="2667000" cy="819150"/>
          </a:xfrm>
          <a:prstGeom prst="roundRect">
            <a:avLst>
              <a:gd name="adj" fmla="val 9302"/>
            </a:avLst>
          </a:prstGeom>
          <a:solidFill>
            <a:srgbClr val="F6B26B"/>
          </a:solidFill>
          <a:ln w="19050">
            <a:solidFill>
              <a:srgbClr val="B45309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delta path</a:t>
            </a:r>
          </a:p>
          <a:p>
            <a:pPr algn="ctr">
              <a:def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fmap -&gt; pool -&gt; delta_mlp</a:t>
            </a:r>
          </a:p>
          <a:p>
            <a:pPr algn="ctr">
              <a:def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 x N_rx -&gt; relative offsets</a:t>
            </a:r>
          </a:p>
        </p:txBody>
      </p:sp>
    </p:spTree>
    <p:extLst>
      <p:ext uri="{BB962C8B-B14F-4D97-AF65-F5344CB8AC3E}">
        <p14:creationId xmlns:p14="http://schemas.microsoft.com/office/powerpoint/2010/main" val="4821243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>
            <a:extLst>
              <a:ext uri="{FF2B5EF4-FFF2-40B4-BE49-F238E27FC236}">
                <a16:creationId xmlns:a16="http://schemas.microsoft.com/office/drawing/2014/main" id="{0B0EF722-4B13-421E-85F0-62D413FA91F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 w="0">
            <a:solidFill>
              <a:srgbClr val="F7F9FC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19E9332-7F6B-4CDC-9458-4BDCCA74837A}"/>
              </a:ext>
            </a:extLst>
          </p:cNvPr>
          <p:cNvSpPr>
            <a:spLocks noGrp="1"/>
          </p:cNvSpPr>
          <p:nvPr/>
        </p:nvSpPr>
        <p:spPr>
          <a:xfrm>
            <a:off x="10001250" y="6419850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r">
              <a:defRPr sz="7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DETR architecture | 11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8991630-8D07-40FE-A2EE-34261644F181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533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当前使用的 forward path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7D3D377-4EDD-4768-9E2A-E737D8FB1F67}"/>
              </a:ext>
            </a:extLst>
          </p:cNvPr>
          <p:cNvSpPr>
            <a:spLocks noGrp="1"/>
          </p:cNvSpPr>
          <p:nvPr/>
        </p:nvSpPr>
        <p:spPr>
          <a:xfrm>
            <a:off x="514350" y="495300"/>
            <a:ext cx="7620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2325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325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输出接口与讲解收束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02DEE6-07AF-4C3F-AD08-C09114B04440}"/>
              </a:ext>
            </a:extLst>
          </p:cNvPr>
          <p:cNvSpPr>
            <a:spLocks noGrp="1"/>
          </p:cNvSpPr>
          <p:nvPr/>
        </p:nvSpPr>
        <p:spPr>
          <a:xfrm>
            <a:off x="514350" y="1123950"/>
            <a:ext cx="1066800" cy="3810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6DC6BFE-BF00-4AF5-8B94-D2654FA37966}"/>
              </a:ext>
            </a:extLst>
          </p:cNvPr>
          <p:cNvSpPr>
            <a:spLocks noGrp="1"/>
          </p:cNvSpPr>
          <p:nvPr/>
        </p:nvSpPr>
        <p:spPr>
          <a:xfrm>
            <a:off x="857250" y="1524000"/>
            <a:ext cx="2476500" cy="609600"/>
          </a:xfrm>
          <a:prstGeom prst="roundRect">
            <a:avLst>
              <a:gd name="adj" fmla="val 12500"/>
            </a:avLst>
          </a:prstGeom>
          <a:solidFill>
            <a:srgbClr val="B7E4C7"/>
          </a:solidFill>
          <a:ln w="19050">
            <a:solidFill>
              <a:srgbClr val="1B4332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theta dict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0DE8C6C-AE93-449F-AE0D-659A922D1B3C}"/>
              </a:ext>
            </a:extLst>
          </p:cNvPr>
          <p:cNvSpPr>
            <a:spLocks noGrp="1"/>
          </p:cNvSpPr>
          <p:nvPr/>
        </p:nvSpPr>
        <p:spPr>
          <a:xfrm>
            <a:off x="857250" y="2286000"/>
            <a:ext cx="1188720" cy="457200"/>
          </a:xfrm>
          <a:prstGeom prst="rect">
            <a:avLst/>
          </a:prstGeom>
          <a:solidFill>
            <a:srgbClr val="E8EEF8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687B6DF-C9D2-4083-8631-8FE962C7F69D}"/>
              </a:ext>
            </a:extLst>
          </p:cNvPr>
          <p:cNvSpPr>
            <a:spLocks noGrp="1"/>
          </p:cNvSpPr>
          <p:nvPr/>
        </p:nvSpPr>
        <p:spPr>
          <a:xfrm>
            <a:off x="933450" y="2333625"/>
            <a:ext cx="103632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01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字段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8422472-2137-4F6D-B494-0A09C28BB1AB}"/>
              </a:ext>
            </a:extLst>
          </p:cNvPr>
          <p:cNvSpPr>
            <a:spLocks noGrp="1"/>
          </p:cNvSpPr>
          <p:nvPr/>
        </p:nvSpPr>
        <p:spPr>
          <a:xfrm>
            <a:off x="2045970" y="2286000"/>
            <a:ext cx="1188720" cy="457200"/>
          </a:xfrm>
          <a:prstGeom prst="rect">
            <a:avLst/>
          </a:prstGeom>
          <a:solidFill>
            <a:srgbClr val="E8EEF8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1CA3BC2-07EC-462C-B1B5-53AFE37F8B68}"/>
              </a:ext>
            </a:extLst>
          </p:cNvPr>
          <p:cNvSpPr>
            <a:spLocks noGrp="1"/>
          </p:cNvSpPr>
          <p:nvPr/>
        </p:nvSpPr>
        <p:spPr>
          <a:xfrm>
            <a:off x="2122170" y="2333625"/>
            <a:ext cx="103632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01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形状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7FC58B7-4F48-4EDA-9904-BBCB5543F307}"/>
              </a:ext>
            </a:extLst>
          </p:cNvPr>
          <p:cNvSpPr>
            <a:spLocks noGrp="1"/>
          </p:cNvSpPr>
          <p:nvPr/>
        </p:nvSpPr>
        <p:spPr>
          <a:xfrm>
            <a:off x="3234690" y="2286000"/>
            <a:ext cx="2575560" cy="457200"/>
          </a:xfrm>
          <a:prstGeom prst="rect">
            <a:avLst/>
          </a:prstGeom>
          <a:solidFill>
            <a:srgbClr val="E8EEF8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7CC1377-FA26-4893-9D4B-F3B3A80DDEAA}"/>
              </a:ext>
            </a:extLst>
          </p:cNvPr>
          <p:cNvSpPr>
            <a:spLocks noGrp="1"/>
          </p:cNvSpPr>
          <p:nvPr/>
        </p:nvSpPr>
        <p:spPr>
          <a:xfrm>
            <a:off x="3310890" y="2333625"/>
            <a:ext cx="242316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01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说明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9522035-A2E8-4169-802F-37C4CA1CC7F4}"/>
              </a:ext>
            </a:extLst>
          </p:cNvPr>
          <p:cNvSpPr>
            <a:spLocks noGrp="1"/>
          </p:cNvSpPr>
          <p:nvPr/>
        </p:nvSpPr>
        <p:spPr>
          <a:xfrm>
            <a:off x="857250" y="2743200"/>
            <a:ext cx="11887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4FEB433-A9DB-4CCB-ABE7-4CDEC103DF80}"/>
              </a:ext>
            </a:extLst>
          </p:cNvPr>
          <p:cNvSpPr>
            <a:spLocks noGrp="1"/>
          </p:cNvSpPr>
          <p:nvPr/>
        </p:nvSpPr>
        <p:spPr>
          <a:xfrm>
            <a:off x="933450" y="2790825"/>
            <a:ext cx="103632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013" b="0">
                <a:solidFill>
                  <a:srgbClr val="5B6472"/>
                </a:solidFill>
                <a:latin typeface="Aptos Mono"/>
                <a:ea typeface="Aptos Mono"/>
                <a:cs typeface="Aptos Mono"/>
              </a:defRPr>
            </a:pPr>
            <a:r>
              <a:rPr sz="1013" b="0">
                <a:solidFill>
                  <a:srgbClr val="5B6472"/>
                </a:solidFill>
                <a:latin typeface="Aptos Mono"/>
                <a:ea typeface="Aptos Mono"/>
                <a:cs typeface="Aptos Mono"/>
              </a:rPr>
              <a:t>mu0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19D408F-D861-411E-ABC8-F74DA7260F5D}"/>
              </a:ext>
            </a:extLst>
          </p:cNvPr>
          <p:cNvSpPr>
            <a:spLocks noGrp="1"/>
          </p:cNvSpPr>
          <p:nvPr/>
        </p:nvSpPr>
        <p:spPr>
          <a:xfrm>
            <a:off x="2045970" y="2743200"/>
            <a:ext cx="11887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3048253-E131-4EEF-A3A1-52DDF068885D}"/>
              </a:ext>
            </a:extLst>
          </p:cNvPr>
          <p:cNvSpPr>
            <a:spLocks noGrp="1"/>
          </p:cNvSpPr>
          <p:nvPr/>
        </p:nvSpPr>
        <p:spPr>
          <a:xfrm>
            <a:off x="2122170" y="2790825"/>
            <a:ext cx="103632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013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B x 1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33D459C-569A-4C9A-BC96-0FFD83A40AE0}"/>
              </a:ext>
            </a:extLst>
          </p:cNvPr>
          <p:cNvSpPr>
            <a:spLocks noGrp="1"/>
          </p:cNvSpPr>
          <p:nvPr/>
        </p:nvSpPr>
        <p:spPr>
          <a:xfrm>
            <a:off x="3234690" y="2743200"/>
            <a:ext cx="25755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4DE879D-2ECD-4153-84E7-80306A5520C5}"/>
              </a:ext>
            </a:extLst>
          </p:cNvPr>
          <p:cNvSpPr>
            <a:spLocks noGrp="1"/>
          </p:cNvSpPr>
          <p:nvPr/>
        </p:nvSpPr>
        <p:spPr>
          <a:xfrm>
            <a:off x="3310890" y="2790825"/>
            <a:ext cx="242316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013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路径位置参数 mu 的参考量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8A60568-519D-4E91-A39D-C90D98FAB31B}"/>
              </a:ext>
            </a:extLst>
          </p:cNvPr>
          <p:cNvSpPr>
            <a:spLocks noGrp="1"/>
          </p:cNvSpPr>
          <p:nvPr/>
        </p:nvSpPr>
        <p:spPr>
          <a:xfrm>
            <a:off x="857250" y="3200400"/>
            <a:ext cx="1188720" cy="457200"/>
          </a:xfrm>
          <a:prstGeom prst="rect">
            <a:avLst/>
          </a:prstGeom>
          <a:solidFill>
            <a:srgbClr val="F4F7FB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AB35C86-60F8-4C8A-9957-6A8A3B267A3A}"/>
              </a:ext>
            </a:extLst>
          </p:cNvPr>
          <p:cNvSpPr>
            <a:spLocks noGrp="1"/>
          </p:cNvSpPr>
          <p:nvPr/>
        </p:nvSpPr>
        <p:spPr>
          <a:xfrm>
            <a:off x="933450" y="3248025"/>
            <a:ext cx="103632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013" b="0">
                <a:solidFill>
                  <a:srgbClr val="5B6472"/>
                </a:solidFill>
                <a:latin typeface="Aptos Mono"/>
                <a:ea typeface="Aptos Mono"/>
                <a:cs typeface="Aptos Mono"/>
              </a:defRPr>
            </a:pPr>
            <a:r>
              <a:rPr sz="1013" b="0">
                <a:solidFill>
                  <a:srgbClr val="5B6472"/>
                </a:solidFill>
                <a:latin typeface="Aptos Mono"/>
                <a:ea typeface="Aptos Mono"/>
                <a:cs typeface="Aptos Mono"/>
              </a:rPr>
              <a:t>rho0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1FC2A9C-54CB-47C4-B9F5-143EF03DDB42}"/>
              </a:ext>
            </a:extLst>
          </p:cNvPr>
          <p:cNvSpPr>
            <a:spLocks noGrp="1"/>
          </p:cNvSpPr>
          <p:nvPr/>
        </p:nvSpPr>
        <p:spPr>
          <a:xfrm>
            <a:off x="2045970" y="3200400"/>
            <a:ext cx="1188720" cy="457200"/>
          </a:xfrm>
          <a:prstGeom prst="rect">
            <a:avLst/>
          </a:prstGeom>
          <a:solidFill>
            <a:srgbClr val="F4F7FB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442408A-BA61-440A-AB59-2EFFA87A3407}"/>
              </a:ext>
            </a:extLst>
          </p:cNvPr>
          <p:cNvSpPr>
            <a:spLocks noGrp="1"/>
          </p:cNvSpPr>
          <p:nvPr/>
        </p:nvSpPr>
        <p:spPr>
          <a:xfrm>
            <a:off x="2122170" y="3248025"/>
            <a:ext cx="103632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013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B x 1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67D6B39-2EFD-47F7-9849-C9468623BBBA}"/>
              </a:ext>
            </a:extLst>
          </p:cNvPr>
          <p:cNvSpPr>
            <a:spLocks noGrp="1"/>
          </p:cNvSpPr>
          <p:nvPr/>
        </p:nvSpPr>
        <p:spPr>
          <a:xfrm>
            <a:off x="3234690" y="3200400"/>
            <a:ext cx="2575560" cy="457200"/>
          </a:xfrm>
          <a:prstGeom prst="rect">
            <a:avLst/>
          </a:prstGeom>
          <a:solidFill>
            <a:srgbClr val="F4F7FB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890A814-0A04-424A-80C1-E29D971781CC}"/>
              </a:ext>
            </a:extLst>
          </p:cNvPr>
          <p:cNvSpPr>
            <a:spLocks noGrp="1"/>
          </p:cNvSpPr>
          <p:nvPr/>
        </p:nvSpPr>
        <p:spPr>
          <a:xfrm>
            <a:off x="3310890" y="3248025"/>
            <a:ext cx="242316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013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路径位置参数 rho 的参考量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29D824F-3A5B-4279-A8A0-2D468831841A}"/>
              </a:ext>
            </a:extLst>
          </p:cNvPr>
          <p:cNvSpPr>
            <a:spLocks noGrp="1"/>
          </p:cNvSpPr>
          <p:nvPr/>
        </p:nvSpPr>
        <p:spPr>
          <a:xfrm>
            <a:off x="857250" y="3657600"/>
            <a:ext cx="11887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E72F437-F6C3-4DC5-8239-FEF872BD0C35}"/>
              </a:ext>
            </a:extLst>
          </p:cNvPr>
          <p:cNvSpPr>
            <a:spLocks noGrp="1"/>
          </p:cNvSpPr>
          <p:nvPr/>
        </p:nvSpPr>
        <p:spPr>
          <a:xfrm>
            <a:off x="933450" y="3705225"/>
            <a:ext cx="103632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013" b="0">
                <a:solidFill>
                  <a:srgbClr val="5B6472"/>
                </a:solidFill>
                <a:latin typeface="Aptos Mono"/>
                <a:ea typeface="Aptos Mono"/>
                <a:cs typeface="Aptos Mono"/>
              </a:defRPr>
            </a:pPr>
            <a:r>
              <a:rPr sz="1013" b="0">
                <a:solidFill>
                  <a:srgbClr val="5B6472"/>
                </a:solidFill>
                <a:latin typeface="Aptos Mono"/>
                <a:ea typeface="Aptos Mono"/>
                <a:cs typeface="Aptos Mono"/>
              </a:rPr>
              <a:t>delta_rx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D06A10F-9DAB-4564-AAEF-05CCBC28A1D8}"/>
              </a:ext>
            </a:extLst>
          </p:cNvPr>
          <p:cNvSpPr>
            <a:spLocks noGrp="1"/>
          </p:cNvSpPr>
          <p:nvPr/>
        </p:nvSpPr>
        <p:spPr>
          <a:xfrm>
            <a:off x="2045970" y="3657600"/>
            <a:ext cx="11887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A286A4D-F027-4CCF-910D-22AE58C783A1}"/>
              </a:ext>
            </a:extLst>
          </p:cNvPr>
          <p:cNvSpPr>
            <a:spLocks noGrp="1"/>
          </p:cNvSpPr>
          <p:nvPr/>
        </p:nvSpPr>
        <p:spPr>
          <a:xfrm>
            <a:off x="2122170" y="3705225"/>
            <a:ext cx="103632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013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B x N_rx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B9425D2-29CB-40A7-95A7-49BA98E8CB11}"/>
              </a:ext>
            </a:extLst>
          </p:cNvPr>
          <p:cNvSpPr>
            <a:spLocks noGrp="1"/>
          </p:cNvSpPr>
          <p:nvPr/>
        </p:nvSpPr>
        <p:spPr>
          <a:xfrm>
            <a:off x="3234690" y="3657600"/>
            <a:ext cx="25755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904B1EB-C471-4AE9-B2D3-AABD3C176DD1}"/>
              </a:ext>
            </a:extLst>
          </p:cNvPr>
          <p:cNvSpPr>
            <a:spLocks noGrp="1"/>
          </p:cNvSpPr>
          <p:nvPr/>
        </p:nvSpPr>
        <p:spPr>
          <a:xfrm>
            <a:off x="3310890" y="3705225"/>
            <a:ext cx="242316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013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接收端相对偏移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2736925-1E07-46AC-BD98-BA163441768E}"/>
              </a:ext>
            </a:extLst>
          </p:cNvPr>
          <p:cNvSpPr>
            <a:spLocks noGrp="1"/>
          </p:cNvSpPr>
          <p:nvPr/>
        </p:nvSpPr>
        <p:spPr>
          <a:xfrm>
            <a:off x="857250" y="4114800"/>
            <a:ext cx="1188720" cy="457200"/>
          </a:xfrm>
          <a:prstGeom prst="rect">
            <a:avLst/>
          </a:prstGeom>
          <a:solidFill>
            <a:srgbClr val="F4F7FB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8FE9133-FB6B-40D9-8D4F-5544B62E8621}"/>
              </a:ext>
            </a:extLst>
          </p:cNvPr>
          <p:cNvSpPr>
            <a:spLocks noGrp="1"/>
          </p:cNvSpPr>
          <p:nvPr/>
        </p:nvSpPr>
        <p:spPr>
          <a:xfrm>
            <a:off x="933450" y="4162425"/>
            <a:ext cx="103632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013" b="0">
                <a:solidFill>
                  <a:srgbClr val="5B6472"/>
                </a:solidFill>
                <a:latin typeface="Aptos Mono"/>
                <a:ea typeface="Aptos Mono"/>
                <a:cs typeface="Aptos Mono"/>
              </a:defRPr>
            </a:pPr>
            <a:r>
              <a:rPr sz="1013" b="0">
                <a:solidFill>
                  <a:srgbClr val="5B6472"/>
                </a:solidFill>
                <a:latin typeface="Aptos Mono"/>
                <a:ea typeface="Aptos Mono"/>
                <a:cs typeface="Aptos Mono"/>
              </a:rPr>
              <a:t>mu_rel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AF36E33-DEEA-404C-9A7A-8974CA55C23E}"/>
              </a:ext>
            </a:extLst>
          </p:cNvPr>
          <p:cNvSpPr>
            <a:spLocks noGrp="1"/>
          </p:cNvSpPr>
          <p:nvPr/>
        </p:nvSpPr>
        <p:spPr>
          <a:xfrm>
            <a:off x="2045970" y="4114800"/>
            <a:ext cx="1188720" cy="457200"/>
          </a:xfrm>
          <a:prstGeom prst="rect">
            <a:avLst/>
          </a:prstGeom>
          <a:solidFill>
            <a:srgbClr val="F4F7FB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2DC3134-4535-47D6-97A8-E36EC8BEF542}"/>
              </a:ext>
            </a:extLst>
          </p:cNvPr>
          <p:cNvSpPr>
            <a:spLocks noGrp="1"/>
          </p:cNvSpPr>
          <p:nvPr/>
        </p:nvSpPr>
        <p:spPr>
          <a:xfrm>
            <a:off x="2122170" y="4162425"/>
            <a:ext cx="103632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013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B x L_eff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33EE05F-3EEA-44D0-821B-E9AD82D99AF0}"/>
              </a:ext>
            </a:extLst>
          </p:cNvPr>
          <p:cNvSpPr>
            <a:spLocks noGrp="1"/>
          </p:cNvSpPr>
          <p:nvPr/>
        </p:nvSpPr>
        <p:spPr>
          <a:xfrm>
            <a:off x="3234690" y="4114800"/>
            <a:ext cx="2575560" cy="457200"/>
          </a:xfrm>
          <a:prstGeom prst="rect">
            <a:avLst/>
          </a:prstGeom>
          <a:solidFill>
            <a:srgbClr val="F4F7FB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04D6F5D-CDCF-4C69-8DF9-B35108210051}"/>
              </a:ext>
            </a:extLst>
          </p:cNvPr>
          <p:cNvSpPr>
            <a:spLocks noGrp="1"/>
          </p:cNvSpPr>
          <p:nvPr/>
        </p:nvSpPr>
        <p:spPr>
          <a:xfrm>
            <a:off x="3310890" y="4162425"/>
            <a:ext cx="242316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013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有效路径的相对 mu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D8F6368-D3E9-4257-80BD-E1E5164BCEC8}"/>
              </a:ext>
            </a:extLst>
          </p:cNvPr>
          <p:cNvSpPr>
            <a:spLocks noGrp="1"/>
          </p:cNvSpPr>
          <p:nvPr/>
        </p:nvSpPr>
        <p:spPr>
          <a:xfrm>
            <a:off x="857250" y="4572000"/>
            <a:ext cx="11887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CD95267-F06E-4618-A239-32BD8707E106}"/>
              </a:ext>
            </a:extLst>
          </p:cNvPr>
          <p:cNvSpPr>
            <a:spLocks noGrp="1"/>
          </p:cNvSpPr>
          <p:nvPr/>
        </p:nvSpPr>
        <p:spPr>
          <a:xfrm>
            <a:off x="933450" y="4619625"/>
            <a:ext cx="103632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013" b="0">
                <a:solidFill>
                  <a:srgbClr val="5B6472"/>
                </a:solidFill>
                <a:latin typeface="Aptos Mono"/>
                <a:ea typeface="Aptos Mono"/>
                <a:cs typeface="Aptos Mono"/>
              </a:defRPr>
            </a:pPr>
            <a:r>
              <a:rPr sz="1013" b="0">
                <a:solidFill>
                  <a:srgbClr val="5B6472"/>
                </a:solidFill>
                <a:latin typeface="Aptos Mono"/>
                <a:ea typeface="Aptos Mono"/>
                <a:cs typeface="Aptos Mono"/>
              </a:rPr>
              <a:t>rho_rel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319C860-F301-4846-86A0-90B3A25563D7}"/>
              </a:ext>
            </a:extLst>
          </p:cNvPr>
          <p:cNvSpPr>
            <a:spLocks noGrp="1"/>
          </p:cNvSpPr>
          <p:nvPr/>
        </p:nvSpPr>
        <p:spPr>
          <a:xfrm>
            <a:off x="2045970" y="4572000"/>
            <a:ext cx="11887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C5C999B-26DE-4B94-B7FC-D6CCB4EEEDA8}"/>
              </a:ext>
            </a:extLst>
          </p:cNvPr>
          <p:cNvSpPr>
            <a:spLocks noGrp="1"/>
          </p:cNvSpPr>
          <p:nvPr/>
        </p:nvSpPr>
        <p:spPr>
          <a:xfrm>
            <a:off x="2122170" y="4619625"/>
            <a:ext cx="103632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013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B x L_eff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E50FB7D-1764-424A-8FEB-B221F5A67D7F}"/>
              </a:ext>
            </a:extLst>
          </p:cNvPr>
          <p:cNvSpPr>
            <a:spLocks noGrp="1"/>
          </p:cNvSpPr>
          <p:nvPr/>
        </p:nvSpPr>
        <p:spPr>
          <a:xfrm>
            <a:off x="3234690" y="4572000"/>
            <a:ext cx="25755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3252E18-A81A-4061-A2A1-BF23857695D7}"/>
              </a:ext>
            </a:extLst>
          </p:cNvPr>
          <p:cNvSpPr>
            <a:spLocks noGrp="1"/>
          </p:cNvSpPr>
          <p:nvPr/>
        </p:nvSpPr>
        <p:spPr>
          <a:xfrm>
            <a:off x="3310890" y="4619625"/>
            <a:ext cx="242316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013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有效路径的相对 rho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DC6CF4FA-3B54-49CD-8642-3510F33FCA28}"/>
              </a:ext>
            </a:extLst>
          </p:cNvPr>
          <p:cNvSpPr>
            <a:spLocks noGrp="1"/>
          </p:cNvSpPr>
          <p:nvPr/>
        </p:nvSpPr>
        <p:spPr>
          <a:xfrm>
            <a:off x="6572250" y="1924050"/>
            <a:ext cx="1809750" cy="704850"/>
          </a:xfrm>
          <a:prstGeom prst="roundRect">
            <a:avLst>
              <a:gd name="adj" fmla="val 10811"/>
            </a:avLst>
          </a:prstGeom>
          <a:solidFill>
            <a:srgbClr val="A9D6E5"/>
          </a:solidFill>
          <a:ln w="19050">
            <a:solidFill>
              <a:srgbClr val="014F86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alpha</a:t>
            </a:r>
          </a:p>
          <a:p>
            <a:pPr algn="ctr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 x L_eff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531A54C1-B4D8-47C2-99CC-54C7649FA739}"/>
              </a:ext>
            </a:extLst>
          </p:cNvPr>
          <p:cNvSpPr>
            <a:spLocks noGrp="1"/>
          </p:cNvSpPr>
          <p:nvPr/>
        </p:nvSpPr>
        <p:spPr>
          <a:xfrm>
            <a:off x="8858250" y="1924050"/>
            <a:ext cx="1809750" cy="704850"/>
          </a:xfrm>
          <a:prstGeom prst="roundRect">
            <a:avLst>
              <a:gd name="adj" fmla="val 10811"/>
            </a:avLst>
          </a:prstGeom>
          <a:solidFill>
            <a:srgbClr val="A9D6E5"/>
          </a:solidFill>
          <a:ln w="19050">
            <a:solidFill>
              <a:srgbClr val="014F86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path_prob</a:t>
            </a:r>
          </a:p>
          <a:p>
            <a:pPr algn="ctr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 x L_eff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3289EDC0-294B-4B58-97C9-A1869C660F11}"/>
              </a:ext>
            </a:extLst>
          </p:cNvPr>
          <p:cNvSpPr>
            <a:spLocks noGrp="1"/>
          </p:cNvSpPr>
          <p:nvPr/>
        </p:nvSpPr>
        <p:spPr>
          <a:xfrm>
            <a:off x="7715250" y="3143250"/>
            <a:ext cx="1809750" cy="704850"/>
          </a:xfrm>
          <a:prstGeom prst="roundRect">
            <a:avLst>
              <a:gd name="adj" fmla="val 10811"/>
            </a:avLst>
          </a:prstGeom>
          <a:solidFill>
            <a:srgbClr val="A9D6E5"/>
          </a:solidFill>
          <a:ln w="19050">
            <a:solidFill>
              <a:srgbClr val="014F86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mix_lambda</a:t>
            </a:r>
          </a:p>
          <a:p>
            <a:pPr algn="ctr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D5784150-EFA3-4B0B-8B0D-CBFAB4D8E22A}"/>
              </a:ext>
            </a:extLst>
          </p:cNvPr>
          <p:cNvSpPr>
            <a:spLocks noGrp="1"/>
          </p:cNvSpPr>
          <p:nvPr/>
        </p:nvSpPr>
        <p:spPr>
          <a:xfrm>
            <a:off x="6858000" y="4762500"/>
            <a:ext cx="3429000" cy="781050"/>
          </a:xfrm>
          <a:prstGeom prst="roundRect">
            <a:avLst>
              <a:gd name="adj" fmla="val 9756"/>
            </a:avLst>
          </a:prstGeom>
          <a:solidFill>
            <a:srgbClr val="EEF1F5"/>
          </a:solidFill>
          <a:ln w="19050">
            <a:solidFill>
              <a:srgbClr val="9AA3AF"/>
            </a:solidFill>
            <a:prstDash val="dash"/>
          </a:ln>
        </p:spPr>
        <p:txBody>
          <a:bodyPr lIns="95250" tIns="57150" rIns="95250" bIns="57150" anchor="ctr"/>
          <a:lstStyle/>
          <a:p>
            <a:pPr algn="ctr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G head / G_hat</a:t>
            </a:r>
          </a:p>
          <a:p>
            <a:pPr algn="ctr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当前展示版本不作为使用路径展开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58509A43-821D-460D-9FE1-C78A067B3BAD}"/>
              </a:ext>
            </a:extLst>
          </p:cNvPr>
          <p:cNvSpPr>
            <a:spLocks noGrp="1"/>
          </p:cNvSpPr>
          <p:nvPr/>
        </p:nvSpPr>
        <p:spPr>
          <a:xfrm>
            <a:off x="876300" y="5762625"/>
            <a:ext cx="66675" cy="66675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F8B0F8E-C77D-4BE2-964B-992762999AC6}"/>
              </a:ext>
            </a:extLst>
          </p:cNvPr>
          <p:cNvSpPr>
            <a:spLocks noGrp="1"/>
          </p:cNvSpPr>
          <p:nvPr/>
        </p:nvSpPr>
        <p:spPr>
          <a:xfrm>
            <a:off x="1047750" y="5715000"/>
            <a:ext cx="64960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pack_slope_theta 当前 forward path 未使用，模型返回 dict。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F9E2A5D6-E0D7-43D9-8A7E-BEDEBC5250CC}"/>
              </a:ext>
            </a:extLst>
          </p:cNvPr>
          <p:cNvSpPr>
            <a:spLocks noGrp="1"/>
          </p:cNvSpPr>
          <p:nvPr/>
        </p:nvSpPr>
        <p:spPr>
          <a:xfrm>
            <a:off x="876300" y="6048375"/>
            <a:ext cx="66675" cy="66675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B93BE5E-3C46-43D0-AA2C-3C58B0710012}"/>
              </a:ext>
            </a:extLst>
          </p:cNvPr>
          <p:cNvSpPr>
            <a:spLocks noGrp="1"/>
          </p:cNvSpPr>
          <p:nvPr/>
        </p:nvSpPr>
        <p:spPr>
          <a:xfrm>
            <a:off x="1047750" y="6000750"/>
            <a:ext cx="64960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本稿主线到 theta、alpha、path_prob、mix_lambda 为止。</a:t>
            </a:r>
          </a:p>
        </p:txBody>
      </p:sp>
    </p:spTree>
    <p:extLst>
      <p:ext uri="{BB962C8B-B14F-4D97-AF65-F5344CB8AC3E}">
        <p14:creationId xmlns:p14="http://schemas.microsoft.com/office/powerpoint/2010/main" val="193285462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1162</Words>
  <Application>Microsoft Office PowerPoint</Application>
  <DocSecurity>0</DocSecurity>
  <PresentationFormat>Widescreen</PresentationFormat>
  <Paragraphs>248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Microsoft YaHei</vt:lpstr>
      <vt:lpstr>Microsoft YaHei UI</vt:lpstr>
      <vt:lpstr>Aptos Mono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Yixin Zhang</cp:lastModifiedBy>
  <cp:revision>1</cp:revision>
  <dcterms:created xsi:type="dcterms:W3CDTF">2026-05-28T07:21:50Z</dcterms:created>
  <dcterms:modified xsi:type="dcterms:W3CDTF">2026-05-28T11:02:05Z</dcterms:modified>
</cp:coreProperties>
</file>