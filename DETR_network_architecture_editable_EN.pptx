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1" r:id="rId15"/>
    <p:sldId id="270" r:id="rId16"/>
    <p:sldId id="268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200" d="100"/>
          <a:sy n="200" d="100"/>
        </p:scale>
        <p:origin x="-1266" y="-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30085B9-1434-432C-AE1E-DFC2245BA4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D2A740-FBBC-4A75-AB36-171760CE39B3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7866B9-8C03-4000-9BC7-1199D995335C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DETR Network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F538ED-640C-45BD-B857-F646F7203592}"/>
              </a:ext>
            </a:extLst>
          </p:cNvPr>
          <p:cNvSpPr>
            <a:spLocks noGrp="1"/>
          </p:cNvSpPr>
          <p:nvPr/>
        </p:nvSpPr>
        <p:spPr>
          <a:xfrm>
            <a:off x="647700" y="156210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From observation tensor to path-parameter estimation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7CBAFBB-EB7F-4545-95D2-81F73B7B6F49}"/>
              </a:ext>
            </a:extLst>
          </p:cNvPr>
          <p:cNvSpPr>
            <a:spLocks noGrp="1"/>
          </p:cNvSpPr>
          <p:nvPr/>
        </p:nvSpPr>
        <p:spPr>
          <a:xfrm>
            <a:off x="371475" y="3089275"/>
            <a:ext cx="2038350" cy="895350"/>
          </a:xfrm>
          <a:prstGeom prst="roundRect">
            <a:avLst>
              <a:gd name="adj" fmla="val 8511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Input observation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120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XY_grid</a:t>
            </a:r>
            <a:r>
              <a:rPr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lang="en-US" sz="1200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</a:t>
            </a:r>
            <a:r>
              <a:rPr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en-US"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sz="120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N_rx</a:t>
            </a:r>
            <a:r>
              <a:rPr lang="en-US" sz="120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+N_tx</a:t>
            </a:r>
            <a:r>
              <a:rPr lang="en-US"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)</a:t>
            </a:r>
            <a:r>
              <a:rPr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120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</a:t>
            </a:r>
            <a:r>
              <a:rPr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120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N_obs</a:t>
            </a:r>
            <a:endParaRPr sz="1200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94C954C-E419-416C-AA7F-3DB0A245BD74}"/>
              </a:ext>
            </a:extLst>
          </p:cNvPr>
          <p:cNvSpPr>
            <a:spLocks noGrp="1"/>
          </p:cNvSpPr>
          <p:nvPr/>
        </p:nvSpPr>
        <p:spPr>
          <a:xfrm>
            <a:off x="2457450" y="3419475"/>
            <a:ext cx="6096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5D4259-D81F-4147-A5CD-6B019D741C50}"/>
              </a:ext>
            </a:extLst>
          </p:cNvPr>
          <p:cNvSpPr>
            <a:spLocks noGrp="1"/>
          </p:cNvSpPr>
          <p:nvPr/>
        </p:nvSpPr>
        <p:spPr>
          <a:xfrm>
            <a:off x="3143250" y="3048000"/>
            <a:ext cx="1524000" cy="895350"/>
          </a:xfrm>
          <a:prstGeom prst="roundRect">
            <a:avLst>
              <a:gd name="adj" fmla="val 8511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CNN stem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local features + channel projection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AD1F328-64F4-4DFD-8E77-F0B647057B3A}"/>
              </a:ext>
            </a:extLst>
          </p:cNvPr>
          <p:cNvSpPr>
            <a:spLocks noGrp="1"/>
          </p:cNvSpPr>
          <p:nvPr/>
        </p:nvSpPr>
        <p:spPr>
          <a:xfrm>
            <a:off x="4724400" y="3419475"/>
            <a:ext cx="6096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9B6CFE-B76B-4D35-A7DD-120608CF0531}"/>
              </a:ext>
            </a:extLst>
          </p:cNvPr>
          <p:cNvSpPr>
            <a:spLocks noGrp="1"/>
          </p:cNvSpPr>
          <p:nvPr/>
        </p:nvSpPr>
        <p:spPr>
          <a:xfrm>
            <a:off x="5410200" y="3048000"/>
            <a:ext cx="1524000" cy="895350"/>
          </a:xfrm>
          <a:prstGeom prst="roundRect">
            <a:avLst>
              <a:gd name="adj" fmla="val 8511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Encoder / Decoder attention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08FBAC2-2E0A-4D0C-920F-B94EFCAF0866}"/>
              </a:ext>
            </a:extLst>
          </p:cNvPr>
          <p:cNvSpPr>
            <a:spLocks noGrp="1"/>
          </p:cNvSpPr>
          <p:nvPr/>
        </p:nvSpPr>
        <p:spPr>
          <a:xfrm>
            <a:off x="6991350" y="3419475"/>
            <a:ext cx="6096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8BC653B-05A5-4A26-8B24-F93D61AF09E9}"/>
              </a:ext>
            </a:extLst>
          </p:cNvPr>
          <p:cNvSpPr>
            <a:spLocks noGrp="1"/>
          </p:cNvSpPr>
          <p:nvPr/>
        </p:nvSpPr>
        <p:spPr>
          <a:xfrm>
            <a:off x="7677150" y="3048000"/>
            <a:ext cx="1524000" cy="895350"/>
          </a:xfrm>
          <a:prstGeom prst="roundRect">
            <a:avLst>
              <a:gd name="adj" fmla="val 8511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Heads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 / obj / mu / rho / delta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544E3BE-3344-4FDD-B0BA-C66BEA949CEE}"/>
              </a:ext>
            </a:extLst>
          </p:cNvPr>
          <p:cNvSpPr>
            <a:spLocks noGrp="1"/>
          </p:cNvSpPr>
          <p:nvPr/>
        </p:nvSpPr>
        <p:spPr>
          <a:xfrm>
            <a:off x="9258300" y="3419475"/>
            <a:ext cx="6096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6C05B48-5C63-4CA9-99A0-0692D90AAA38}"/>
              </a:ext>
            </a:extLst>
          </p:cNvPr>
          <p:cNvSpPr>
            <a:spLocks noGrp="1"/>
          </p:cNvSpPr>
          <p:nvPr/>
        </p:nvSpPr>
        <p:spPr>
          <a:xfrm>
            <a:off x="9944100" y="3048000"/>
            <a:ext cx="1524000" cy="895350"/>
          </a:xfrm>
          <a:prstGeom prst="roundRect">
            <a:avLst>
              <a:gd name="adj" fmla="val 8511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Outputs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theta, alpha, path_prob, mix_lambda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01F3C5-4FD5-4127-988F-864A4419BC49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9906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Narrative: start with the shallow data flow, then expand CNN stem, attention, and the active parameter heads; G head is not part of the used path.</a:t>
            </a:r>
          </a:p>
        </p:txBody>
      </p:sp>
    </p:spTree>
    <p:extLst>
      <p:ext uri="{BB962C8B-B14F-4D97-AF65-F5344CB8AC3E}">
        <p14:creationId xmlns:p14="http://schemas.microsoft.com/office/powerpoint/2010/main" val="506432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4F6D5ED-1796-4297-A6FF-A620FF1943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4414FC-85B9-48EB-AD80-865A75204D2B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6DFBA3-4D65-46E1-BEC1-6CD69552CC59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Backbone 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072668-DCF2-433D-864D-B55964838826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Overall Shallow Data 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17A4B3-7595-48A9-A3E3-FEF56C64B467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91842D8-0E2A-4C90-86DC-D0193C2380D8}"/>
              </a:ext>
            </a:extLst>
          </p:cNvPr>
          <p:cNvSpPr>
            <a:spLocks noGrp="1"/>
          </p:cNvSpPr>
          <p:nvPr/>
        </p:nvSpPr>
        <p:spPr>
          <a:xfrm>
            <a:off x="330200" y="2571750"/>
            <a:ext cx="1403350" cy="809625"/>
          </a:xfrm>
          <a:prstGeom prst="roundRect">
            <a:avLst>
              <a:gd name="adj" fmla="val 9302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lang="en-US" altLang="zh-CN" sz="938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Y_grid</a:t>
            </a:r>
            <a:endParaRPr sz="938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pt-BR" sz="10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2(N_rx+N_tx) x N_sc x N_obs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553575AC-E192-43A7-913D-492DB4169233}"/>
              </a:ext>
            </a:extLst>
          </p:cNvPr>
          <p:cNvSpPr>
            <a:spLocks noGrp="1"/>
          </p:cNvSpPr>
          <p:nvPr/>
        </p:nvSpPr>
        <p:spPr>
          <a:xfrm>
            <a:off x="1762125" y="298132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A5A6AD-D8A0-4951-995D-FF85D5D02090}"/>
              </a:ext>
            </a:extLst>
          </p:cNvPr>
          <p:cNvSpPr>
            <a:spLocks noGrp="1"/>
          </p:cNvSpPr>
          <p:nvPr/>
        </p:nvSpPr>
        <p:spPr>
          <a:xfrm>
            <a:off x="1943100" y="2571750"/>
            <a:ext cx="1219200" cy="819150"/>
          </a:xfrm>
          <a:prstGeom prst="roundRect">
            <a:avLst>
              <a:gd name="adj" fmla="val 9302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CNN stem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</a:t>
            </a:r>
            <a:r>
              <a:rPr sz="938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r>
              <a:rPr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938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</a:t>
            </a:r>
            <a:r>
              <a:rPr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938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N_obs</a:t>
            </a:r>
            <a:endParaRPr sz="938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B76717A4-C052-4157-84A9-54B0D9645779}"/>
              </a:ext>
            </a:extLst>
          </p:cNvPr>
          <p:cNvSpPr>
            <a:spLocks noGrp="1"/>
          </p:cNvSpPr>
          <p:nvPr/>
        </p:nvSpPr>
        <p:spPr>
          <a:xfrm>
            <a:off x="3190875" y="298132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C9049E-2AF7-4F53-A4FB-13906029E951}"/>
              </a:ext>
            </a:extLst>
          </p:cNvPr>
          <p:cNvSpPr>
            <a:spLocks noGrp="1"/>
          </p:cNvSpPr>
          <p:nvPr/>
        </p:nvSpPr>
        <p:spPr>
          <a:xfrm>
            <a:off x="3371850" y="2571750"/>
            <a:ext cx="1219200" cy="819150"/>
          </a:xfrm>
          <a:prstGeom prst="roundRect">
            <a:avLst>
              <a:gd name="adj" fmla="val 9302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Token + Pos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T x d_model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65B4A226-77FB-47F3-BCA3-F4464070E5DA}"/>
              </a:ext>
            </a:extLst>
          </p:cNvPr>
          <p:cNvSpPr>
            <a:spLocks noGrp="1"/>
          </p:cNvSpPr>
          <p:nvPr/>
        </p:nvSpPr>
        <p:spPr>
          <a:xfrm>
            <a:off x="4619626" y="2981326"/>
            <a:ext cx="152400" cy="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6D77575-1FBE-45A6-91B6-FB8C6402B3D0}"/>
              </a:ext>
            </a:extLst>
          </p:cNvPr>
          <p:cNvSpPr>
            <a:spLocks noGrp="1"/>
          </p:cNvSpPr>
          <p:nvPr/>
        </p:nvSpPr>
        <p:spPr>
          <a:xfrm>
            <a:off x="4800600" y="2571750"/>
            <a:ext cx="1219200" cy="819150"/>
          </a:xfrm>
          <a:prstGeom prst="roundRect">
            <a:avLst>
              <a:gd name="adj" fmla="val 9302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Encoder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self-attn over T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0EAD1A2F-77E1-411D-A9A3-787C45D568D0}"/>
              </a:ext>
            </a:extLst>
          </p:cNvPr>
          <p:cNvSpPr>
            <a:spLocks noGrp="1"/>
          </p:cNvSpPr>
          <p:nvPr/>
        </p:nvSpPr>
        <p:spPr>
          <a:xfrm>
            <a:off x="6048375" y="2981326"/>
            <a:ext cx="161925" cy="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D5BFAC1-BCDA-4624-91AB-12C9048ACAD3}"/>
              </a:ext>
            </a:extLst>
          </p:cNvPr>
          <p:cNvSpPr>
            <a:spLocks noGrp="1"/>
          </p:cNvSpPr>
          <p:nvPr/>
        </p:nvSpPr>
        <p:spPr>
          <a:xfrm>
            <a:off x="6229350" y="2571750"/>
            <a:ext cx="1219200" cy="819150"/>
          </a:xfrm>
          <a:prstGeom prst="roundRect">
            <a:avLst>
              <a:gd name="adj" fmla="val 9302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Decoder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 queries attend memory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DA6E09CB-8EA6-47D5-87E5-0522981A99EA}"/>
              </a:ext>
            </a:extLst>
          </p:cNvPr>
          <p:cNvSpPr>
            <a:spLocks noGrp="1"/>
          </p:cNvSpPr>
          <p:nvPr/>
        </p:nvSpPr>
        <p:spPr>
          <a:xfrm>
            <a:off x="7477125" y="298132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0BA7DF6-D337-41D1-AD09-51ED1813FA96}"/>
              </a:ext>
            </a:extLst>
          </p:cNvPr>
          <p:cNvSpPr>
            <a:spLocks noGrp="1"/>
          </p:cNvSpPr>
          <p:nvPr/>
        </p:nvSpPr>
        <p:spPr>
          <a:xfrm>
            <a:off x="7658100" y="2571750"/>
            <a:ext cx="1219200" cy="819150"/>
          </a:xfrm>
          <a:prstGeom prst="roundRect">
            <a:avLst>
              <a:gd name="adj" fmla="val 9302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Heads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 / obj / mu / rho / delta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0BF76A35-2CDB-4D40-A1F2-519EEF036674}"/>
              </a:ext>
            </a:extLst>
          </p:cNvPr>
          <p:cNvSpPr>
            <a:spLocks noGrp="1"/>
          </p:cNvSpPr>
          <p:nvPr/>
        </p:nvSpPr>
        <p:spPr>
          <a:xfrm>
            <a:off x="8905875" y="298132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405F95-CC0A-4DEB-81F9-5ADB084D8095}"/>
              </a:ext>
            </a:extLst>
          </p:cNvPr>
          <p:cNvSpPr>
            <a:spLocks noGrp="1"/>
          </p:cNvSpPr>
          <p:nvPr/>
        </p:nvSpPr>
        <p:spPr>
          <a:xfrm>
            <a:off x="9086850" y="2571750"/>
            <a:ext cx="1219200" cy="819150"/>
          </a:xfrm>
          <a:prstGeom prst="roundRect">
            <a:avLst>
              <a:gd name="adj" fmla="val 9302"/>
            </a:avLst>
          </a:prstGeom>
          <a:solidFill>
            <a:srgbClr val="F6B26B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Gauge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</a:t>
            </a:r>
            <a:r>
              <a:rPr sz="938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L_eff</a:t>
            </a:r>
            <a:endParaRPr sz="938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C81BEC87-7C2D-4437-8215-74824967BC0A}"/>
              </a:ext>
            </a:extLst>
          </p:cNvPr>
          <p:cNvSpPr>
            <a:spLocks noGrp="1"/>
          </p:cNvSpPr>
          <p:nvPr/>
        </p:nvSpPr>
        <p:spPr>
          <a:xfrm>
            <a:off x="10334625" y="298132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7CA7DE2-8A41-4DCC-9D74-836027A39CEA}"/>
              </a:ext>
            </a:extLst>
          </p:cNvPr>
          <p:cNvSpPr>
            <a:spLocks noGrp="1"/>
          </p:cNvSpPr>
          <p:nvPr/>
        </p:nvSpPr>
        <p:spPr>
          <a:xfrm>
            <a:off x="10515600" y="2571750"/>
            <a:ext cx="1219200" cy="819150"/>
          </a:xfrm>
          <a:prstGeom prst="roundRect">
            <a:avLst>
              <a:gd name="adj" fmla="val 9302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Outputs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theta + scores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F464FE-7284-4FDA-9BC9-F8A72CF3BA6E}"/>
              </a:ext>
            </a:extLst>
          </p:cNvPr>
          <p:cNvSpPr>
            <a:spLocks noGrp="1"/>
          </p:cNvSpPr>
          <p:nvPr/>
        </p:nvSpPr>
        <p:spPr>
          <a:xfrm>
            <a:off x="8267700" y="4495800"/>
            <a:ext cx="2571750" cy="704850"/>
          </a:xfrm>
          <a:prstGeom prst="roundRect">
            <a:avLst>
              <a:gd name="adj" fmla="val 10811"/>
            </a:avLst>
          </a:prstGeom>
          <a:solidFill>
            <a:srgbClr val="EEF1F5"/>
          </a:solidFill>
          <a:ln w="19050">
            <a:solidFill>
              <a:srgbClr val="9AA3AF"/>
            </a:solidFill>
            <a:prstDash val="dash"/>
          </a:ln>
        </p:spPr>
        <p:txBody>
          <a:bodyPr lIns="95250" tIns="57150" rIns="95250" bIns="57150" anchor="ctr"/>
          <a:lstStyle/>
          <a:p>
            <a:pPr algn="ctr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 head / G_hat / gains_all</a:t>
            </a:r>
          </a:p>
          <a:p>
            <a:pPr algn="ctr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not used later; not expanded here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A37F4F-2A69-4A64-99C4-CF9BE7651FC1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9FF1D2-0154-4991-9C22-AD85BD741AE2}"/>
              </a:ext>
            </a:extLst>
          </p:cNvPr>
          <p:cNvSpPr>
            <a:spLocks noGrp="1"/>
          </p:cNvSpPr>
          <p:nvPr/>
        </p:nvSpPr>
        <p:spPr>
          <a:xfrm>
            <a:off x="933450" y="4762500"/>
            <a:ext cx="6115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The shallow flow only keeps the currently used path, so the unused G branch is not presented as a core output.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F92E4FF-B114-40E0-8A35-98A0B0250769}"/>
              </a:ext>
            </a:extLst>
          </p:cNvPr>
          <p:cNvSpPr>
            <a:spLocks noGrp="1"/>
          </p:cNvSpPr>
          <p:nvPr/>
        </p:nvSpPr>
        <p:spPr>
          <a:xfrm>
            <a:off x="762000" y="517207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2D5A1A-A75D-4F50-BA5C-B326D9EAB5BB}"/>
              </a:ext>
            </a:extLst>
          </p:cNvPr>
          <p:cNvSpPr>
            <a:spLocks noGrp="1"/>
          </p:cNvSpPr>
          <p:nvPr/>
        </p:nvSpPr>
        <p:spPr>
          <a:xfrm>
            <a:off x="933450" y="5124450"/>
            <a:ext cx="6115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Key tensor dimensions move from a grid representation into tokens, then back to L_eff path parameters.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09C5E2-D22D-49A7-8BE2-8784CF39799C}"/>
              </a:ext>
            </a:extLst>
          </p:cNvPr>
          <p:cNvSpPr txBox="1"/>
          <p:nvPr/>
        </p:nvSpPr>
        <p:spPr>
          <a:xfrm>
            <a:off x="1356672" y="3416300"/>
            <a:ext cx="9728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[B, 16, 48, 2]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275579-03F2-BB7F-8244-19E8B760852A}"/>
              </a:ext>
            </a:extLst>
          </p:cNvPr>
          <p:cNvSpPr txBox="1"/>
          <p:nvPr/>
        </p:nvSpPr>
        <p:spPr>
          <a:xfrm>
            <a:off x="2799047" y="3422650"/>
            <a:ext cx="9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[B,128,48,2]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BBF8D1-6312-FC8F-36AB-183636CC5233}"/>
              </a:ext>
            </a:extLst>
          </p:cNvPr>
          <p:cNvSpPr txBox="1"/>
          <p:nvPr/>
        </p:nvSpPr>
        <p:spPr>
          <a:xfrm>
            <a:off x="4286307" y="3422650"/>
            <a:ext cx="8285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[B,96,128]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AAB907-170D-26CD-E135-CAF74F0D1498}"/>
              </a:ext>
            </a:extLst>
          </p:cNvPr>
          <p:cNvSpPr txBox="1"/>
          <p:nvPr/>
        </p:nvSpPr>
        <p:spPr>
          <a:xfrm>
            <a:off x="5715057" y="3467101"/>
            <a:ext cx="8285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[B,96,128]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84EA0C-38CC-FC5F-B9A8-FF80E5FF26EF}"/>
              </a:ext>
            </a:extLst>
          </p:cNvPr>
          <p:cNvSpPr txBox="1"/>
          <p:nvPr/>
        </p:nvSpPr>
        <p:spPr>
          <a:xfrm>
            <a:off x="7183080" y="3442900"/>
            <a:ext cx="7500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[B,8,128]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EBE98E4-A9B7-8DEA-BB3B-38CC3D52C727}"/>
              </a:ext>
            </a:extLst>
          </p:cNvPr>
          <p:cNvSpPr>
            <a:spLocks noGrp="1"/>
          </p:cNvSpPr>
          <p:nvPr/>
        </p:nvSpPr>
        <p:spPr>
          <a:xfrm>
            <a:off x="6129337" y="1558325"/>
            <a:ext cx="1444625" cy="690950"/>
          </a:xfrm>
          <a:prstGeom prst="roundRect">
            <a:avLst>
              <a:gd name="adj" fmla="val 9302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Queries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Random </a:t>
            </a:r>
            <a:r>
              <a:rPr lang="en-US" sz="938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init</a:t>
            </a:r>
            <a:endParaRPr lang="en-US" sz="938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</a:t>
            </a:r>
            <a:r>
              <a:rPr lang="en-US" sz="938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Leff</a:t>
            </a:r>
            <a:r>
              <a:rPr lang="en-US"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lang="en-US" sz="938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endParaRPr sz="938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BDC7514C-C789-3AA5-C137-89427D9E1F76}"/>
              </a:ext>
            </a:extLst>
          </p:cNvPr>
          <p:cNvSpPr>
            <a:spLocks noGrp="1"/>
          </p:cNvSpPr>
          <p:nvPr/>
        </p:nvSpPr>
        <p:spPr>
          <a:xfrm flipH="1">
            <a:off x="6838950" y="2306425"/>
            <a:ext cx="6350" cy="223451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12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CBB2EEB1-5A54-4AFB-9522-4DAA755F36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5BB0E5-AF54-4BBB-B72C-41AC4A31A202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3BC30A-C1A0-43D5-B60B-12035E011C77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Symbols and conservative physical labels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9F0033-E7CE-4B61-9554-BFCF25A2DD5E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Input and Configuration Parameters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649A6C-21E4-4FDC-B7CB-EC6037A6E7D7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F17B3D-B1E4-4B16-A294-22A5D6F9983A}"/>
              </a:ext>
            </a:extLst>
          </p:cNvPr>
          <p:cNvSpPr>
            <a:spLocks noGrp="1"/>
          </p:cNvSpPr>
          <p:nvPr/>
        </p:nvSpPr>
        <p:spPr>
          <a:xfrm>
            <a:off x="723900" y="1924050"/>
            <a:ext cx="3860800" cy="1047750"/>
          </a:xfrm>
          <a:prstGeom prst="roundRect">
            <a:avLst>
              <a:gd name="adj" fmla="val 6780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Input x</a:t>
            </a:r>
          </a:p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</a:t>
            </a:r>
            <a:r>
              <a:rPr lang="en-US" sz="165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sz="165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N_rx</a:t>
            </a:r>
            <a:r>
              <a:rPr lang="en-US" sz="165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+N_tx</a:t>
            </a:r>
            <a:r>
              <a:rPr lang="en-US" sz="165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)</a:t>
            </a:r>
            <a:r>
              <a:rPr sz="165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165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</a:t>
            </a:r>
            <a:r>
              <a:rPr sz="165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165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N_obs</a:t>
            </a:r>
            <a:endParaRPr sz="1650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F42DCD-727F-44F2-B2E1-4C045E41F20B}"/>
              </a:ext>
            </a:extLst>
          </p:cNvPr>
          <p:cNvSpPr>
            <a:spLocks noGrp="1"/>
          </p:cNvSpPr>
          <p:nvPr/>
        </p:nvSpPr>
        <p:spPr>
          <a:xfrm>
            <a:off x="781050" y="34766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0D256D-E1E9-479C-B821-E044AEE826BB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3352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B: batch size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00918D-AC0B-4802-9BA5-E0784416FF02}"/>
              </a:ext>
            </a:extLst>
          </p:cNvPr>
          <p:cNvSpPr>
            <a:spLocks noGrp="1"/>
          </p:cNvSpPr>
          <p:nvPr/>
        </p:nvSpPr>
        <p:spPr>
          <a:xfrm>
            <a:off x="781050" y="39338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7CB63E-6EC8-40BF-9161-BAED9E5B64DD}"/>
              </a:ext>
            </a:extLst>
          </p:cNvPr>
          <p:cNvSpPr>
            <a:spLocks noGrp="1"/>
          </p:cNvSpPr>
          <p:nvPr/>
        </p:nvSpPr>
        <p:spPr>
          <a:xfrm>
            <a:off x="952500" y="3886200"/>
            <a:ext cx="3352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2N_rx: complex observations split into real/</a:t>
            </a:r>
            <a:r>
              <a:rPr sz="1013" b="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imag</a:t>
            </a:r>
            <a:r>
              <a:rPr sz="1013" b="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 channels for each receiver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434A4BB-A239-477A-8B46-4E03F019A295}"/>
              </a:ext>
            </a:extLst>
          </p:cNvPr>
          <p:cNvSpPr>
            <a:spLocks noGrp="1"/>
          </p:cNvSpPr>
          <p:nvPr/>
        </p:nvSpPr>
        <p:spPr>
          <a:xfrm>
            <a:off x="781050" y="43910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EEEC47-7B49-455A-A98F-D7741CD104F9}"/>
              </a:ext>
            </a:extLst>
          </p:cNvPr>
          <p:cNvSpPr>
            <a:spLocks noGrp="1"/>
          </p:cNvSpPr>
          <p:nvPr/>
        </p:nvSpPr>
        <p:spPr>
          <a:xfrm>
            <a:off x="952500" y="4343400"/>
            <a:ext cx="3352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N_sc x N_obs: two-dimensional subcarrier/observed-symbol grid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12DA089-5356-453D-86E1-26AA491E3756}"/>
              </a:ext>
            </a:extLst>
          </p:cNvPr>
          <p:cNvSpPr>
            <a:spLocks noGrp="1"/>
          </p:cNvSpPr>
          <p:nvPr/>
        </p:nvSpPr>
        <p:spPr>
          <a:xfrm>
            <a:off x="781050" y="48482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E0702A-820C-4C82-8B99-4A67632AA26E}"/>
              </a:ext>
            </a:extLst>
          </p:cNvPr>
          <p:cNvSpPr>
            <a:spLocks noGrp="1"/>
          </p:cNvSpPr>
          <p:nvPr/>
        </p:nvSpPr>
        <p:spPr>
          <a:xfrm>
            <a:off x="952500" y="4800600"/>
            <a:ext cx="3352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shape check raises ValueError on mismatch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7DAF2C-47B9-42C4-9D0B-73E289D69386}"/>
              </a:ext>
            </a:extLst>
          </p:cNvPr>
          <p:cNvSpPr>
            <a:spLocks noGrp="1"/>
          </p:cNvSpPr>
          <p:nvPr/>
        </p:nvSpPr>
        <p:spPr>
          <a:xfrm>
            <a:off x="4857750" y="1600200"/>
            <a:ext cx="1131570" cy="43815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106ABE-BB4F-4186-9F64-27865AFA8D12}"/>
              </a:ext>
            </a:extLst>
          </p:cNvPr>
          <p:cNvSpPr>
            <a:spLocks noGrp="1"/>
          </p:cNvSpPr>
          <p:nvPr/>
        </p:nvSpPr>
        <p:spPr>
          <a:xfrm>
            <a:off x="4933950" y="164782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Symbol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9D6C1C-18C0-4C22-92DB-A3FBFF5211DD}"/>
              </a:ext>
            </a:extLst>
          </p:cNvPr>
          <p:cNvSpPr>
            <a:spLocks noGrp="1"/>
          </p:cNvSpPr>
          <p:nvPr/>
        </p:nvSpPr>
        <p:spPr>
          <a:xfrm>
            <a:off x="5989320" y="1600200"/>
            <a:ext cx="2640330" cy="43815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BFD406-BEAB-4D3B-BEC2-9EC27333DBFE}"/>
              </a:ext>
            </a:extLst>
          </p:cNvPr>
          <p:cNvSpPr>
            <a:spLocks noGrp="1"/>
          </p:cNvSpPr>
          <p:nvPr/>
        </p:nvSpPr>
        <p:spPr>
          <a:xfrm>
            <a:off x="6065520" y="164782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Meaning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117CDE-3BA4-461E-BDA3-6AE2503749EC}"/>
              </a:ext>
            </a:extLst>
          </p:cNvPr>
          <p:cNvSpPr>
            <a:spLocks noGrp="1"/>
          </p:cNvSpPr>
          <p:nvPr/>
        </p:nvSpPr>
        <p:spPr>
          <a:xfrm>
            <a:off x="8629650" y="1600200"/>
            <a:ext cx="2514600" cy="43815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EC5960-DEA1-49F9-8206-3002158ED54B}"/>
              </a:ext>
            </a:extLst>
          </p:cNvPr>
          <p:cNvSpPr>
            <a:spLocks noGrp="1"/>
          </p:cNvSpPr>
          <p:nvPr/>
        </p:nvSpPr>
        <p:spPr>
          <a:xfrm>
            <a:off x="8705850" y="164782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Dimensional role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BC57F3-148D-4936-A9A0-43689B5A16C2}"/>
              </a:ext>
            </a:extLst>
          </p:cNvPr>
          <p:cNvSpPr>
            <a:spLocks noGrp="1"/>
          </p:cNvSpPr>
          <p:nvPr/>
        </p:nvSpPr>
        <p:spPr>
          <a:xfrm>
            <a:off x="4857750" y="2038350"/>
            <a:ext cx="113157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7573BE-427B-4E87-A2AD-277804A45E32}"/>
              </a:ext>
            </a:extLst>
          </p:cNvPr>
          <p:cNvSpPr>
            <a:spLocks noGrp="1"/>
          </p:cNvSpPr>
          <p:nvPr/>
        </p:nvSpPr>
        <p:spPr>
          <a:xfrm>
            <a:off x="4933950" y="208597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N_rx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56B2A9-8F2F-4581-A4EE-707A7C8C1F02}"/>
              </a:ext>
            </a:extLst>
          </p:cNvPr>
          <p:cNvSpPr>
            <a:spLocks noGrp="1"/>
          </p:cNvSpPr>
          <p:nvPr/>
        </p:nvSpPr>
        <p:spPr>
          <a:xfrm>
            <a:off x="5989320" y="2038350"/>
            <a:ext cx="264033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C1A8BA-B464-4EF7-8D18-65BAC6324A78}"/>
              </a:ext>
            </a:extLst>
          </p:cNvPr>
          <p:cNvSpPr>
            <a:spLocks noGrp="1"/>
          </p:cNvSpPr>
          <p:nvPr/>
        </p:nvSpPr>
        <p:spPr>
          <a:xfrm>
            <a:off x="6065520" y="208597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number of receivers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041EEE-27FD-4F5B-A2DD-C015C9B8922A}"/>
              </a:ext>
            </a:extLst>
          </p:cNvPr>
          <p:cNvSpPr>
            <a:spLocks noGrp="1"/>
          </p:cNvSpPr>
          <p:nvPr/>
        </p:nvSpPr>
        <p:spPr>
          <a:xfrm>
            <a:off x="8629650" y="2038350"/>
            <a:ext cx="25146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CBC886-2005-4924-9966-211044E76E57}"/>
              </a:ext>
            </a:extLst>
          </p:cNvPr>
          <p:cNvSpPr>
            <a:spLocks noGrp="1"/>
          </p:cNvSpPr>
          <p:nvPr/>
        </p:nvSpPr>
        <p:spPr>
          <a:xfrm>
            <a:off x="8705850" y="208597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input channels and delta_rx output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26860A-0C51-4E3E-895C-0F62D6634AC1}"/>
              </a:ext>
            </a:extLst>
          </p:cNvPr>
          <p:cNvSpPr>
            <a:spLocks noGrp="1"/>
          </p:cNvSpPr>
          <p:nvPr/>
        </p:nvSpPr>
        <p:spPr>
          <a:xfrm>
            <a:off x="4857750" y="2476500"/>
            <a:ext cx="113157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BD78CE-6CDE-49DE-969B-98A60AB51D74}"/>
              </a:ext>
            </a:extLst>
          </p:cNvPr>
          <p:cNvSpPr>
            <a:spLocks noGrp="1"/>
          </p:cNvSpPr>
          <p:nvPr/>
        </p:nvSpPr>
        <p:spPr>
          <a:xfrm>
            <a:off x="4933950" y="252412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N_tx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630454-A30B-4797-8D0C-754628F6C06E}"/>
              </a:ext>
            </a:extLst>
          </p:cNvPr>
          <p:cNvSpPr>
            <a:spLocks noGrp="1"/>
          </p:cNvSpPr>
          <p:nvPr/>
        </p:nvSpPr>
        <p:spPr>
          <a:xfrm>
            <a:off x="5989320" y="2476500"/>
            <a:ext cx="264033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340073-8093-4B2F-BB3F-04CA195AB643}"/>
              </a:ext>
            </a:extLst>
          </p:cNvPr>
          <p:cNvSpPr>
            <a:spLocks noGrp="1"/>
          </p:cNvSpPr>
          <p:nvPr/>
        </p:nvSpPr>
        <p:spPr>
          <a:xfrm>
            <a:off x="6065520" y="252412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number of transmitters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9B007B-51CE-4F63-817F-F0B9A36BD06A}"/>
              </a:ext>
            </a:extLst>
          </p:cNvPr>
          <p:cNvSpPr>
            <a:spLocks noGrp="1"/>
          </p:cNvSpPr>
          <p:nvPr/>
        </p:nvSpPr>
        <p:spPr>
          <a:xfrm>
            <a:off x="8629650" y="2476500"/>
            <a:ext cx="251460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55E90A-728A-48BD-89C5-84FC9C6859F6}"/>
              </a:ext>
            </a:extLst>
          </p:cNvPr>
          <p:cNvSpPr>
            <a:spLocks noGrp="1"/>
          </p:cNvSpPr>
          <p:nvPr/>
        </p:nvSpPr>
        <p:spPr>
          <a:xfrm>
            <a:off x="8705850" y="252412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kept as a config symbol; G branch is not expanded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4E70F5-4AAD-4F6A-9899-6263F4CDB730}"/>
              </a:ext>
            </a:extLst>
          </p:cNvPr>
          <p:cNvSpPr>
            <a:spLocks noGrp="1"/>
          </p:cNvSpPr>
          <p:nvPr/>
        </p:nvSpPr>
        <p:spPr>
          <a:xfrm>
            <a:off x="4857750" y="2914650"/>
            <a:ext cx="113157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ABE036-EE95-4C36-94FB-DCC7EBB47FD4}"/>
              </a:ext>
            </a:extLst>
          </p:cNvPr>
          <p:cNvSpPr>
            <a:spLocks noGrp="1"/>
          </p:cNvSpPr>
          <p:nvPr/>
        </p:nvSpPr>
        <p:spPr>
          <a:xfrm>
            <a:off x="4933950" y="296227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N_sc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75A4F94-E4AE-4859-8FDD-57BEEE3389E7}"/>
              </a:ext>
            </a:extLst>
          </p:cNvPr>
          <p:cNvSpPr>
            <a:spLocks noGrp="1"/>
          </p:cNvSpPr>
          <p:nvPr/>
        </p:nvSpPr>
        <p:spPr>
          <a:xfrm>
            <a:off x="5989320" y="2914650"/>
            <a:ext cx="264033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86A2078-A54E-4AA5-96A8-DA4DAE1D5C82}"/>
              </a:ext>
            </a:extLst>
          </p:cNvPr>
          <p:cNvSpPr>
            <a:spLocks noGrp="1"/>
          </p:cNvSpPr>
          <p:nvPr/>
        </p:nvSpPr>
        <p:spPr>
          <a:xfrm>
            <a:off x="6065520" y="296227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number of subcarriers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1584E8-FA8F-4F48-891C-C219FFBBA41E}"/>
              </a:ext>
            </a:extLst>
          </p:cNvPr>
          <p:cNvSpPr>
            <a:spLocks noGrp="1"/>
          </p:cNvSpPr>
          <p:nvPr/>
        </p:nvSpPr>
        <p:spPr>
          <a:xfrm>
            <a:off x="8629650" y="2914650"/>
            <a:ext cx="25146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DE683F-0457-41E5-8D2B-1475064518CE}"/>
              </a:ext>
            </a:extLst>
          </p:cNvPr>
          <p:cNvSpPr>
            <a:spLocks noGrp="1"/>
          </p:cNvSpPr>
          <p:nvPr/>
        </p:nvSpPr>
        <p:spPr>
          <a:xfrm>
            <a:off x="8705850" y="296227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grid height / pos_k length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F9A34E7-F457-46A5-B8F0-75572DC69356}"/>
              </a:ext>
            </a:extLst>
          </p:cNvPr>
          <p:cNvSpPr>
            <a:spLocks noGrp="1"/>
          </p:cNvSpPr>
          <p:nvPr/>
        </p:nvSpPr>
        <p:spPr>
          <a:xfrm>
            <a:off x="4857750" y="3352800"/>
            <a:ext cx="113157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2942B7E-6159-47C0-8A43-4608242AA835}"/>
              </a:ext>
            </a:extLst>
          </p:cNvPr>
          <p:cNvSpPr>
            <a:spLocks noGrp="1"/>
          </p:cNvSpPr>
          <p:nvPr/>
        </p:nvSpPr>
        <p:spPr>
          <a:xfrm>
            <a:off x="4933950" y="340042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N_obs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9DDA596-BA35-4701-8921-ADE44BD0DDA8}"/>
              </a:ext>
            </a:extLst>
          </p:cNvPr>
          <p:cNvSpPr>
            <a:spLocks noGrp="1"/>
          </p:cNvSpPr>
          <p:nvPr/>
        </p:nvSpPr>
        <p:spPr>
          <a:xfrm>
            <a:off x="5989320" y="3352800"/>
            <a:ext cx="264033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2B4C6C8-34D9-4731-8FA5-8E910E986273}"/>
              </a:ext>
            </a:extLst>
          </p:cNvPr>
          <p:cNvSpPr>
            <a:spLocks noGrp="1"/>
          </p:cNvSpPr>
          <p:nvPr/>
        </p:nvSpPr>
        <p:spPr>
          <a:xfrm>
            <a:off x="6065520" y="340042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length of observedSymbols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512D489-B94C-4BB7-8D07-CA5D8C026316}"/>
              </a:ext>
            </a:extLst>
          </p:cNvPr>
          <p:cNvSpPr>
            <a:spLocks noGrp="1"/>
          </p:cNvSpPr>
          <p:nvPr/>
        </p:nvSpPr>
        <p:spPr>
          <a:xfrm>
            <a:off x="8629650" y="3352800"/>
            <a:ext cx="251460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E74239A-5C8D-48DF-91A5-2988D6BD563F}"/>
              </a:ext>
            </a:extLst>
          </p:cNvPr>
          <p:cNvSpPr>
            <a:spLocks noGrp="1"/>
          </p:cNvSpPr>
          <p:nvPr/>
        </p:nvSpPr>
        <p:spPr>
          <a:xfrm>
            <a:off x="8705850" y="340042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grid width / pos_n length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775764-4C8A-4709-B4A7-63A50BF95033}"/>
              </a:ext>
            </a:extLst>
          </p:cNvPr>
          <p:cNvSpPr>
            <a:spLocks noGrp="1"/>
          </p:cNvSpPr>
          <p:nvPr/>
        </p:nvSpPr>
        <p:spPr>
          <a:xfrm>
            <a:off x="4857750" y="3790950"/>
            <a:ext cx="113157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CE3AF5F-4E31-46BD-AA8D-2A0F6D1B10DF}"/>
              </a:ext>
            </a:extLst>
          </p:cNvPr>
          <p:cNvSpPr>
            <a:spLocks noGrp="1"/>
          </p:cNvSpPr>
          <p:nvPr/>
        </p:nvSpPr>
        <p:spPr>
          <a:xfrm>
            <a:off x="4933950" y="383857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L_eff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DA574D5-3B8E-440D-8081-C836918A8444}"/>
              </a:ext>
            </a:extLst>
          </p:cNvPr>
          <p:cNvSpPr>
            <a:spLocks noGrp="1"/>
          </p:cNvSpPr>
          <p:nvPr/>
        </p:nvSpPr>
        <p:spPr>
          <a:xfrm>
            <a:off x="5989320" y="3790950"/>
            <a:ext cx="264033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AC752D-3E34-41D5-A516-99440E7E08AC}"/>
              </a:ext>
            </a:extLst>
          </p:cNvPr>
          <p:cNvSpPr>
            <a:spLocks noGrp="1"/>
          </p:cNvSpPr>
          <p:nvPr/>
        </p:nvSpPr>
        <p:spPr>
          <a:xfrm>
            <a:off x="6065520" y="383857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number of effective paths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6C47C8B-6089-4BBC-8A92-525C93217382}"/>
              </a:ext>
            </a:extLst>
          </p:cNvPr>
          <p:cNvSpPr>
            <a:spLocks noGrp="1"/>
          </p:cNvSpPr>
          <p:nvPr/>
        </p:nvSpPr>
        <p:spPr>
          <a:xfrm>
            <a:off x="8629650" y="3790950"/>
            <a:ext cx="25146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79F422-1D25-4EFF-A7FD-4F5773C8B6EB}"/>
              </a:ext>
            </a:extLst>
          </p:cNvPr>
          <p:cNvSpPr>
            <a:spLocks noGrp="1"/>
          </p:cNvSpPr>
          <p:nvPr/>
        </p:nvSpPr>
        <p:spPr>
          <a:xfrm>
            <a:off x="8705850" y="383857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top-k output path count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E3FDC20-7F72-42E5-B7E2-5C3A25477473}"/>
              </a:ext>
            </a:extLst>
          </p:cNvPr>
          <p:cNvSpPr>
            <a:spLocks noGrp="1"/>
          </p:cNvSpPr>
          <p:nvPr/>
        </p:nvSpPr>
        <p:spPr>
          <a:xfrm>
            <a:off x="4857750" y="4229100"/>
            <a:ext cx="113157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2736593-41C0-44B6-B355-F07ECAA4DAA0}"/>
              </a:ext>
            </a:extLst>
          </p:cNvPr>
          <p:cNvSpPr>
            <a:spLocks noGrp="1"/>
          </p:cNvSpPr>
          <p:nvPr/>
        </p:nvSpPr>
        <p:spPr>
          <a:xfrm>
            <a:off x="4933950" y="427672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d_model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5F5BCDC-BC8F-425E-A8E8-099557A22A0D}"/>
              </a:ext>
            </a:extLst>
          </p:cNvPr>
          <p:cNvSpPr>
            <a:spLocks noGrp="1"/>
          </p:cNvSpPr>
          <p:nvPr/>
        </p:nvSpPr>
        <p:spPr>
          <a:xfrm>
            <a:off x="5989320" y="4229100"/>
            <a:ext cx="264033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243AF6C-E572-4711-AE61-C96585F68D40}"/>
              </a:ext>
            </a:extLst>
          </p:cNvPr>
          <p:cNvSpPr>
            <a:spLocks noGrp="1"/>
          </p:cNvSpPr>
          <p:nvPr/>
        </p:nvSpPr>
        <p:spPr>
          <a:xfrm>
            <a:off x="6065520" y="427672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Transformer hidden size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913EE52-A1EA-4F12-92AE-E9987C96C175}"/>
              </a:ext>
            </a:extLst>
          </p:cNvPr>
          <p:cNvSpPr>
            <a:spLocks noGrp="1"/>
          </p:cNvSpPr>
          <p:nvPr/>
        </p:nvSpPr>
        <p:spPr>
          <a:xfrm>
            <a:off x="8629650" y="4229100"/>
            <a:ext cx="251460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700E3D9-02CE-417F-A1FE-744FB7445D1B}"/>
              </a:ext>
            </a:extLst>
          </p:cNvPr>
          <p:cNvSpPr>
            <a:spLocks noGrp="1"/>
          </p:cNvSpPr>
          <p:nvPr/>
        </p:nvSpPr>
        <p:spPr>
          <a:xfrm>
            <a:off x="8705850" y="427672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CNN stem output channels and token width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E616907-D94C-4BFE-AED6-6209371FE5D7}"/>
              </a:ext>
            </a:extLst>
          </p:cNvPr>
          <p:cNvSpPr>
            <a:spLocks noGrp="1"/>
          </p:cNvSpPr>
          <p:nvPr/>
        </p:nvSpPr>
        <p:spPr>
          <a:xfrm>
            <a:off x="4857750" y="4667250"/>
            <a:ext cx="113157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F487EA6-C5DE-4A85-9B77-F67A1C51DDAD}"/>
              </a:ext>
            </a:extLst>
          </p:cNvPr>
          <p:cNvSpPr>
            <a:spLocks noGrp="1"/>
          </p:cNvSpPr>
          <p:nvPr/>
        </p:nvSpPr>
        <p:spPr>
          <a:xfrm>
            <a:off x="4933950" y="471487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q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D59F5BB-4721-4C9C-9936-8D7FBAA8194B}"/>
              </a:ext>
            </a:extLst>
          </p:cNvPr>
          <p:cNvSpPr>
            <a:spLocks noGrp="1"/>
          </p:cNvSpPr>
          <p:nvPr/>
        </p:nvSpPr>
        <p:spPr>
          <a:xfrm>
            <a:off x="5989320" y="4667250"/>
            <a:ext cx="264033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DB83089-6D2C-4A6C-8AC0-4E9CF2F73D95}"/>
              </a:ext>
            </a:extLst>
          </p:cNvPr>
          <p:cNvSpPr>
            <a:spLocks noGrp="1"/>
          </p:cNvSpPr>
          <p:nvPr/>
        </p:nvSpPr>
        <p:spPr>
          <a:xfrm>
            <a:off x="6065520" y="471487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number of DETR queries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674B1CC-472C-4D1C-8806-06A83C3FB74F}"/>
              </a:ext>
            </a:extLst>
          </p:cNvPr>
          <p:cNvSpPr>
            <a:spLocks noGrp="1"/>
          </p:cNvSpPr>
          <p:nvPr/>
        </p:nvSpPr>
        <p:spPr>
          <a:xfrm>
            <a:off x="8629650" y="4667250"/>
            <a:ext cx="25146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C658DB7-ADC0-48F7-A606-6413304DBD8D}"/>
              </a:ext>
            </a:extLst>
          </p:cNvPr>
          <p:cNvSpPr>
            <a:spLocks noGrp="1"/>
          </p:cNvSpPr>
          <p:nvPr/>
        </p:nvSpPr>
        <p:spPr>
          <a:xfrm>
            <a:off x="8705850" y="471487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max(L_eff, detrNumQueries)</a:t>
            </a:r>
          </a:p>
        </p:txBody>
      </p:sp>
    </p:spTree>
    <p:extLst>
      <p:ext uri="{BB962C8B-B14F-4D97-AF65-F5344CB8AC3E}">
        <p14:creationId xmlns:p14="http://schemas.microsoft.com/office/powerpoint/2010/main" val="1340168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09A3F52D-0C97-415C-8CCA-91BB58147F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1764A7-A87E-42F8-8AC9-C74270CBAA24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8F0ACF-0840-4FA3-99EA-2BFB5BF57888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From 2D observation grid to token sequence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A481CF-EDA3-4E85-A29A-4BEC3382736E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Tensor Layout and Tokenization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BAB751-1C1E-4D73-B2FE-975C40C43F93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C648BE-78CF-42F6-953F-BCF1902BCED5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fmap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d_model x N_sc x N_obs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A73528-EAC2-4394-B873-7B3D888286D4}"/>
              </a:ext>
            </a:extLst>
          </p:cNvPr>
          <p:cNvSpPr>
            <a:spLocks noGrp="1"/>
          </p:cNvSpPr>
          <p:nvPr/>
        </p:nvSpPr>
        <p:spPr>
          <a:xfrm>
            <a:off x="4000500" y="1885950"/>
            <a:ext cx="2476500" cy="857250"/>
          </a:xfrm>
          <a:prstGeom prst="roundRect">
            <a:avLst>
              <a:gd name="adj" fmla="val 888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permute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N_sc x N_obs x d_model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6B5955-B823-4141-91AA-9F64B519ECD5}"/>
              </a:ext>
            </a:extLst>
          </p:cNvPr>
          <p:cNvSpPr>
            <a:spLocks noGrp="1"/>
          </p:cNvSpPr>
          <p:nvPr/>
        </p:nvSpPr>
        <p:spPr>
          <a:xfrm>
            <a:off x="7258050" y="1809750"/>
            <a:ext cx="2857500" cy="1009650"/>
          </a:xfrm>
          <a:prstGeom prst="roundRect">
            <a:avLst>
              <a:gd name="adj" fmla="val 7547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reshape to tokens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 = N_sc x N_obs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fseq: B x T x d_model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4E8192D-CB66-4199-91DD-7C99917CBB56}"/>
              </a:ext>
            </a:extLst>
          </p:cNvPr>
          <p:cNvSpPr>
            <a:spLocks noGrp="1"/>
          </p:cNvSpPr>
          <p:nvPr/>
        </p:nvSpPr>
        <p:spPr>
          <a:xfrm>
            <a:off x="3257550" y="2238375"/>
            <a:ext cx="6858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E0F354F-7FEB-4539-8225-4C90BCDF7CA6}"/>
              </a:ext>
            </a:extLst>
          </p:cNvPr>
          <p:cNvSpPr>
            <a:spLocks noGrp="1"/>
          </p:cNvSpPr>
          <p:nvPr/>
        </p:nvSpPr>
        <p:spPr>
          <a:xfrm>
            <a:off x="6515100" y="2238375"/>
            <a:ext cx="6858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A8FC34-C6D2-4797-8223-452DFE8FF963}"/>
              </a:ext>
            </a:extLst>
          </p:cNvPr>
          <p:cNvSpPr>
            <a:spLocks noGrp="1"/>
          </p:cNvSpPr>
          <p:nvPr/>
        </p:nvSpPr>
        <p:spPr>
          <a:xfrm>
            <a:off x="127635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8D6D89-4C3B-4E48-8369-886802606C8D}"/>
              </a:ext>
            </a:extLst>
          </p:cNvPr>
          <p:cNvSpPr>
            <a:spLocks noGrp="1"/>
          </p:cNvSpPr>
          <p:nvPr/>
        </p:nvSpPr>
        <p:spPr>
          <a:xfrm>
            <a:off x="156210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E07B9-DE68-4B98-A538-1364D62D668F}"/>
              </a:ext>
            </a:extLst>
          </p:cNvPr>
          <p:cNvSpPr>
            <a:spLocks noGrp="1"/>
          </p:cNvSpPr>
          <p:nvPr/>
        </p:nvSpPr>
        <p:spPr>
          <a:xfrm>
            <a:off x="184785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7CA181-8311-48D1-B107-E81ACAB8DA19}"/>
              </a:ext>
            </a:extLst>
          </p:cNvPr>
          <p:cNvSpPr>
            <a:spLocks noGrp="1"/>
          </p:cNvSpPr>
          <p:nvPr/>
        </p:nvSpPr>
        <p:spPr>
          <a:xfrm>
            <a:off x="213360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0696AC-AE1A-4736-BDA6-47ACC1D28962}"/>
              </a:ext>
            </a:extLst>
          </p:cNvPr>
          <p:cNvSpPr>
            <a:spLocks noGrp="1"/>
          </p:cNvSpPr>
          <p:nvPr/>
        </p:nvSpPr>
        <p:spPr>
          <a:xfrm>
            <a:off x="241935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61090A-4AB7-4BC0-98DA-E1D18B83BC9C}"/>
              </a:ext>
            </a:extLst>
          </p:cNvPr>
          <p:cNvSpPr>
            <a:spLocks noGrp="1"/>
          </p:cNvSpPr>
          <p:nvPr/>
        </p:nvSpPr>
        <p:spPr>
          <a:xfrm>
            <a:off x="270510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81C1A7-EA5F-4B8C-BBF2-26E05D1CDB76}"/>
              </a:ext>
            </a:extLst>
          </p:cNvPr>
          <p:cNvSpPr>
            <a:spLocks noGrp="1"/>
          </p:cNvSpPr>
          <p:nvPr/>
        </p:nvSpPr>
        <p:spPr>
          <a:xfrm>
            <a:off x="127635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6C588A-0E2F-44C6-AE18-10F8178A4F0E}"/>
              </a:ext>
            </a:extLst>
          </p:cNvPr>
          <p:cNvSpPr>
            <a:spLocks noGrp="1"/>
          </p:cNvSpPr>
          <p:nvPr/>
        </p:nvSpPr>
        <p:spPr>
          <a:xfrm>
            <a:off x="156210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01D8E8-2D49-4DCD-B554-C2AC6B290DE2}"/>
              </a:ext>
            </a:extLst>
          </p:cNvPr>
          <p:cNvSpPr>
            <a:spLocks noGrp="1"/>
          </p:cNvSpPr>
          <p:nvPr/>
        </p:nvSpPr>
        <p:spPr>
          <a:xfrm>
            <a:off x="184785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9CF22B-7EA5-4A24-AD7A-83BDFCDDC215}"/>
              </a:ext>
            </a:extLst>
          </p:cNvPr>
          <p:cNvSpPr>
            <a:spLocks noGrp="1"/>
          </p:cNvSpPr>
          <p:nvPr/>
        </p:nvSpPr>
        <p:spPr>
          <a:xfrm>
            <a:off x="213360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A3653E-CDC4-4D28-9445-00F7B4FBDB6D}"/>
              </a:ext>
            </a:extLst>
          </p:cNvPr>
          <p:cNvSpPr>
            <a:spLocks noGrp="1"/>
          </p:cNvSpPr>
          <p:nvPr/>
        </p:nvSpPr>
        <p:spPr>
          <a:xfrm>
            <a:off x="241935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DADE51-A890-4B59-90C8-B1F05092BDCD}"/>
              </a:ext>
            </a:extLst>
          </p:cNvPr>
          <p:cNvSpPr>
            <a:spLocks noGrp="1"/>
          </p:cNvSpPr>
          <p:nvPr/>
        </p:nvSpPr>
        <p:spPr>
          <a:xfrm>
            <a:off x="270510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C41AC0-E757-4F9D-B8D4-B37D1B53657F}"/>
              </a:ext>
            </a:extLst>
          </p:cNvPr>
          <p:cNvSpPr>
            <a:spLocks noGrp="1"/>
          </p:cNvSpPr>
          <p:nvPr/>
        </p:nvSpPr>
        <p:spPr>
          <a:xfrm>
            <a:off x="127635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B6EBD3-24B1-485E-9E73-B92E42F47612}"/>
              </a:ext>
            </a:extLst>
          </p:cNvPr>
          <p:cNvSpPr>
            <a:spLocks noGrp="1"/>
          </p:cNvSpPr>
          <p:nvPr/>
        </p:nvSpPr>
        <p:spPr>
          <a:xfrm>
            <a:off x="156210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376B42-7A7A-404D-A0C3-5C0FA1CB91E1}"/>
              </a:ext>
            </a:extLst>
          </p:cNvPr>
          <p:cNvSpPr>
            <a:spLocks noGrp="1"/>
          </p:cNvSpPr>
          <p:nvPr/>
        </p:nvSpPr>
        <p:spPr>
          <a:xfrm>
            <a:off x="184785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C018A9-116A-46A9-967E-55C606C60418}"/>
              </a:ext>
            </a:extLst>
          </p:cNvPr>
          <p:cNvSpPr>
            <a:spLocks noGrp="1"/>
          </p:cNvSpPr>
          <p:nvPr/>
        </p:nvSpPr>
        <p:spPr>
          <a:xfrm>
            <a:off x="213360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E843FD-8502-41E7-BF4A-69D959556013}"/>
              </a:ext>
            </a:extLst>
          </p:cNvPr>
          <p:cNvSpPr>
            <a:spLocks noGrp="1"/>
          </p:cNvSpPr>
          <p:nvPr/>
        </p:nvSpPr>
        <p:spPr>
          <a:xfrm>
            <a:off x="241935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7BDBBC-D494-41E0-88A4-F95FBF9836BC}"/>
              </a:ext>
            </a:extLst>
          </p:cNvPr>
          <p:cNvSpPr>
            <a:spLocks noGrp="1"/>
          </p:cNvSpPr>
          <p:nvPr/>
        </p:nvSpPr>
        <p:spPr>
          <a:xfrm>
            <a:off x="270510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E3C360-EB89-4271-A3EF-AE54B44270FA}"/>
              </a:ext>
            </a:extLst>
          </p:cNvPr>
          <p:cNvSpPr>
            <a:spLocks noGrp="1"/>
          </p:cNvSpPr>
          <p:nvPr/>
        </p:nvSpPr>
        <p:spPr>
          <a:xfrm>
            <a:off x="127635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DD7792-3997-4F83-BD86-E3035BA47A4A}"/>
              </a:ext>
            </a:extLst>
          </p:cNvPr>
          <p:cNvSpPr>
            <a:spLocks noGrp="1"/>
          </p:cNvSpPr>
          <p:nvPr/>
        </p:nvSpPr>
        <p:spPr>
          <a:xfrm>
            <a:off x="156210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8A5076-8685-4071-9F3E-8F10BC3E7A0B}"/>
              </a:ext>
            </a:extLst>
          </p:cNvPr>
          <p:cNvSpPr>
            <a:spLocks noGrp="1"/>
          </p:cNvSpPr>
          <p:nvPr/>
        </p:nvSpPr>
        <p:spPr>
          <a:xfrm>
            <a:off x="184785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5EAF25-27D3-4C34-AE8B-AB06F2ACE1F7}"/>
              </a:ext>
            </a:extLst>
          </p:cNvPr>
          <p:cNvSpPr>
            <a:spLocks noGrp="1"/>
          </p:cNvSpPr>
          <p:nvPr/>
        </p:nvSpPr>
        <p:spPr>
          <a:xfrm>
            <a:off x="213360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7D4DD2-B9D7-4408-B870-CBE1D5E9344C}"/>
              </a:ext>
            </a:extLst>
          </p:cNvPr>
          <p:cNvSpPr>
            <a:spLocks noGrp="1"/>
          </p:cNvSpPr>
          <p:nvPr/>
        </p:nvSpPr>
        <p:spPr>
          <a:xfrm>
            <a:off x="241935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44DB07-DFF2-4E92-A6F0-26D590BD314D}"/>
              </a:ext>
            </a:extLst>
          </p:cNvPr>
          <p:cNvSpPr>
            <a:spLocks noGrp="1"/>
          </p:cNvSpPr>
          <p:nvPr/>
        </p:nvSpPr>
        <p:spPr>
          <a:xfrm>
            <a:off x="270510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7ADB52-E52A-4C57-AA92-ACB7633D631C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N_sc x N_obs grid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C7C70F2C-86C6-46A3-8598-28FD7BC02C5D}"/>
              </a:ext>
            </a:extLst>
          </p:cNvPr>
          <p:cNvSpPr>
            <a:spLocks noGrp="1"/>
          </p:cNvSpPr>
          <p:nvPr/>
        </p:nvSpPr>
        <p:spPr>
          <a:xfrm>
            <a:off x="3676650" y="4248150"/>
            <a:ext cx="1228725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D6A250-59A5-4C71-94F3-498AB98E9736}"/>
              </a:ext>
            </a:extLst>
          </p:cNvPr>
          <p:cNvSpPr>
            <a:spLocks noGrp="1"/>
          </p:cNvSpPr>
          <p:nvPr/>
        </p:nvSpPr>
        <p:spPr>
          <a:xfrm>
            <a:off x="521970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8275EB4-AF79-46AE-B0ED-8719205121C7}"/>
              </a:ext>
            </a:extLst>
          </p:cNvPr>
          <p:cNvSpPr>
            <a:spLocks noGrp="1"/>
          </p:cNvSpPr>
          <p:nvPr/>
        </p:nvSpPr>
        <p:spPr>
          <a:xfrm>
            <a:off x="554355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2238C6-C229-4788-A077-F6FCC6F5967B}"/>
              </a:ext>
            </a:extLst>
          </p:cNvPr>
          <p:cNvSpPr>
            <a:spLocks noGrp="1"/>
          </p:cNvSpPr>
          <p:nvPr/>
        </p:nvSpPr>
        <p:spPr>
          <a:xfrm>
            <a:off x="586740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118E40D-7F1E-42C2-8970-8EBB80A830F2}"/>
              </a:ext>
            </a:extLst>
          </p:cNvPr>
          <p:cNvSpPr>
            <a:spLocks noGrp="1"/>
          </p:cNvSpPr>
          <p:nvPr/>
        </p:nvSpPr>
        <p:spPr>
          <a:xfrm>
            <a:off x="619125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381815E-B1E7-461E-9045-D5EA5FE9055A}"/>
              </a:ext>
            </a:extLst>
          </p:cNvPr>
          <p:cNvSpPr>
            <a:spLocks noGrp="1"/>
          </p:cNvSpPr>
          <p:nvPr/>
        </p:nvSpPr>
        <p:spPr>
          <a:xfrm>
            <a:off x="651510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A946F3A-02A2-4ABB-A62F-CCEF91A91350}"/>
              </a:ext>
            </a:extLst>
          </p:cNvPr>
          <p:cNvSpPr>
            <a:spLocks noGrp="1"/>
          </p:cNvSpPr>
          <p:nvPr/>
        </p:nvSpPr>
        <p:spPr>
          <a:xfrm>
            <a:off x="683895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934454-D87F-45CD-8D12-2398275BB85C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31950E0-AFC3-45F6-9CAA-DB7B1D1A97DE}"/>
              </a:ext>
            </a:extLst>
          </p:cNvPr>
          <p:cNvSpPr>
            <a:spLocks noGrp="1"/>
          </p:cNvSpPr>
          <p:nvPr/>
        </p:nvSpPr>
        <p:spPr>
          <a:xfrm>
            <a:off x="748665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551F9CE-80D0-41DB-B5E8-EEB46CE94314}"/>
              </a:ext>
            </a:extLst>
          </p:cNvPr>
          <p:cNvSpPr>
            <a:spLocks noGrp="1"/>
          </p:cNvSpPr>
          <p:nvPr/>
        </p:nvSpPr>
        <p:spPr>
          <a:xfrm>
            <a:off x="781050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D27CEBF-F01B-4DDD-B1EB-11F51440B50E}"/>
              </a:ext>
            </a:extLst>
          </p:cNvPr>
          <p:cNvSpPr>
            <a:spLocks noGrp="1"/>
          </p:cNvSpPr>
          <p:nvPr/>
        </p:nvSpPr>
        <p:spPr>
          <a:xfrm>
            <a:off x="813435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507CEF-9D3A-4801-BB4B-2C660FABAD72}"/>
              </a:ext>
            </a:extLst>
          </p:cNvPr>
          <p:cNvSpPr>
            <a:spLocks noGrp="1"/>
          </p:cNvSpPr>
          <p:nvPr/>
        </p:nvSpPr>
        <p:spPr>
          <a:xfrm>
            <a:off x="5067300" y="501015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 tokens, each token width = d_model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B67E939-9E79-4A2E-AAB7-6302AEEF374B}"/>
              </a:ext>
            </a:extLst>
          </p:cNvPr>
          <p:cNvSpPr>
            <a:spLocks noGrp="1"/>
          </p:cNvSpPr>
          <p:nvPr/>
        </p:nvSpPr>
        <p:spPr>
          <a:xfrm>
            <a:off x="8286750" y="40481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693510E-B66F-403F-9B85-6E0AC9118A81}"/>
              </a:ext>
            </a:extLst>
          </p:cNvPr>
          <p:cNvSpPr>
            <a:spLocks noGrp="1"/>
          </p:cNvSpPr>
          <p:nvPr/>
        </p:nvSpPr>
        <p:spPr>
          <a:xfrm>
            <a:off x="8458200" y="4000500"/>
            <a:ext cx="2686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Tokenization keeps batch B unchanged; it only flattens the 2D positions into a sequence that the Transformer can process.</a:t>
            </a:r>
          </a:p>
        </p:txBody>
      </p:sp>
    </p:spTree>
    <p:extLst>
      <p:ext uri="{BB962C8B-B14F-4D97-AF65-F5344CB8AC3E}">
        <p14:creationId xmlns:p14="http://schemas.microsoft.com/office/powerpoint/2010/main" val="497428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A2A840E-DFD0-45DA-BD90-2124B60959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187172-A181-4B70-814F-B2D88B430773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C09F7-1832-481C-9021-AF879D1C6AB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Local feature extraction and channel projection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B417A4-7EF1-4007-A2B4-B3F636D18E88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CNN Stem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491DF8-EB92-4399-9E21-34BD07BE022F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CD78C5-73C4-4671-AC22-24FA0DF5720A}"/>
              </a:ext>
            </a:extLst>
          </p:cNvPr>
          <p:cNvSpPr>
            <a:spLocks noGrp="1"/>
          </p:cNvSpPr>
          <p:nvPr/>
        </p:nvSpPr>
        <p:spPr>
          <a:xfrm>
            <a:off x="419100" y="2476500"/>
            <a:ext cx="2105025" cy="679450"/>
          </a:xfrm>
          <a:prstGeom prst="roundRect">
            <a:avLst>
              <a:gd name="adj" fmla="val 10256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Input </a:t>
            </a:r>
            <a:endParaRPr lang="en-US" sz="1200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pt-BR"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2(N_rx+N_tx) x N_sc x N_obs</a:t>
            </a:r>
            <a:endParaRPr lang="en-US" sz="1200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14CAC9-30F0-4C73-8BF5-998FC2382D28}"/>
              </a:ext>
            </a:extLst>
          </p:cNvPr>
          <p:cNvSpPr>
            <a:spLocks noGrp="1"/>
          </p:cNvSpPr>
          <p:nvPr/>
        </p:nvSpPr>
        <p:spPr>
          <a:xfrm>
            <a:off x="3238500" y="2343150"/>
            <a:ext cx="2000250" cy="1009650"/>
          </a:xfrm>
          <a:prstGeom prst="roundRect">
            <a:avLst>
              <a:gd name="adj" fmla="val 7547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Conv2d</a:t>
            </a:r>
          </a:p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2N_rx -&gt; d_model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E31D26-C7B5-437C-B0D9-89F3131AABF5}"/>
              </a:ext>
            </a:extLst>
          </p:cNvPr>
          <p:cNvSpPr>
            <a:spLocks noGrp="1"/>
          </p:cNvSpPr>
          <p:nvPr/>
        </p:nvSpPr>
        <p:spPr>
          <a:xfrm>
            <a:off x="5667375" y="2476500"/>
            <a:ext cx="1104900" cy="742950"/>
          </a:xfrm>
          <a:prstGeom prst="roundRect">
            <a:avLst>
              <a:gd name="adj" fmla="val 10256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GELU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074BF0-1D19-4298-A756-823C3DB6DFAC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133600" cy="1009650"/>
          </a:xfrm>
          <a:prstGeom prst="roundRect">
            <a:avLst>
              <a:gd name="adj" fmla="val 7547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Conv2d</a:t>
            </a:r>
          </a:p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 -&gt; d_model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7C716F-9091-4FE0-BF69-AADCC553706D}"/>
              </a:ext>
            </a:extLst>
          </p:cNvPr>
          <p:cNvSpPr>
            <a:spLocks noGrp="1"/>
          </p:cNvSpPr>
          <p:nvPr/>
        </p:nvSpPr>
        <p:spPr>
          <a:xfrm>
            <a:off x="9858375" y="2476500"/>
            <a:ext cx="1200150" cy="742950"/>
          </a:xfrm>
          <a:prstGeom prst="roundRect">
            <a:avLst>
              <a:gd name="adj" fmla="val 10256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GELU</a:t>
            </a:r>
          </a:p>
          <a:p>
            <a:pPr algn="ctr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endParaRPr sz="15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9E9BA98-79A2-426F-A58C-E56BD4C2772D}"/>
              </a:ext>
            </a:extLst>
          </p:cNvPr>
          <p:cNvSpPr>
            <a:spLocks noGrp="1"/>
          </p:cNvSpPr>
          <p:nvPr/>
        </p:nvSpPr>
        <p:spPr>
          <a:xfrm>
            <a:off x="2524125" y="2771775"/>
            <a:ext cx="676275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C4BCA15-119D-4C4C-9E54-468A8F831B07}"/>
              </a:ext>
            </a:extLst>
          </p:cNvPr>
          <p:cNvSpPr>
            <a:spLocks noGrp="1"/>
          </p:cNvSpPr>
          <p:nvPr/>
        </p:nvSpPr>
        <p:spPr>
          <a:xfrm>
            <a:off x="5238750" y="2771775"/>
            <a:ext cx="3810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FBF4712-F40C-4A83-8D8A-8444994AD69A}"/>
              </a:ext>
            </a:extLst>
          </p:cNvPr>
          <p:cNvSpPr>
            <a:spLocks noGrp="1"/>
          </p:cNvSpPr>
          <p:nvPr/>
        </p:nvSpPr>
        <p:spPr>
          <a:xfrm>
            <a:off x="6772275" y="2771775"/>
            <a:ext cx="428625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223D3D-D0B6-43DE-9B06-0448662E6481}"/>
              </a:ext>
            </a:extLst>
          </p:cNvPr>
          <p:cNvSpPr>
            <a:spLocks noGrp="1"/>
          </p:cNvSpPr>
          <p:nvPr/>
        </p:nvSpPr>
        <p:spPr>
          <a:xfrm>
            <a:off x="9372600" y="2771775"/>
            <a:ext cx="43815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77F3C3-7C72-4168-BB37-52AC657619C1}"/>
              </a:ext>
            </a:extLst>
          </p:cNvPr>
          <p:cNvSpPr>
            <a:spLocks noGrp="1"/>
          </p:cNvSpPr>
          <p:nvPr/>
        </p:nvSpPr>
        <p:spPr>
          <a:xfrm>
            <a:off x="2328862" y="3505201"/>
            <a:ext cx="1066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[B,16,48,2]</a:t>
            </a:r>
            <a:endParaRPr sz="1275" b="0" dirty="0">
              <a:solidFill>
                <a:srgbClr val="5B64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E77CCE-5417-41D8-9A0A-0BAD448E588B}"/>
              </a:ext>
            </a:extLst>
          </p:cNvPr>
          <p:cNvSpPr>
            <a:spLocks noGrp="1"/>
          </p:cNvSpPr>
          <p:nvPr/>
        </p:nvSpPr>
        <p:spPr>
          <a:xfrm>
            <a:off x="8575675" y="3514725"/>
            <a:ext cx="2241550" cy="5143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</a:t>
            </a:r>
            <a:r>
              <a:rPr sz="1275" b="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r>
              <a:rPr sz="1275" b="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1275" b="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N_sc</a:t>
            </a:r>
            <a:r>
              <a:rPr sz="1275" b="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1275" b="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N_obs</a:t>
            </a:r>
            <a:endParaRPr lang="en-US" sz="1275" b="0" dirty="0">
              <a:solidFill>
                <a:srgbClr val="5B647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[B,128,48,2]</a:t>
            </a:r>
          </a:p>
          <a:p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endParaRPr sz="1275" b="0" dirty="0">
              <a:solidFill>
                <a:srgbClr val="5B64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37059AB-4F07-4D42-A265-7C33878247D9}"/>
              </a:ext>
            </a:extLst>
          </p:cNvPr>
          <p:cNvSpPr>
            <a:spLocks noGrp="1"/>
          </p:cNvSpPr>
          <p:nvPr/>
        </p:nvSpPr>
        <p:spPr>
          <a:xfrm>
            <a:off x="1123950" y="47339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A8FB24-7D15-4E02-BAE6-6EB705743BF1}"/>
              </a:ext>
            </a:extLst>
          </p:cNvPr>
          <p:cNvSpPr>
            <a:spLocks noGrp="1"/>
          </p:cNvSpPr>
          <p:nvPr/>
        </p:nvSpPr>
        <p:spPr>
          <a:xfrm>
            <a:off x="1295400" y="4686300"/>
            <a:ext cx="8401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dirty="0">
                <a:solidFill>
                  <a:srgbClr val="5B6472"/>
                </a:solidFill>
                <a:latin typeface="Microsoft YaHei"/>
                <a:ea typeface="Microsoft YaHei"/>
              </a:rPr>
              <a:t>fuse local patterns across neighboring subcarriers and observed symbols</a:t>
            </a:r>
            <a:endParaRPr sz="1200" dirty="0">
              <a:solidFill>
                <a:srgbClr val="5B6472"/>
              </a:solidFill>
              <a:latin typeface="Microsoft YaHei"/>
              <a:ea typeface="Microsoft YaHe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89A2EE-8284-7A15-9AAB-AF6F3F22731B}"/>
              </a:ext>
            </a:extLst>
          </p:cNvPr>
          <p:cNvSpPr>
            <a:spLocks noGrp="1"/>
          </p:cNvSpPr>
          <p:nvPr/>
        </p:nvSpPr>
        <p:spPr>
          <a:xfrm>
            <a:off x="4819650" y="3449638"/>
            <a:ext cx="1447800" cy="35559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[B,128,48,2]</a:t>
            </a:r>
          </a:p>
          <a:p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3x3, padding=1</a:t>
            </a:r>
            <a:endParaRPr sz="1275" b="0" dirty="0">
              <a:solidFill>
                <a:srgbClr val="5B64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A96DF3-7B71-5274-2ADE-4D2EF56F12AA}"/>
              </a:ext>
            </a:extLst>
          </p:cNvPr>
          <p:cNvSpPr>
            <a:spLocks noGrp="1"/>
          </p:cNvSpPr>
          <p:nvPr/>
        </p:nvSpPr>
        <p:spPr>
          <a:xfrm>
            <a:off x="11106150" y="2716212"/>
            <a:ext cx="1146175" cy="263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[B,128,48,2]</a:t>
            </a:r>
            <a:endParaRPr sz="1275" b="0" dirty="0">
              <a:solidFill>
                <a:srgbClr val="5B64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6519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561AA9F-9320-4E8C-9A5E-6821EA9DF8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3C8CF0-2DA5-4F89-9BDB-FE27A34F03E6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74F302-CACB-4E81-AF15-F02DEC471315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Inject grid coordinates into the token sequence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CE038D-3912-4BA9-A638-B7AB0A1CDC7A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 dirty="0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2D Positional Encoding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904CE5-BAF2-433E-82F8-A455C313B5F2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A73D49-76AA-473D-985B-9F97E9663DED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pos_k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</a:t>
            </a: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7B6EB4-7B1B-496A-8091-8372019CE3D4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pos_n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N_obs</a:t>
            </a: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3E0BA5-F299-455C-BE32-609C74E07AF7}"/>
              </a:ext>
            </a:extLst>
          </p:cNvPr>
          <p:cNvSpPr>
            <a:spLocks noGrp="1"/>
          </p:cNvSpPr>
          <p:nvPr/>
        </p:nvSpPr>
        <p:spPr>
          <a:xfrm>
            <a:off x="3028951" y="2343150"/>
            <a:ext cx="2476500" cy="876300"/>
          </a:xfrm>
          <a:prstGeom prst="roundRect">
            <a:avLst>
              <a:gd name="adj" fmla="val 869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broadcast add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</a:t>
            </a: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N_obs</a:t>
            </a: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20FA384-2559-4DCA-9766-B28697A2B894}"/>
              </a:ext>
            </a:extLst>
          </p:cNvPr>
          <p:cNvSpPr>
            <a:spLocks noGrp="1"/>
          </p:cNvSpPr>
          <p:nvPr/>
        </p:nvSpPr>
        <p:spPr>
          <a:xfrm>
            <a:off x="6191249" y="2387600"/>
            <a:ext cx="2286003" cy="869950"/>
          </a:xfrm>
          <a:prstGeom prst="roundRect">
            <a:avLst>
              <a:gd name="adj" fmla="val 869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reshape + </a:t>
            </a: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unsqueeze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pos: 1 x </a:t>
            </a:r>
            <a:r>
              <a:rPr lang="en-US"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pt-BR"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 x N_obs )</a:t>
            </a: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x </a:t>
            </a: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D2045F6-A171-49DB-86D4-0C233E81E42F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095500" cy="685800"/>
          </a:xfrm>
          <a:prstGeom prst="roundRect">
            <a:avLst>
              <a:gd name="adj" fmla="val 11111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encoder_input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</a:t>
            </a:r>
            <a:r>
              <a:rPr lang="en-US"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pt-BR"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 x N_obs)</a:t>
            </a: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055CED9-04EF-49D2-BEAB-DEB792C451C1}"/>
              </a:ext>
            </a:extLst>
          </p:cNvPr>
          <p:cNvSpPr>
            <a:spLocks noGrp="1"/>
          </p:cNvSpPr>
          <p:nvPr/>
        </p:nvSpPr>
        <p:spPr>
          <a:xfrm>
            <a:off x="9048752" y="2914650"/>
            <a:ext cx="2667000" cy="952500"/>
          </a:xfrm>
          <a:prstGeom prst="roundRect">
            <a:avLst>
              <a:gd name="adj" fmla="val 8000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Transformer Encoder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self attention over T tokens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A37CFF-225E-4F77-8696-149F1DC30385}"/>
              </a:ext>
            </a:extLst>
          </p:cNvPr>
          <p:cNvSpPr>
            <a:spLocks noGrp="1"/>
          </p:cNvSpPr>
          <p:nvPr/>
        </p:nvSpPr>
        <p:spPr>
          <a:xfrm>
            <a:off x="9410700" y="4533900"/>
            <a:ext cx="1752600" cy="552450"/>
          </a:xfrm>
          <a:prstGeom prst="roundRect">
            <a:avLst>
              <a:gd name="adj" fmla="val 13793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</a:t>
            </a:r>
            <a:r>
              <a:rPr lang="en-US"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pt-BR"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 x N_obs)</a:t>
            </a:r>
            <a:r>
              <a:rPr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120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endParaRPr sz="1200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7577453-37F1-4860-8205-4AD109BC466D}"/>
              </a:ext>
            </a:extLst>
          </p:cNvPr>
          <p:cNvSpPr>
            <a:spLocks noGrp="1"/>
          </p:cNvSpPr>
          <p:nvPr/>
        </p:nvSpPr>
        <p:spPr>
          <a:xfrm>
            <a:off x="2724151" y="2235200"/>
            <a:ext cx="304800" cy="304799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6A2BF5E-BB71-4999-AC04-C14030FCC7C6}"/>
              </a:ext>
            </a:extLst>
          </p:cNvPr>
          <p:cNvSpPr>
            <a:spLocks noGrp="1"/>
          </p:cNvSpPr>
          <p:nvPr/>
        </p:nvSpPr>
        <p:spPr>
          <a:xfrm flipV="1">
            <a:off x="2724151" y="2952749"/>
            <a:ext cx="304800" cy="361949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7C3C424-A95A-43F7-A7C4-C896364766E2}"/>
              </a:ext>
            </a:extLst>
          </p:cNvPr>
          <p:cNvSpPr>
            <a:spLocks noGrp="1"/>
          </p:cNvSpPr>
          <p:nvPr/>
        </p:nvSpPr>
        <p:spPr>
          <a:xfrm>
            <a:off x="5534025" y="2711450"/>
            <a:ext cx="62865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39ED72F-5741-4210-960C-C7C8FF01D691}"/>
              </a:ext>
            </a:extLst>
          </p:cNvPr>
          <p:cNvSpPr>
            <a:spLocks noGrp="1"/>
          </p:cNvSpPr>
          <p:nvPr/>
        </p:nvSpPr>
        <p:spPr>
          <a:xfrm>
            <a:off x="8505825" y="2813050"/>
            <a:ext cx="542927" cy="44450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5856954-C3E0-43F3-9A93-6D7DB27D6460}"/>
              </a:ext>
            </a:extLst>
          </p:cNvPr>
          <p:cNvSpPr>
            <a:spLocks noGrp="1"/>
          </p:cNvSpPr>
          <p:nvPr/>
        </p:nvSpPr>
        <p:spPr>
          <a:xfrm>
            <a:off x="5622131" y="4133850"/>
            <a:ext cx="66437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41B9B617-8A11-4A4C-9694-1EC93FA95380}"/>
              </a:ext>
            </a:extLst>
          </p:cNvPr>
          <p:cNvSpPr>
            <a:spLocks noGrp="1"/>
          </p:cNvSpPr>
          <p:nvPr/>
        </p:nvSpPr>
        <p:spPr>
          <a:xfrm>
            <a:off x="10210800" y="4019550"/>
            <a:ext cx="152400" cy="41910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9FBB89-B1D7-4BA3-9766-25138DB40B6A}"/>
              </a:ext>
            </a:extLst>
          </p:cNvPr>
          <p:cNvSpPr>
            <a:spLocks noGrp="1"/>
          </p:cNvSpPr>
          <p:nvPr/>
        </p:nvSpPr>
        <p:spPr>
          <a:xfrm>
            <a:off x="1225550" y="578167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61859B-445C-4E4C-BAA9-756725A6BB6B}"/>
              </a:ext>
            </a:extLst>
          </p:cNvPr>
          <p:cNvSpPr>
            <a:spLocks noGrp="1"/>
          </p:cNvSpPr>
          <p:nvPr/>
        </p:nvSpPr>
        <p:spPr>
          <a:xfrm>
            <a:off x="1390650" y="5629275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The positional encodings are learnable parameters; _</a:t>
            </a:r>
            <a:r>
              <a:rPr sz="1125" b="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sincos_pos</a:t>
            </a:r>
            <a:r>
              <a:rPr sz="1125" b="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 is not used in this forward path.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32A72E-F788-54D6-25E9-9EAEC4EFAC09}"/>
              </a:ext>
            </a:extLst>
          </p:cNvPr>
          <p:cNvSpPr txBox="1"/>
          <p:nvPr/>
        </p:nvSpPr>
        <p:spPr>
          <a:xfrm>
            <a:off x="720725" y="1511299"/>
            <a:ext cx="2101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Initialized from N(0, 0.02²)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A3AB0A6-10B2-A6AA-2792-F0A401BF996F}"/>
              </a:ext>
            </a:extLst>
          </p:cNvPr>
          <p:cNvSpPr>
            <a:spLocks noGrp="1"/>
          </p:cNvSpPr>
          <p:nvPr/>
        </p:nvSpPr>
        <p:spPr>
          <a:xfrm>
            <a:off x="971550" y="3829050"/>
            <a:ext cx="2209800" cy="876300"/>
          </a:xfrm>
          <a:prstGeom prst="roundRect">
            <a:avLst>
              <a:gd name="adj" fmla="val 11111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CNN output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</a:t>
            </a:r>
            <a:r>
              <a:rPr lang="en-US"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r>
              <a:rPr lang="en-US"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pt-BR"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x N_sc x N_obs 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078CC7F-F6EC-282B-4349-91EF0356D98C}"/>
              </a:ext>
            </a:extLst>
          </p:cNvPr>
          <p:cNvSpPr>
            <a:spLocks noGrp="1"/>
          </p:cNvSpPr>
          <p:nvPr/>
        </p:nvSpPr>
        <p:spPr>
          <a:xfrm>
            <a:off x="3519488" y="3867150"/>
            <a:ext cx="2095500" cy="685800"/>
          </a:xfrm>
          <a:prstGeom prst="roundRect">
            <a:avLst>
              <a:gd name="adj" fmla="val 11111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Permute &amp; reshape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5DE9FEA-8A31-A760-E6E4-137A4D263D39}"/>
              </a:ext>
            </a:extLst>
          </p:cNvPr>
          <p:cNvSpPr>
            <a:spLocks noGrp="1"/>
          </p:cNvSpPr>
          <p:nvPr/>
        </p:nvSpPr>
        <p:spPr>
          <a:xfrm>
            <a:off x="3188493" y="4143375"/>
            <a:ext cx="323852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49897696-D865-E7AD-8FD8-18F459C3209B}"/>
              </a:ext>
            </a:extLst>
          </p:cNvPr>
          <p:cNvSpPr>
            <a:spLocks noGrp="1"/>
          </p:cNvSpPr>
          <p:nvPr/>
        </p:nvSpPr>
        <p:spPr>
          <a:xfrm flipV="1">
            <a:off x="8382001" y="3543299"/>
            <a:ext cx="666751" cy="666749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0425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7B2F7C1-F6F8-48F3-9F8D-1C5DDA910F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622405-289A-48BB-936B-6C0A447766C9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5DD4C5-A096-4DE6-9B24-419235FAEF8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Query candidate paths from memory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BA5084-B925-44B5-8073-7893CA24CFA3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Learnable Queries and Decoder Attention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58F586-9EC2-4D34-8D59-5BC4F8809076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101D30-6E4F-41FB-8337-01D5FCE4C9AF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2095500" cy="742950"/>
          </a:xfrm>
          <a:prstGeom prst="roundRect">
            <a:avLst>
              <a:gd name="adj" fmla="val 102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query parameters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L_eff</a:t>
            </a:r>
            <a:r>
              <a:rPr sz="135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135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endParaRPr sz="1350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14F251-ECB2-4DD8-B795-2F3D4B83748F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2266950" cy="857250"/>
          </a:xfrm>
          <a:prstGeom prst="roundRect">
            <a:avLst>
              <a:gd name="adj" fmla="val 888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unsqueeze</a:t>
            </a: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+ expand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queries: B x </a:t>
            </a:r>
            <a:r>
              <a:rPr lang="en-US" altLang="zh-CN" sz="120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L_eff</a:t>
            </a: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A3B422BB-CEBE-4C4E-A0C8-410DA77B86E7}"/>
              </a:ext>
            </a:extLst>
          </p:cNvPr>
          <p:cNvSpPr>
            <a:spLocks noGrp="1"/>
          </p:cNvSpPr>
          <p:nvPr/>
        </p:nvSpPr>
        <p:spPr>
          <a:xfrm>
            <a:off x="1847850" y="2571750"/>
            <a:ext cx="152400" cy="53340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97A296A-842B-4569-839E-5B140A86696C}"/>
              </a:ext>
            </a:extLst>
          </p:cNvPr>
          <p:cNvSpPr>
            <a:spLocks noGrp="1"/>
          </p:cNvSpPr>
          <p:nvPr/>
        </p:nvSpPr>
        <p:spPr>
          <a:xfrm>
            <a:off x="7296150" y="1428750"/>
            <a:ext cx="2095500" cy="742950"/>
          </a:xfrm>
          <a:prstGeom prst="roundRect">
            <a:avLst>
              <a:gd name="adj" fmla="val 102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T x </a:t>
            </a:r>
            <a:r>
              <a:rPr sz="135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endParaRPr sz="1350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22919AF-C7DB-4CC7-B008-9628D5987495}"/>
              </a:ext>
            </a:extLst>
          </p:cNvPr>
          <p:cNvSpPr>
            <a:spLocks noGrp="1"/>
          </p:cNvSpPr>
          <p:nvPr/>
        </p:nvSpPr>
        <p:spPr>
          <a:xfrm>
            <a:off x="3803650" y="3181350"/>
            <a:ext cx="2724150" cy="819150"/>
          </a:xfrm>
          <a:prstGeom prst="roundRect">
            <a:avLst>
              <a:gd name="adj" fmla="val 9302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Decoder self-attention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queries exchange information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2C6BB6-22F5-4195-AF1E-3A7FF7BAE58C}"/>
              </a:ext>
            </a:extLst>
          </p:cNvPr>
          <p:cNvSpPr>
            <a:spLocks noGrp="1"/>
          </p:cNvSpPr>
          <p:nvPr/>
        </p:nvSpPr>
        <p:spPr>
          <a:xfrm>
            <a:off x="7080250" y="3162300"/>
            <a:ext cx="2857500" cy="819150"/>
          </a:xfrm>
          <a:prstGeom prst="roundRect">
            <a:avLst>
              <a:gd name="adj" fmla="val 9302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Cross-attention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queries attend encoder memory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716B95-268E-4097-8754-83891212F1B5}"/>
              </a:ext>
            </a:extLst>
          </p:cNvPr>
          <p:cNvSpPr>
            <a:spLocks noGrp="1"/>
          </p:cNvSpPr>
          <p:nvPr/>
        </p:nvSpPr>
        <p:spPr>
          <a:xfrm>
            <a:off x="7496175" y="4867275"/>
            <a:ext cx="2000250" cy="723900"/>
          </a:xfrm>
          <a:prstGeom prst="roundRect">
            <a:avLst>
              <a:gd name="adj" fmla="val 1052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decoded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</a:t>
            </a:r>
            <a:r>
              <a:rPr lang="en-US" sz="135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L_eff</a:t>
            </a:r>
            <a:r>
              <a:rPr sz="135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135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endParaRPr sz="1350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7805693-B904-4400-A98F-B51A477A83D1}"/>
              </a:ext>
            </a:extLst>
          </p:cNvPr>
          <p:cNvSpPr>
            <a:spLocks noGrp="1"/>
          </p:cNvSpPr>
          <p:nvPr/>
        </p:nvSpPr>
        <p:spPr>
          <a:xfrm>
            <a:off x="3162300" y="3495675"/>
            <a:ext cx="5842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1B8C5B8-3457-4EBD-A245-26EFCD0C6DF2}"/>
              </a:ext>
            </a:extLst>
          </p:cNvPr>
          <p:cNvSpPr>
            <a:spLocks noGrp="1"/>
          </p:cNvSpPr>
          <p:nvPr/>
        </p:nvSpPr>
        <p:spPr>
          <a:xfrm>
            <a:off x="6584950" y="3495675"/>
            <a:ext cx="43815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244D7963-F372-425B-A3E2-5494564B4BF1}"/>
              </a:ext>
            </a:extLst>
          </p:cNvPr>
          <p:cNvSpPr>
            <a:spLocks noGrp="1"/>
          </p:cNvSpPr>
          <p:nvPr/>
        </p:nvSpPr>
        <p:spPr>
          <a:xfrm>
            <a:off x="8343900" y="4000500"/>
            <a:ext cx="152400" cy="78105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4B4C86-A796-4595-B926-7580EED2BC36}"/>
              </a:ext>
            </a:extLst>
          </p:cNvPr>
          <p:cNvSpPr>
            <a:spLocks noGrp="1"/>
          </p:cNvSpPr>
          <p:nvPr/>
        </p:nvSpPr>
        <p:spPr>
          <a:xfrm>
            <a:off x="514350" y="4448175"/>
            <a:ext cx="685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q is the number of candidate path slots; each slot is later mapped by heads into path-related parameters.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CD2256D-DDF7-D884-66F4-D4D251318B81}"/>
              </a:ext>
            </a:extLst>
          </p:cNvPr>
          <p:cNvSpPr>
            <a:spLocks noGrp="1"/>
          </p:cNvSpPr>
          <p:nvPr/>
        </p:nvSpPr>
        <p:spPr>
          <a:xfrm rot="5400000">
            <a:off x="7912100" y="2597150"/>
            <a:ext cx="838200" cy="1778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7842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AC49A3A-BA60-4859-BB30-3915FAE2ED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8CF266-51FA-4530-BA83-6C53228389D5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AE502F-877A-403C-90DF-95703FFE1810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decoded -&gt; alpha / objectness / rho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9F2C90-F0A6-443A-9623-9114F5CFFD07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Path Existence and Basic Parameter Heads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1E67F6-2115-4F08-9C86-17CB02A690B3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A08CC4-2F5D-495B-A0EE-4BD8EED8E58A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000250" cy="895350"/>
          </a:xfrm>
          <a:prstGeom prst="roundRect">
            <a:avLst>
              <a:gd name="adj" fmla="val 85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decoded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</a:t>
            </a:r>
            <a:r>
              <a:rPr lang="en-US" sz="120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L_eff</a:t>
            </a:r>
            <a:r>
              <a:rPr lang="en-US" sz="12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lang="en-US" sz="120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endParaRPr lang="en-US" sz="1200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D5A935-0A63-4131-82CF-412D1311152E}"/>
              </a:ext>
            </a:extLst>
          </p:cNvPr>
          <p:cNvSpPr>
            <a:spLocks noGrp="1"/>
          </p:cNvSpPr>
          <p:nvPr/>
        </p:nvSpPr>
        <p:spPr>
          <a:xfrm>
            <a:off x="3905250" y="1809750"/>
            <a:ext cx="2476500" cy="800100"/>
          </a:xfrm>
          <a:prstGeom prst="roundRect">
            <a:avLst>
              <a:gd name="adj" fmla="val 9524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alpha_head</a:t>
            </a:r>
            <a:endParaRPr sz="1163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Linear </a:t>
            </a:r>
            <a:r>
              <a:rPr sz="1163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r>
              <a:rPr sz="1163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-&gt; 1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+ </a:t>
            </a:r>
            <a:r>
              <a:rPr sz="1163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softplus</a:t>
            </a:r>
            <a:endParaRPr sz="1163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9C3A18-E934-46B8-9847-644E62B2099F}"/>
              </a:ext>
            </a:extLst>
          </p:cNvPr>
          <p:cNvSpPr>
            <a:spLocks noGrp="1"/>
          </p:cNvSpPr>
          <p:nvPr/>
        </p:nvSpPr>
        <p:spPr>
          <a:xfrm>
            <a:off x="7810500" y="186690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alpha_all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</a:t>
            </a:r>
            <a:r>
              <a:rPr lang="en-US" altLang="zh-CN"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Leff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93EDA050-4EFB-456D-928D-5EB176B62FB2}"/>
              </a:ext>
            </a:extLst>
          </p:cNvPr>
          <p:cNvSpPr>
            <a:spLocks noGrp="1"/>
          </p:cNvSpPr>
          <p:nvPr/>
        </p:nvSpPr>
        <p:spPr>
          <a:xfrm flipV="1">
            <a:off x="2724150" y="2190750"/>
            <a:ext cx="1162050" cy="971549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551ADC8-30DD-40E1-9924-D3B7BAD89277}"/>
              </a:ext>
            </a:extLst>
          </p:cNvPr>
          <p:cNvSpPr>
            <a:spLocks noGrp="1"/>
          </p:cNvSpPr>
          <p:nvPr/>
        </p:nvSpPr>
        <p:spPr>
          <a:xfrm>
            <a:off x="6419850" y="2133600"/>
            <a:ext cx="13335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A94181-6A6F-46B1-9BB6-6682FB468702}"/>
              </a:ext>
            </a:extLst>
          </p:cNvPr>
          <p:cNvSpPr>
            <a:spLocks noGrp="1"/>
          </p:cNvSpPr>
          <p:nvPr/>
        </p:nvSpPr>
        <p:spPr>
          <a:xfrm>
            <a:off x="3905250" y="3048000"/>
            <a:ext cx="2476500" cy="800100"/>
          </a:xfrm>
          <a:prstGeom prst="roundRect">
            <a:avLst>
              <a:gd name="adj" fmla="val 9524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63" b="1" dirty="0">
                <a:solidFill>
                  <a:srgbClr val="111827"/>
                </a:solidFill>
                <a:latin typeface="Microsoft YaHei"/>
                <a:ea typeface="Microsoft YaHei"/>
              </a:rPr>
              <a:t>path probability head 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Linear </a:t>
            </a:r>
            <a:r>
              <a:rPr sz="1163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r>
              <a:rPr sz="1163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-&gt; 1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+ sigmoid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F166A7-4492-49F5-B1A4-E1B676A328C6}"/>
              </a:ext>
            </a:extLst>
          </p:cNvPr>
          <p:cNvSpPr>
            <a:spLocks noGrp="1"/>
          </p:cNvSpPr>
          <p:nvPr/>
        </p:nvSpPr>
        <p:spPr>
          <a:xfrm>
            <a:off x="7810500" y="310515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path_prob_all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</a:t>
            </a:r>
            <a:r>
              <a:rPr lang="en-US" altLang="zh-CN"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Leff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A108446-3E83-45E7-A6F8-5819D551C62A}"/>
              </a:ext>
            </a:extLst>
          </p:cNvPr>
          <p:cNvSpPr>
            <a:spLocks noGrp="1"/>
          </p:cNvSpPr>
          <p:nvPr/>
        </p:nvSpPr>
        <p:spPr>
          <a:xfrm>
            <a:off x="2724150" y="3171825"/>
            <a:ext cx="1123950" cy="276225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88223F2-D176-4E85-A2BE-C269A8F09663}"/>
              </a:ext>
            </a:extLst>
          </p:cNvPr>
          <p:cNvSpPr>
            <a:spLocks noGrp="1"/>
          </p:cNvSpPr>
          <p:nvPr/>
        </p:nvSpPr>
        <p:spPr>
          <a:xfrm>
            <a:off x="6419850" y="3371850"/>
            <a:ext cx="13335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862AAAA-C897-428E-9307-C9B1F5B4283F}"/>
              </a:ext>
            </a:extLst>
          </p:cNvPr>
          <p:cNvSpPr>
            <a:spLocks noGrp="1"/>
          </p:cNvSpPr>
          <p:nvPr/>
        </p:nvSpPr>
        <p:spPr>
          <a:xfrm>
            <a:off x="3905250" y="4286250"/>
            <a:ext cx="2476500" cy="800100"/>
          </a:xfrm>
          <a:prstGeom prst="roundRect">
            <a:avLst>
              <a:gd name="adj" fmla="val 9524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rho_head</a:t>
            </a:r>
            <a:endParaRPr sz="1163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Linear </a:t>
            </a:r>
            <a:r>
              <a:rPr sz="1163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r>
              <a:rPr sz="1163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-&gt; 1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+ sigmoid + scale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2ACEEA5-59C2-4B4F-8DCE-1E87F7D3B440}"/>
              </a:ext>
            </a:extLst>
          </p:cNvPr>
          <p:cNvSpPr>
            <a:spLocks noGrp="1"/>
          </p:cNvSpPr>
          <p:nvPr/>
        </p:nvSpPr>
        <p:spPr>
          <a:xfrm>
            <a:off x="7810500" y="434340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rho_raw_all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</a:t>
            </a:r>
            <a:r>
              <a:rPr lang="en-US" altLang="zh-CN" sz="127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Leff</a:t>
            </a:r>
            <a:endParaRPr sz="127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5FA12F1-DFE6-4F7B-8684-694705F900ED}"/>
              </a:ext>
            </a:extLst>
          </p:cNvPr>
          <p:cNvSpPr>
            <a:spLocks noGrp="1"/>
          </p:cNvSpPr>
          <p:nvPr/>
        </p:nvSpPr>
        <p:spPr>
          <a:xfrm>
            <a:off x="2724150" y="3171825"/>
            <a:ext cx="1123950" cy="1514475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6FDF355-35DD-4709-9601-739FDCF94A91}"/>
              </a:ext>
            </a:extLst>
          </p:cNvPr>
          <p:cNvSpPr>
            <a:spLocks noGrp="1"/>
          </p:cNvSpPr>
          <p:nvPr/>
        </p:nvSpPr>
        <p:spPr>
          <a:xfrm>
            <a:off x="6419850" y="4610100"/>
            <a:ext cx="13335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7C19592-AB03-4C54-8717-095ED0C7E2AE}"/>
              </a:ext>
            </a:extLst>
          </p:cNvPr>
          <p:cNvSpPr>
            <a:spLocks noGrp="1"/>
          </p:cNvSpPr>
          <p:nvPr/>
        </p:nvSpPr>
        <p:spPr>
          <a:xfrm>
            <a:off x="1123950" y="53816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6AEEDB-E0D0-4216-B05D-D9AD18D85B55}"/>
              </a:ext>
            </a:extLst>
          </p:cNvPr>
          <p:cNvSpPr>
            <a:spLocks noGrp="1"/>
          </p:cNvSpPr>
          <p:nvPr/>
        </p:nvSpPr>
        <p:spPr>
          <a:xfrm>
            <a:off x="1295400" y="5334000"/>
            <a:ext cx="859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alpha_all is a nonnegative prediction of path amplitude/weight.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8240EB3-DFDB-43FE-B4A3-E85305BF0466}"/>
              </a:ext>
            </a:extLst>
          </p:cNvPr>
          <p:cNvSpPr>
            <a:spLocks noGrp="1"/>
          </p:cNvSpPr>
          <p:nvPr/>
        </p:nvSpPr>
        <p:spPr>
          <a:xfrm>
            <a:off x="1123950" y="570547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540722-D6D6-42A3-BD22-9C7AAC3AF8D0}"/>
              </a:ext>
            </a:extLst>
          </p:cNvPr>
          <p:cNvSpPr>
            <a:spLocks noGrp="1"/>
          </p:cNvSpPr>
          <p:nvPr/>
        </p:nvSpPr>
        <p:spPr>
          <a:xfrm>
            <a:off x="1295400" y="5657850"/>
            <a:ext cx="859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path_prob_all</a:t>
            </a:r>
            <a:r>
              <a:rPr sz="1200" b="0" dirty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 is the probability that a candidate query becomes an effective path.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138158F-A811-4B71-B28D-832681C58B93}"/>
              </a:ext>
            </a:extLst>
          </p:cNvPr>
          <p:cNvSpPr>
            <a:spLocks noGrp="1"/>
          </p:cNvSpPr>
          <p:nvPr/>
        </p:nvSpPr>
        <p:spPr>
          <a:xfrm>
            <a:off x="1123950" y="60293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E3FEF1-1779-4870-8617-9D18A9FF9528}"/>
              </a:ext>
            </a:extLst>
          </p:cNvPr>
          <p:cNvSpPr>
            <a:spLocks noGrp="1"/>
          </p:cNvSpPr>
          <p:nvPr/>
        </p:nvSpPr>
        <p:spPr>
          <a:xfrm>
            <a:off x="1295400" y="5981700"/>
            <a:ext cx="859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rho_raw_all is the query-level prediction of the path-position parameter rho.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40CA23-05AD-7C4D-9935-C75B34F14CD7}"/>
              </a:ext>
            </a:extLst>
          </p:cNvPr>
          <p:cNvSpPr txBox="1"/>
          <p:nvPr/>
        </p:nvSpPr>
        <p:spPr>
          <a:xfrm>
            <a:off x="5689600" y="5075535"/>
            <a:ext cx="2278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Range</a:t>
            </a:r>
            <a:r>
              <a:rPr lang="zh-CN" altLang="en-US" sz="1400" dirty="0"/>
              <a:t>：</a:t>
            </a:r>
            <a:r>
              <a:rPr lang="en-US" sz="1400" dirty="0"/>
              <a:t>[</a:t>
            </a:r>
            <a:r>
              <a:rPr lang="en-US" sz="1400" dirty="0" err="1"/>
              <a:t>rho_min</a:t>
            </a:r>
            <a:r>
              <a:rPr lang="en-US" sz="1400" dirty="0"/>
              <a:t>, </a:t>
            </a:r>
            <a:r>
              <a:rPr lang="en-US" sz="1400" dirty="0" err="1"/>
              <a:t>rho_max</a:t>
            </a:r>
            <a:r>
              <a:rPr lang="en-US" sz="14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005320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1CFA7D1-2EE7-4301-BB94-A6F9225070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618654-5FB8-4AD7-8092-1E05509CB1CD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6E3FE9-5452-443E-B69C-5D9C504D4675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free / scaled / grid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042953-3EC1-40AF-8C9F-9CAD654B9AF9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Three mu Head Modes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D6D349-58DB-45B1-9B53-2E6B029E6DF7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E373B8-0C88-48DA-AF23-35588949D8F9}"/>
              </a:ext>
            </a:extLst>
          </p:cNvPr>
          <p:cNvSpPr>
            <a:spLocks noGrp="1"/>
          </p:cNvSpPr>
          <p:nvPr/>
        </p:nvSpPr>
        <p:spPr>
          <a:xfrm>
            <a:off x="4953000" y="1371600"/>
            <a:ext cx="2095500" cy="666750"/>
          </a:xfrm>
          <a:prstGeom prst="roundRect">
            <a:avLst>
              <a:gd name="adj" fmla="val 1142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decoded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d_model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41501B-79B8-4A0E-A6F7-CD5EC42EFF6E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free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6DB52A-8A50-4F56-9757-A797E18EF8C9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667000" cy="1066800"/>
          </a:xfrm>
          <a:prstGeom prst="roundRect">
            <a:avLst>
              <a:gd name="adj" fmla="val 7143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mu_head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1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-&gt; B x q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sigmoid + scale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A859403-7ECC-4E83-A954-1A40AEC9A163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2667000" cy="781050"/>
          </a:xfrm>
          <a:prstGeom prst="roundRect">
            <a:avLst>
              <a:gd name="adj" fmla="val 97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mu_raw_all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29EF303-2ECF-474B-948D-4CBBD6C77BD1}"/>
              </a:ext>
            </a:extLst>
          </p:cNvPr>
          <p:cNvSpPr>
            <a:spLocks noGrp="1"/>
          </p:cNvSpPr>
          <p:nvPr/>
        </p:nvSpPr>
        <p:spPr>
          <a:xfrm flipV="1">
            <a:off x="2095500" y="2076450"/>
            <a:ext cx="3638550" cy="64770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5DDCF7E-5E7B-43BA-B2CE-F8C7078EAC71}"/>
              </a:ext>
            </a:extLst>
          </p:cNvPr>
          <p:cNvSpPr>
            <a:spLocks noGrp="1"/>
          </p:cNvSpPr>
          <p:nvPr/>
        </p:nvSpPr>
        <p:spPr>
          <a:xfrm>
            <a:off x="1943100" y="3829050"/>
            <a:ext cx="152400" cy="28575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108633-0716-4F93-84E0-99B89000B0DE}"/>
              </a:ext>
            </a:extLst>
          </p:cNvPr>
          <p:cNvSpPr>
            <a:spLocks noGrp="1"/>
          </p:cNvSpPr>
          <p:nvPr/>
        </p:nvSpPr>
        <p:spPr>
          <a:xfrm>
            <a:off x="4400550" y="2324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scaled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E2FBAB-5906-4996-B854-89643D15CCB1}"/>
              </a:ext>
            </a:extLst>
          </p:cNvPr>
          <p:cNvSpPr>
            <a:spLocks noGrp="1"/>
          </p:cNvSpPr>
          <p:nvPr/>
        </p:nvSpPr>
        <p:spPr>
          <a:xfrm>
            <a:off x="4400550" y="2724150"/>
            <a:ext cx="2667000" cy="1066800"/>
          </a:xfrm>
          <a:prstGeom prst="roundRect">
            <a:avLst>
              <a:gd name="adj" fmla="val 7143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mu_head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1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sigmoid -&gt; frac B x q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64FBA48-7A17-44B7-96C1-D374F6FAC9DF}"/>
              </a:ext>
            </a:extLst>
          </p:cNvPr>
          <p:cNvSpPr>
            <a:spLocks noGrp="1"/>
          </p:cNvSpPr>
          <p:nvPr/>
        </p:nvSpPr>
        <p:spPr>
          <a:xfrm>
            <a:off x="4400550" y="4152900"/>
            <a:ext cx="2667000" cy="781050"/>
          </a:xfrm>
          <a:prstGeom prst="roundRect">
            <a:avLst>
              <a:gd name="adj" fmla="val 97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frac + extent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mu_min + frac * extent range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D2C28C29-0DCE-4558-A5BA-BDD4D98EC4CF}"/>
              </a:ext>
            </a:extLst>
          </p:cNvPr>
          <p:cNvSpPr>
            <a:spLocks noGrp="1"/>
          </p:cNvSpPr>
          <p:nvPr/>
        </p:nvSpPr>
        <p:spPr>
          <a:xfrm>
            <a:off x="5848350" y="2095500"/>
            <a:ext cx="247650" cy="57150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CDA52331-2F56-4472-9170-3225F2AF79F6}"/>
              </a:ext>
            </a:extLst>
          </p:cNvPr>
          <p:cNvSpPr>
            <a:spLocks noGrp="1"/>
          </p:cNvSpPr>
          <p:nvPr/>
        </p:nvSpPr>
        <p:spPr>
          <a:xfrm>
            <a:off x="5657850" y="3829050"/>
            <a:ext cx="152400" cy="28575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319470-5C61-44CE-92B4-80F1A0C8332B}"/>
              </a:ext>
            </a:extLst>
          </p:cNvPr>
          <p:cNvSpPr>
            <a:spLocks noGrp="1"/>
          </p:cNvSpPr>
          <p:nvPr/>
        </p:nvSpPr>
        <p:spPr>
          <a:xfrm>
            <a:off x="8115300" y="2324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grid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09DB299-65A3-47C0-94B9-0B64497CF629}"/>
              </a:ext>
            </a:extLst>
          </p:cNvPr>
          <p:cNvSpPr>
            <a:spLocks noGrp="1"/>
          </p:cNvSpPr>
          <p:nvPr/>
        </p:nvSpPr>
        <p:spPr>
          <a:xfrm>
            <a:off x="8115300" y="2724150"/>
            <a:ext cx="2667000" cy="1066800"/>
          </a:xfrm>
          <a:prstGeom prst="roundRect">
            <a:avLst>
              <a:gd name="adj" fmla="val 7143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mu_head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num_mu_bins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softmax over bins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ED91E45-9927-4C40-AC37-4C18DDFDAEC2}"/>
              </a:ext>
            </a:extLst>
          </p:cNvPr>
          <p:cNvSpPr>
            <a:spLocks noGrp="1"/>
          </p:cNvSpPr>
          <p:nvPr/>
        </p:nvSpPr>
        <p:spPr>
          <a:xfrm>
            <a:off x="8115300" y="4152900"/>
            <a:ext cx="2667000" cy="781050"/>
          </a:xfrm>
          <a:prstGeom prst="roundRect">
            <a:avLst>
              <a:gd name="adj" fmla="val 97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weighted sum with mu_dict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frac B x q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9FE7115B-22A6-4D3A-8366-1C81D1B5BB40}"/>
              </a:ext>
            </a:extLst>
          </p:cNvPr>
          <p:cNvSpPr>
            <a:spLocks noGrp="1"/>
          </p:cNvSpPr>
          <p:nvPr/>
        </p:nvSpPr>
        <p:spPr>
          <a:xfrm>
            <a:off x="6000750" y="2076450"/>
            <a:ext cx="3448050" cy="59055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3BE47EC-B4C2-4327-A535-CC8EC62C4BDE}"/>
              </a:ext>
            </a:extLst>
          </p:cNvPr>
          <p:cNvSpPr>
            <a:spLocks noGrp="1"/>
          </p:cNvSpPr>
          <p:nvPr/>
        </p:nvSpPr>
        <p:spPr>
          <a:xfrm>
            <a:off x="9372600" y="3829050"/>
            <a:ext cx="152400" cy="28575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3F9C98A-B2D6-434C-9B20-140B5CE33E73}"/>
              </a:ext>
            </a:extLst>
          </p:cNvPr>
          <p:cNvSpPr>
            <a:spLocks noGrp="1"/>
          </p:cNvSpPr>
          <p:nvPr/>
        </p:nvSpPr>
        <p:spPr>
          <a:xfrm>
            <a:off x="4343400" y="5372100"/>
            <a:ext cx="2190750" cy="704850"/>
          </a:xfrm>
          <a:prstGeom prst="roundRect">
            <a:avLst>
              <a:gd name="adj" fmla="val 108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cross_path_stats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mean over query dim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d_model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524973E-C094-416C-8BCB-046840FCDEE9}"/>
              </a:ext>
            </a:extLst>
          </p:cNvPr>
          <p:cNvSpPr>
            <a:spLocks noGrp="1"/>
          </p:cNvSpPr>
          <p:nvPr/>
        </p:nvSpPr>
        <p:spPr>
          <a:xfrm>
            <a:off x="6858000" y="5372100"/>
            <a:ext cx="2190750" cy="704850"/>
          </a:xfrm>
          <a:prstGeom prst="roundRect">
            <a:avLst>
              <a:gd name="adj" fmla="val 10811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s_head MLP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d_model -&gt; B x 1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extent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9B25A3D-857A-4936-8EF2-91CADC6D81AC}"/>
              </a:ext>
            </a:extLst>
          </p:cNvPr>
          <p:cNvSpPr>
            <a:spLocks noGrp="1"/>
          </p:cNvSpPr>
          <p:nvPr/>
        </p:nvSpPr>
        <p:spPr>
          <a:xfrm>
            <a:off x="6534150" y="5648325"/>
            <a:ext cx="2667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1BA2D4-A458-4625-A966-82A4DA76AF66}"/>
              </a:ext>
            </a:extLst>
          </p:cNvPr>
          <p:cNvSpPr>
            <a:spLocks noGrp="1"/>
          </p:cNvSpPr>
          <p:nvPr/>
        </p:nvSpPr>
        <p:spPr>
          <a:xfrm>
            <a:off x="781050" y="6038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scaled/grid share extent; the free branch predicts mu_raw_all directly.</a:t>
            </a:r>
          </a:p>
        </p:txBody>
      </p:sp>
    </p:spTree>
    <p:extLst>
      <p:ext uri="{BB962C8B-B14F-4D97-AF65-F5344CB8AC3E}">
        <p14:creationId xmlns:p14="http://schemas.microsoft.com/office/powerpoint/2010/main" val="567374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A0EBF7C-11D6-4ECA-B019-B7211C3353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E32AE2-623A-4B94-92A8-0CD35FF49DDC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D593CE-E36C-483D-A91D-DD3DAE6CAB60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From q candidate slots to L_eff effective paths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5121D6-186E-4DE5-9453-B9F92ABC2D6B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Top-k Selection and Gauge Fix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62581B-73E1-4BD2-B62A-2FE4EC28D3C1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CA8403-759E-4492-BAE4-F076A8AAA19F}"/>
              </a:ext>
            </a:extLst>
          </p:cNvPr>
          <p:cNvSpPr>
            <a:spLocks noGrp="1"/>
          </p:cNvSpPr>
          <p:nvPr/>
        </p:nvSpPr>
        <p:spPr>
          <a:xfrm>
            <a:off x="819150" y="1638300"/>
            <a:ext cx="1619250" cy="571500"/>
          </a:xfrm>
          <a:prstGeom prst="roundRect">
            <a:avLst>
              <a:gd name="adj" fmla="val 13333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alpha_all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F3FC22-2E76-4EE3-8F0B-D263ECCC377A}"/>
              </a:ext>
            </a:extLst>
          </p:cNvPr>
          <p:cNvSpPr>
            <a:spLocks noGrp="1"/>
          </p:cNvSpPr>
          <p:nvPr/>
        </p:nvSpPr>
        <p:spPr>
          <a:xfrm>
            <a:off x="819150" y="2495550"/>
            <a:ext cx="1619250" cy="571500"/>
          </a:xfrm>
          <a:prstGeom prst="roundRect">
            <a:avLst>
              <a:gd name="adj" fmla="val 13333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path_prob_all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84AA68-45A5-4E94-8FCA-36366BD651B0}"/>
              </a:ext>
            </a:extLst>
          </p:cNvPr>
          <p:cNvSpPr>
            <a:spLocks noGrp="1"/>
          </p:cNvSpPr>
          <p:nvPr/>
        </p:nvSpPr>
        <p:spPr>
          <a:xfrm>
            <a:off x="3295650" y="2019300"/>
            <a:ext cx="2571750" cy="781050"/>
          </a:xfrm>
          <a:prstGeom prst="roundRect">
            <a:avLst>
              <a:gd name="adj" fmla="val 97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score = alpha_all * path_prob_all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935110-58B2-4DF0-800F-CD894DA27A9B}"/>
              </a:ext>
            </a:extLst>
          </p:cNvPr>
          <p:cNvSpPr>
            <a:spLocks noGrp="1"/>
          </p:cNvSpPr>
          <p:nvPr/>
        </p:nvSpPr>
        <p:spPr>
          <a:xfrm>
            <a:off x="6705600" y="201930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F6B26B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top-k over query dim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top_idx: B x L_eff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136495CE-E5E7-44C2-83C3-73C28E6BE0DE}"/>
              </a:ext>
            </a:extLst>
          </p:cNvPr>
          <p:cNvSpPr>
            <a:spLocks noGrp="1"/>
          </p:cNvSpPr>
          <p:nvPr/>
        </p:nvSpPr>
        <p:spPr>
          <a:xfrm>
            <a:off x="2476500" y="1924050"/>
            <a:ext cx="762000" cy="41910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A06ACBF-EDAA-4574-A367-D5AF23BAB120}"/>
              </a:ext>
            </a:extLst>
          </p:cNvPr>
          <p:cNvSpPr>
            <a:spLocks noGrp="1"/>
          </p:cNvSpPr>
          <p:nvPr/>
        </p:nvSpPr>
        <p:spPr>
          <a:xfrm>
            <a:off x="2476500" y="2457450"/>
            <a:ext cx="762000" cy="32385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14701AE-7B93-4F08-8CB0-15EE0B957611}"/>
              </a:ext>
            </a:extLst>
          </p:cNvPr>
          <p:cNvSpPr>
            <a:spLocks noGrp="1"/>
          </p:cNvSpPr>
          <p:nvPr/>
        </p:nvSpPr>
        <p:spPr>
          <a:xfrm>
            <a:off x="5905500" y="2333625"/>
            <a:ext cx="74295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F83B0AE-0ADA-4A9F-BAC1-287F5BD9BE1A}"/>
              </a:ext>
            </a:extLst>
          </p:cNvPr>
          <p:cNvSpPr>
            <a:spLocks noGrp="1"/>
          </p:cNvSpPr>
          <p:nvPr/>
        </p:nvSpPr>
        <p:spPr>
          <a:xfrm>
            <a:off x="1066800" y="3905250"/>
            <a:ext cx="2000250" cy="609600"/>
          </a:xfrm>
          <a:prstGeom prst="roundRect">
            <a:avLst>
              <a:gd name="adj" fmla="val 12500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mu_raw_all -&gt; mu_raw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ACE421F-46BD-4852-9B25-8BEF26741951}"/>
              </a:ext>
            </a:extLst>
          </p:cNvPr>
          <p:cNvSpPr>
            <a:spLocks noGrp="1"/>
          </p:cNvSpPr>
          <p:nvPr/>
        </p:nvSpPr>
        <p:spPr>
          <a:xfrm>
            <a:off x="2066925" y="2838450"/>
            <a:ext cx="5819775" cy="1028700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EDF16C-441E-410C-A821-6733D4D396CC}"/>
              </a:ext>
            </a:extLst>
          </p:cNvPr>
          <p:cNvSpPr>
            <a:spLocks noGrp="1"/>
          </p:cNvSpPr>
          <p:nvPr/>
        </p:nvSpPr>
        <p:spPr>
          <a:xfrm>
            <a:off x="3371850" y="3905250"/>
            <a:ext cx="2000250" cy="609600"/>
          </a:xfrm>
          <a:prstGeom prst="roundRect">
            <a:avLst>
              <a:gd name="adj" fmla="val 12500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rho_raw_all -&gt; rho_raw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084C6B52-B3B6-4193-B488-50EB295F6C16}"/>
              </a:ext>
            </a:extLst>
          </p:cNvPr>
          <p:cNvSpPr>
            <a:spLocks noGrp="1"/>
          </p:cNvSpPr>
          <p:nvPr/>
        </p:nvSpPr>
        <p:spPr>
          <a:xfrm>
            <a:off x="4371975" y="2838450"/>
            <a:ext cx="3514725" cy="1028700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61311C-C172-43D4-8C64-CBCAF2C7ED18}"/>
              </a:ext>
            </a:extLst>
          </p:cNvPr>
          <p:cNvSpPr>
            <a:spLocks noGrp="1"/>
          </p:cNvSpPr>
          <p:nvPr/>
        </p:nvSpPr>
        <p:spPr>
          <a:xfrm>
            <a:off x="5676900" y="3905250"/>
            <a:ext cx="2000250" cy="609600"/>
          </a:xfrm>
          <a:prstGeom prst="roundRect">
            <a:avLst>
              <a:gd name="adj" fmla="val 12500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alpha_all -&gt; alpha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F7B77115-15A0-4847-8905-85D1CCE4229C}"/>
              </a:ext>
            </a:extLst>
          </p:cNvPr>
          <p:cNvSpPr>
            <a:spLocks noGrp="1"/>
          </p:cNvSpPr>
          <p:nvPr/>
        </p:nvSpPr>
        <p:spPr>
          <a:xfrm>
            <a:off x="6677025" y="2838450"/>
            <a:ext cx="1209675" cy="1028700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A40595D-4944-4E93-A230-74D42795E8AC}"/>
              </a:ext>
            </a:extLst>
          </p:cNvPr>
          <p:cNvSpPr>
            <a:spLocks noGrp="1"/>
          </p:cNvSpPr>
          <p:nvPr/>
        </p:nvSpPr>
        <p:spPr>
          <a:xfrm>
            <a:off x="7981950" y="3905250"/>
            <a:ext cx="2000250" cy="609600"/>
          </a:xfrm>
          <a:prstGeom prst="roundRect">
            <a:avLst>
              <a:gd name="adj" fmla="val 12500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path_prob_all -&gt; path_prob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D24827C6-8C80-4443-98D2-A99C21F858C9}"/>
              </a:ext>
            </a:extLst>
          </p:cNvPr>
          <p:cNvSpPr>
            <a:spLocks noGrp="1"/>
          </p:cNvSpPr>
          <p:nvPr/>
        </p:nvSpPr>
        <p:spPr>
          <a:xfrm>
            <a:off x="7886700" y="2838450"/>
            <a:ext cx="1095375" cy="1028700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12717E5-C7F1-4523-9100-524254E60005}"/>
              </a:ext>
            </a:extLst>
          </p:cNvPr>
          <p:cNvSpPr>
            <a:spLocks noGrp="1"/>
          </p:cNvSpPr>
          <p:nvPr/>
        </p:nvSpPr>
        <p:spPr>
          <a:xfrm>
            <a:off x="1657350" y="5257800"/>
            <a:ext cx="2571750" cy="819150"/>
          </a:xfrm>
          <a:prstGeom prst="roundRect">
            <a:avLst>
              <a:gd name="adj" fmla="val 9302"/>
            </a:avLst>
          </a:prstGeom>
          <a:solidFill>
            <a:srgbClr val="F6B26B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gauge_fix_mu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mu0 = max(mu_raw)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mu_rel = mu_raw - mu0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9E73BC-2675-4C62-A85F-8D4B8B4830C1}"/>
              </a:ext>
            </a:extLst>
          </p:cNvPr>
          <p:cNvSpPr>
            <a:spLocks noGrp="1"/>
          </p:cNvSpPr>
          <p:nvPr/>
        </p:nvSpPr>
        <p:spPr>
          <a:xfrm>
            <a:off x="4819650" y="5257800"/>
            <a:ext cx="2571750" cy="819150"/>
          </a:xfrm>
          <a:prstGeom prst="roundRect">
            <a:avLst>
              <a:gd name="adj" fmla="val 9302"/>
            </a:avLst>
          </a:prstGeom>
          <a:solidFill>
            <a:srgbClr val="F6B26B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gauge_fix_rho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rho0 = mean(rho_raw)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rho_rel = rho_raw - rho0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00774D2-661C-4414-ABBE-D9B89939DBAD}"/>
              </a:ext>
            </a:extLst>
          </p:cNvPr>
          <p:cNvSpPr>
            <a:spLocks noGrp="1"/>
          </p:cNvSpPr>
          <p:nvPr/>
        </p:nvSpPr>
        <p:spPr>
          <a:xfrm>
            <a:off x="7962900" y="5257800"/>
            <a:ext cx="2667000" cy="819150"/>
          </a:xfrm>
          <a:prstGeom prst="roundRect">
            <a:avLst>
              <a:gd name="adj" fmla="val 9302"/>
            </a:avLst>
          </a:prstGeom>
          <a:solidFill>
            <a:srgbClr val="F6B26B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delta path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fmap -&gt; pool -&gt; delta_mlp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N_rx -&gt; relative offsets</a:t>
            </a:r>
          </a:p>
        </p:txBody>
      </p:sp>
    </p:spTree>
    <p:extLst>
      <p:ext uri="{BB962C8B-B14F-4D97-AF65-F5344CB8AC3E}">
        <p14:creationId xmlns:p14="http://schemas.microsoft.com/office/powerpoint/2010/main" val="744056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4E000663-4E7F-4690-A1F1-3BE305B74A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5D0D6D-8E10-4AD0-B20F-AC67C34E9AAF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6312CF-2A98-4E9D-B4D7-2D452F98D9A4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Currently used forward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7A229C-019B-476B-80A4-E29E933F1A54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Output Interface and Closing 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63DFF5-31CF-43BF-95D2-6871364FB047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B87D31-43E5-49AA-B4E7-C04984A18F25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2476500" cy="609600"/>
          </a:xfrm>
          <a:prstGeom prst="roundRect">
            <a:avLst>
              <a:gd name="adj" fmla="val 12500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theta dict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CF423D-40C2-490C-80FF-1BCB32E26DDC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1188720" cy="45720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F0F2F9-B015-49A1-838E-69E7ADF60EA1}"/>
              </a:ext>
            </a:extLst>
          </p:cNvPr>
          <p:cNvSpPr>
            <a:spLocks noGrp="1"/>
          </p:cNvSpPr>
          <p:nvPr/>
        </p:nvSpPr>
        <p:spPr>
          <a:xfrm>
            <a:off x="933450" y="23336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Field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2EDE23-D6AE-4A71-B073-E00A5B56643C}"/>
              </a:ext>
            </a:extLst>
          </p:cNvPr>
          <p:cNvSpPr>
            <a:spLocks noGrp="1"/>
          </p:cNvSpPr>
          <p:nvPr/>
        </p:nvSpPr>
        <p:spPr>
          <a:xfrm>
            <a:off x="2045970" y="2286000"/>
            <a:ext cx="1188720" cy="45720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01394A-B790-4931-B789-57E21442EEE0}"/>
              </a:ext>
            </a:extLst>
          </p:cNvPr>
          <p:cNvSpPr>
            <a:spLocks noGrp="1"/>
          </p:cNvSpPr>
          <p:nvPr/>
        </p:nvSpPr>
        <p:spPr>
          <a:xfrm>
            <a:off x="2122170" y="23336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Shape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47D997-0DA4-4AC6-A120-55D37A488AC1}"/>
              </a:ext>
            </a:extLst>
          </p:cNvPr>
          <p:cNvSpPr>
            <a:spLocks noGrp="1"/>
          </p:cNvSpPr>
          <p:nvPr/>
        </p:nvSpPr>
        <p:spPr>
          <a:xfrm>
            <a:off x="3234690" y="2286000"/>
            <a:ext cx="2575560" cy="45720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2811DF-2B38-4A74-9EB7-4C66B8D552DD}"/>
              </a:ext>
            </a:extLst>
          </p:cNvPr>
          <p:cNvSpPr>
            <a:spLocks noGrp="1"/>
          </p:cNvSpPr>
          <p:nvPr/>
        </p:nvSpPr>
        <p:spPr>
          <a:xfrm>
            <a:off x="3310890" y="23336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Description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822346-4425-4D36-8AA2-BE11EC28C0C6}"/>
              </a:ext>
            </a:extLst>
          </p:cNvPr>
          <p:cNvSpPr>
            <a:spLocks noGrp="1"/>
          </p:cNvSpPr>
          <p:nvPr/>
        </p:nvSpPr>
        <p:spPr>
          <a:xfrm>
            <a:off x="857250" y="27432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7ADB8E-779F-4681-ABE4-611EFFA7D159}"/>
              </a:ext>
            </a:extLst>
          </p:cNvPr>
          <p:cNvSpPr>
            <a:spLocks noGrp="1"/>
          </p:cNvSpPr>
          <p:nvPr/>
        </p:nvSpPr>
        <p:spPr>
          <a:xfrm>
            <a:off x="933450" y="27908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mu0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24BFB9-54A6-43D0-85AA-87A82C3440F9}"/>
              </a:ext>
            </a:extLst>
          </p:cNvPr>
          <p:cNvSpPr>
            <a:spLocks noGrp="1"/>
          </p:cNvSpPr>
          <p:nvPr/>
        </p:nvSpPr>
        <p:spPr>
          <a:xfrm>
            <a:off x="2045970" y="27432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305AA5-15A0-4CF9-8203-503E91C9E5FF}"/>
              </a:ext>
            </a:extLst>
          </p:cNvPr>
          <p:cNvSpPr>
            <a:spLocks noGrp="1"/>
          </p:cNvSpPr>
          <p:nvPr/>
        </p:nvSpPr>
        <p:spPr>
          <a:xfrm>
            <a:off x="2122170" y="27908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81EA8D-7BEE-4061-860F-CE526090292E}"/>
              </a:ext>
            </a:extLst>
          </p:cNvPr>
          <p:cNvSpPr>
            <a:spLocks noGrp="1"/>
          </p:cNvSpPr>
          <p:nvPr/>
        </p:nvSpPr>
        <p:spPr>
          <a:xfrm>
            <a:off x="3234690" y="2743200"/>
            <a:ext cx="2575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1924C9-6E72-489C-A45D-68AA86E5A2F4}"/>
              </a:ext>
            </a:extLst>
          </p:cNvPr>
          <p:cNvSpPr>
            <a:spLocks noGrp="1"/>
          </p:cNvSpPr>
          <p:nvPr/>
        </p:nvSpPr>
        <p:spPr>
          <a:xfrm>
            <a:off x="3310890" y="27908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reference value for path-position parameter mu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3875DB-3418-4441-8AB5-D762F72957EA}"/>
              </a:ext>
            </a:extLst>
          </p:cNvPr>
          <p:cNvSpPr>
            <a:spLocks noGrp="1"/>
          </p:cNvSpPr>
          <p:nvPr/>
        </p:nvSpPr>
        <p:spPr>
          <a:xfrm>
            <a:off x="857250" y="3200400"/>
            <a:ext cx="118872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DFE840-3CF4-4241-ADDA-F0A0CAE3A642}"/>
              </a:ext>
            </a:extLst>
          </p:cNvPr>
          <p:cNvSpPr>
            <a:spLocks noGrp="1"/>
          </p:cNvSpPr>
          <p:nvPr/>
        </p:nvSpPr>
        <p:spPr>
          <a:xfrm>
            <a:off x="933450" y="32480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rho0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7BAF4E-9AA2-47D2-9871-57E5228AA16A}"/>
              </a:ext>
            </a:extLst>
          </p:cNvPr>
          <p:cNvSpPr>
            <a:spLocks noGrp="1"/>
          </p:cNvSpPr>
          <p:nvPr/>
        </p:nvSpPr>
        <p:spPr>
          <a:xfrm>
            <a:off x="2045970" y="3200400"/>
            <a:ext cx="118872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DEEACD-0B39-4DA6-BF0A-925D447C7402}"/>
              </a:ext>
            </a:extLst>
          </p:cNvPr>
          <p:cNvSpPr>
            <a:spLocks noGrp="1"/>
          </p:cNvSpPr>
          <p:nvPr/>
        </p:nvSpPr>
        <p:spPr>
          <a:xfrm>
            <a:off x="2122170" y="32480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046941-6E7A-495B-876E-3D37BB72D204}"/>
              </a:ext>
            </a:extLst>
          </p:cNvPr>
          <p:cNvSpPr>
            <a:spLocks noGrp="1"/>
          </p:cNvSpPr>
          <p:nvPr/>
        </p:nvSpPr>
        <p:spPr>
          <a:xfrm>
            <a:off x="3234690" y="3200400"/>
            <a:ext cx="257556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4CB13C-AAA1-4F72-B363-C7E3006DAE87}"/>
              </a:ext>
            </a:extLst>
          </p:cNvPr>
          <p:cNvSpPr>
            <a:spLocks noGrp="1"/>
          </p:cNvSpPr>
          <p:nvPr/>
        </p:nvSpPr>
        <p:spPr>
          <a:xfrm>
            <a:off x="3310890" y="32480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reference value for path-position parameter rho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52346B-3F9E-40A9-8278-83CF9EB1D363}"/>
              </a:ext>
            </a:extLst>
          </p:cNvPr>
          <p:cNvSpPr>
            <a:spLocks noGrp="1"/>
          </p:cNvSpPr>
          <p:nvPr/>
        </p:nvSpPr>
        <p:spPr>
          <a:xfrm>
            <a:off x="857250" y="36576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CC0728-E05F-437F-8981-9E62281CD307}"/>
              </a:ext>
            </a:extLst>
          </p:cNvPr>
          <p:cNvSpPr>
            <a:spLocks noGrp="1"/>
          </p:cNvSpPr>
          <p:nvPr/>
        </p:nvSpPr>
        <p:spPr>
          <a:xfrm>
            <a:off x="933450" y="37052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delta_rx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BD158A-4FEC-4A7A-9B90-27C854F0ACB7}"/>
              </a:ext>
            </a:extLst>
          </p:cNvPr>
          <p:cNvSpPr>
            <a:spLocks noGrp="1"/>
          </p:cNvSpPr>
          <p:nvPr/>
        </p:nvSpPr>
        <p:spPr>
          <a:xfrm>
            <a:off x="2045970" y="36576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DFD273-743C-4DC9-9077-ECC144D33421}"/>
              </a:ext>
            </a:extLst>
          </p:cNvPr>
          <p:cNvSpPr>
            <a:spLocks noGrp="1"/>
          </p:cNvSpPr>
          <p:nvPr/>
        </p:nvSpPr>
        <p:spPr>
          <a:xfrm>
            <a:off x="2122170" y="37052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N_rx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943F44-D68F-4A5C-909F-15981BC6ECA6}"/>
              </a:ext>
            </a:extLst>
          </p:cNvPr>
          <p:cNvSpPr>
            <a:spLocks noGrp="1"/>
          </p:cNvSpPr>
          <p:nvPr/>
        </p:nvSpPr>
        <p:spPr>
          <a:xfrm>
            <a:off x="3234690" y="3657600"/>
            <a:ext cx="2575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23B3F6-6657-4B03-9463-F9BE96200B3F}"/>
              </a:ext>
            </a:extLst>
          </p:cNvPr>
          <p:cNvSpPr>
            <a:spLocks noGrp="1"/>
          </p:cNvSpPr>
          <p:nvPr/>
        </p:nvSpPr>
        <p:spPr>
          <a:xfrm>
            <a:off x="3310890" y="37052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receiver-side relative offsets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E861E0-8439-46FA-AE2B-A2EE39FA38BD}"/>
              </a:ext>
            </a:extLst>
          </p:cNvPr>
          <p:cNvSpPr>
            <a:spLocks noGrp="1"/>
          </p:cNvSpPr>
          <p:nvPr/>
        </p:nvSpPr>
        <p:spPr>
          <a:xfrm>
            <a:off x="857250" y="4114800"/>
            <a:ext cx="118872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7450AF-F66D-4BCE-A1A5-A7A29042FED4}"/>
              </a:ext>
            </a:extLst>
          </p:cNvPr>
          <p:cNvSpPr>
            <a:spLocks noGrp="1"/>
          </p:cNvSpPr>
          <p:nvPr/>
        </p:nvSpPr>
        <p:spPr>
          <a:xfrm>
            <a:off x="933450" y="41624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mu_rel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C18B3C-6148-41B8-89F5-9A45685D1CDB}"/>
              </a:ext>
            </a:extLst>
          </p:cNvPr>
          <p:cNvSpPr>
            <a:spLocks noGrp="1"/>
          </p:cNvSpPr>
          <p:nvPr/>
        </p:nvSpPr>
        <p:spPr>
          <a:xfrm>
            <a:off x="2045970" y="4114800"/>
            <a:ext cx="118872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C6D23E0-9A62-4592-A9D6-0B8ABDD7F5D7}"/>
              </a:ext>
            </a:extLst>
          </p:cNvPr>
          <p:cNvSpPr>
            <a:spLocks noGrp="1"/>
          </p:cNvSpPr>
          <p:nvPr/>
        </p:nvSpPr>
        <p:spPr>
          <a:xfrm>
            <a:off x="2122170" y="41624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4344429-F832-4EA3-9715-0D624D43DD45}"/>
              </a:ext>
            </a:extLst>
          </p:cNvPr>
          <p:cNvSpPr>
            <a:spLocks noGrp="1"/>
          </p:cNvSpPr>
          <p:nvPr/>
        </p:nvSpPr>
        <p:spPr>
          <a:xfrm>
            <a:off x="3234690" y="4114800"/>
            <a:ext cx="257556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E5C9B32-F42A-4D4B-87B1-39E4CE81716A}"/>
              </a:ext>
            </a:extLst>
          </p:cNvPr>
          <p:cNvSpPr>
            <a:spLocks noGrp="1"/>
          </p:cNvSpPr>
          <p:nvPr/>
        </p:nvSpPr>
        <p:spPr>
          <a:xfrm>
            <a:off x="3310890" y="41624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relative mu of effective paths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18E495-D12A-48AC-ABD1-9E9F9674C460}"/>
              </a:ext>
            </a:extLst>
          </p:cNvPr>
          <p:cNvSpPr>
            <a:spLocks noGrp="1"/>
          </p:cNvSpPr>
          <p:nvPr/>
        </p:nvSpPr>
        <p:spPr>
          <a:xfrm>
            <a:off x="857250" y="45720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AD83F4-D923-4764-80D5-81F690805A66}"/>
              </a:ext>
            </a:extLst>
          </p:cNvPr>
          <p:cNvSpPr>
            <a:spLocks noGrp="1"/>
          </p:cNvSpPr>
          <p:nvPr/>
        </p:nvSpPr>
        <p:spPr>
          <a:xfrm>
            <a:off x="933450" y="46196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rho_rel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37A525E-7F10-4310-A34A-47D749DA4905}"/>
              </a:ext>
            </a:extLst>
          </p:cNvPr>
          <p:cNvSpPr>
            <a:spLocks noGrp="1"/>
          </p:cNvSpPr>
          <p:nvPr/>
        </p:nvSpPr>
        <p:spPr>
          <a:xfrm>
            <a:off x="2045970" y="45720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632925-A9E6-433A-9C27-C60DFA967F23}"/>
              </a:ext>
            </a:extLst>
          </p:cNvPr>
          <p:cNvSpPr>
            <a:spLocks noGrp="1"/>
          </p:cNvSpPr>
          <p:nvPr/>
        </p:nvSpPr>
        <p:spPr>
          <a:xfrm>
            <a:off x="2122170" y="46196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CA8ACF0-8B47-48E6-8F03-7476DC57EEC7}"/>
              </a:ext>
            </a:extLst>
          </p:cNvPr>
          <p:cNvSpPr>
            <a:spLocks noGrp="1"/>
          </p:cNvSpPr>
          <p:nvPr/>
        </p:nvSpPr>
        <p:spPr>
          <a:xfrm>
            <a:off x="3234690" y="4572000"/>
            <a:ext cx="2575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966D7F2-2BAE-4458-97E3-DA9393FC72C1}"/>
              </a:ext>
            </a:extLst>
          </p:cNvPr>
          <p:cNvSpPr>
            <a:spLocks noGrp="1"/>
          </p:cNvSpPr>
          <p:nvPr/>
        </p:nvSpPr>
        <p:spPr>
          <a:xfrm>
            <a:off x="3310890" y="46196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relative rho of effective paths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4DDF2CB-7917-4D44-AB1B-3717B61387B1}"/>
              </a:ext>
            </a:extLst>
          </p:cNvPr>
          <p:cNvSpPr>
            <a:spLocks noGrp="1"/>
          </p:cNvSpPr>
          <p:nvPr/>
        </p:nvSpPr>
        <p:spPr>
          <a:xfrm>
            <a:off x="6572250" y="19240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</a:t>
            </a:r>
          </a:p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839572B-F96C-406D-943F-16CB6FB1556D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</a:t>
            </a:r>
          </a:p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93497ED-8637-4F29-B871-EB546D1D3136}"/>
              </a:ext>
            </a:extLst>
          </p:cNvPr>
          <p:cNvSpPr>
            <a:spLocks noGrp="1"/>
          </p:cNvSpPr>
          <p:nvPr/>
        </p:nvSpPr>
        <p:spPr>
          <a:xfrm>
            <a:off x="7715250" y="31432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mix_lambda</a:t>
            </a:r>
          </a:p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CCB1A2A-C4AE-40B9-B9A4-4CA17148E3B8}"/>
              </a:ext>
            </a:extLst>
          </p:cNvPr>
          <p:cNvSpPr>
            <a:spLocks noGrp="1"/>
          </p:cNvSpPr>
          <p:nvPr/>
        </p:nvSpPr>
        <p:spPr>
          <a:xfrm>
            <a:off x="6858000" y="4762500"/>
            <a:ext cx="3429000" cy="781050"/>
          </a:xfrm>
          <a:prstGeom prst="roundRect">
            <a:avLst>
              <a:gd name="adj" fmla="val 9756"/>
            </a:avLst>
          </a:prstGeom>
          <a:solidFill>
            <a:srgbClr val="EEF1F5"/>
          </a:solidFill>
          <a:ln w="19050">
            <a:solidFill>
              <a:srgbClr val="9AA3AF"/>
            </a:solidFill>
            <a:prstDash val="dash"/>
          </a:ln>
        </p:spPr>
        <p:txBody>
          <a:bodyPr lIns="95250" tIns="57150" rIns="95250" bIns="57150" anchor="ctr"/>
          <a:lstStyle/>
          <a:p>
            <a:pPr algn="ctr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 head / G_hat</a:t>
            </a:r>
          </a:p>
          <a:p>
            <a:pPr algn="ctr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not expanded as a used path in this version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CA6D601-338B-4C54-8AF1-8551543875F0}"/>
              </a:ext>
            </a:extLst>
          </p:cNvPr>
          <p:cNvSpPr>
            <a:spLocks noGrp="1"/>
          </p:cNvSpPr>
          <p:nvPr/>
        </p:nvSpPr>
        <p:spPr>
          <a:xfrm>
            <a:off x="876300" y="57626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9C3ADA-7FEA-41BC-96AF-28BB446A3773}"/>
              </a:ext>
            </a:extLst>
          </p:cNvPr>
          <p:cNvSpPr>
            <a:spLocks noGrp="1"/>
          </p:cNvSpPr>
          <p:nvPr/>
        </p:nvSpPr>
        <p:spPr>
          <a:xfrm>
            <a:off x="1047750" y="5715000"/>
            <a:ext cx="6496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pack_slope_theta is not used in this forward path; the model returns a dict.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51E6825-DDE8-4B63-B08D-265E65EE6153}"/>
              </a:ext>
            </a:extLst>
          </p:cNvPr>
          <p:cNvSpPr>
            <a:spLocks noGrp="1"/>
          </p:cNvSpPr>
          <p:nvPr/>
        </p:nvSpPr>
        <p:spPr>
          <a:xfrm>
            <a:off x="876300" y="604837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F14032-B2B6-4C4F-9E39-99D52FB4968D}"/>
              </a:ext>
            </a:extLst>
          </p:cNvPr>
          <p:cNvSpPr>
            <a:spLocks noGrp="1"/>
          </p:cNvSpPr>
          <p:nvPr/>
        </p:nvSpPr>
        <p:spPr>
          <a:xfrm>
            <a:off x="1047750" y="6000750"/>
            <a:ext cx="6496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The main story ends at theta, alpha, path_prob, and mix_lambda.</a:t>
            </a:r>
          </a:p>
        </p:txBody>
      </p:sp>
    </p:spTree>
    <p:extLst>
      <p:ext uri="{BB962C8B-B14F-4D97-AF65-F5344CB8AC3E}">
        <p14:creationId xmlns:p14="http://schemas.microsoft.com/office/powerpoint/2010/main" val="856886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475858-91EC-0AE8-6422-56D487151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6929"/>
            <a:ext cx="12192000" cy="294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52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405CD9-2831-D15E-42F1-8F0F6D8E5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630"/>
            <a:ext cx="12192000" cy="472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69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DD2C08-893E-7A35-BE5E-2B86CFAE9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4" y="1314449"/>
            <a:ext cx="3228975" cy="866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3D2829-1F1F-FD31-2071-D68A7F32C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313" y="1676400"/>
            <a:ext cx="2876550" cy="647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DFDDD7-38A8-FE32-867A-A9EB02BA6885}"/>
              </a:ext>
            </a:extLst>
          </p:cNvPr>
          <p:cNvSpPr txBox="1"/>
          <p:nvPr/>
        </p:nvSpPr>
        <p:spPr>
          <a:xfrm>
            <a:off x="3043238" y="333375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丢掉小的奇异值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0CA47A-5B63-C114-FEDA-1243B4C21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371" y="2938462"/>
            <a:ext cx="18669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12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15F71A-338D-821A-4D87-524C40465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119437"/>
            <a:ext cx="2895600" cy="619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5A6AEB-E5A9-DD90-3B7D-50142254B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512" y="2995612"/>
            <a:ext cx="32289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988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B725C4-FC58-EE66-34F2-EF7A6593C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01" y="355600"/>
            <a:ext cx="6079349" cy="407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299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</TotalTime>
  <Words>1511</Words>
  <Application>Microsoft Office PowerPoint</Application>
  <DocSecurity>0</DocSecurity>
  <PresentationFormat>Widescreen</PresentationFormat>
  <Paragraphs>264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Microsoft YaHei</vt:lpstr>
      <vt:lpstr>Microsoft YaHei UI</vt:lpstr>
      <vt:lpstr>Aptos Mono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Yixin Zhang</cp:lastModifiedBy>
  <cp:revision>9</cp:revision>
  <dcterms:created xsi:type="dcterms:W3CDTF">2026-05-28T07:49:50Z</dcterms:created>
  <dcterms:modified xsi:type="dcterms:W3CDTF">2026-05-29T12:30:03Z</dcterms:modified>
</cp:coreProperties>
</file>