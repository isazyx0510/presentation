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48a11e3f54af6" /><Relationship Type="http://schemas.openxmlformats.org/officeDocument/2006/relationships/extended-properties" Target="/docProps/app.xml" Id="R0cc14484ce64477f" /><Relationship Type="http://schemas.openxmlformats.org/officeDocument/2006/relationships/officeDocument" Target="/ppt/presentation.xml" Id="R815943bdefa647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aebcb90999405d"/>
  </p:sldMasterIdLst>
  <p:notesMasterIdLst>
    <p:notesMasterId xmlns:r="http://schemas.openxmlformats.org/officeDocument/2006/relationships" r:id="R7dd690b39c894e91"/>
  </p:notesMasterIdLst>
  <p:sldIdLst>
    <p:sldId xmlns:r="http://schemas.openxmlformats.org/officeDocument/2006/relationships" id="256" r:id="R6a3ae245f85a432b"/>
    <p:sldId xmlns:r="http://schemas.openxmlformats.org/officeDocument/2006/relationships" id="257" r:id="R418069f47ec44e9a"/>
    <p:sldId xmlns:r="http://schemas.openxmlformats.org/officeDocument/2006/relationships" id="258" r:id="R43b424d1ae8e4543"/>
    <p:sldId xmlns:r="http://schemas.openxmlformats.org/officeDocument/2006/relationships" id="259" r:id="Rcdc6a88acade4ca0"/>
    <p:sldId xmlns:r="http://schemas.openxmlformats.org/officeDocument/2006/relationships" id="260" r:id="Recec508354024c42"/>
    <p:sldId xmlns:r="http://schemas.openxmlformats.org/officeDocument/2006/relationships" id="261" r:id="Rbf2da99bcde44f21"/>
    <p:sldId xmlns:r="http://schemas.openxmlformats.org/officeDocument/2006/relationships" id="262" r:id="R4e9459acf0d84d8c"/>
    <p:sldId xmlns:r="http://schemas.openxmlformats.org/officeDocument/2006/relationships" id="263" r:id="R67590852188c463b"/>
    <p:sldId xmlns:r="http://schemas.openxmlformats.org/officeDocument/2006/relationships" id="264" r:id="Rb7a0656de58e41a2"/>
    <p:sldId xmlns:r="http://schemas.openxmlformats.org/officeDocument/2006/relationships" id="265" r:id="Rd588cb9ce9f540ae"/>
    <p:sldId xmlns:r="http://schemas.openxmlformats.org/officeDocument/2006/relationships" id="266" r:id="R314a62cf02ee49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ebcb90999405d" /><Relationship Type="http://schemas.openxmlformats.org/officeDocument/2006/relationships/theme" Target="/ppt/theme/theme1.xml" Id="R27b2fe25227543fc" /><Relationship Type="http://schemas.openxmlformats.org/officeDocument/2006/relationships/notesMaster" Target="/ppt/notesMasters/notesMaster1.xml" Id="R7dd690b39c894e91" /><Relationship Type="http://schemas.openxmlformats.org/officeDocument/2006/relationships/presProps" Target="/ppt/presProps.xml" Id="R2b754077f99e46d0" /><Relationship Type="http://schemas.openxmlformats.org/officeDocument/2006/relationships/viewProps" Target="/ppt/viewProps.xml" Id="Rf2b11e41d4a64374" /><Relationship Type="http://schemas.openxmlformats.org/officeDocument/2006/relationships/tableStyles" Target="/ppt/tableStyles.xml" Id="R617069a870b844f7" /><Relationship Type="http://schemas.openxmlformats.org/officeDocument/2006/relationships/slide" Target="/ppt/slides/slide1.xml" Id="R6a3ae245f85a432b" /><Relationship Type="http://schemas.openxmlformats.org/officeDocument/2006/relationships/slide" Target="/ppt/slides/slide2.xml" Id="R418069f47ec44e9a" /><Relationship Type="http://schemas.openxmlformats.org/officeDocument/2006/relationships/slide" Target="/ppt/slides/slide3.xml" Id="R43b424d1ae8e4543" /><Relationship Type="http://schemas.openxmlformats.org/officeDocument/2006/relationships/slide" Target="/ppt/slides/slide4.xml" Id="Rcdc6a88acade4ca0" /><Relationship Type="http://schemas.openxmlformats.org/officeDocument/2006/relationships/slide" Target="/ppt/slides/slide5.xml" Id="Recec508354024c42" /><Relationship Type="http://schemas.openxmlformats.org/officeDocument/2006/relationships/slide" Target="/ppt/slides/slide6.xml" Id="Rbf2da99bcde44f21" /><Relationship Type="http://schemas.openxmlformats.org/officeDocument/2006/relationships/slide" Target="/ppt/slides/slide7.xml" Id="R4e9459acf0d84d8c" /><Relationship Type="http://schemas.openxmlformats.org/officeDocument/2006/relationships/slide" Target="/ppt/slides/slide8.xml" Id="R67590852188c463b" /><Relationship Type="http://schemas.openxmlformats.org/officeDocument/2006/relationships/slide" Target="/ppt/slides/slide9.xml" Id="Rb7a0656de58e41a2" /><Relationship Type="http://schemas.openxmlformats.org/officeDocument/2006/relationships/slide" Target="/ppt/slides/slide10.xml" Id="Rd588cb9ce9f540ae" /><Relationship Type="http://schemas.openxmlformats.org/officeDocument/2006/relationships/slide" Target="/ppt/slides/slide11.xml" Id="R314a62cf02ee49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4d0b761314748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a11ddc2f64e00" /><Relationship Type="http://schemas.openxmlformats.org/officeDocument/2006/relationships/notesMaster" Target="/ppt/notesMasters/notesMaster1.xml" Id="Rf9bbd40943ba40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d0f67df7df4f17" /><Relationship Type="http://schemas.openxmlformats.org/officeDocument/2006/relationships/notesMaster" Target="/ppt/notesMasters/notesMaster1.xml" Id="R4935d6cb473d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6f527e6ec4462" /><Relationship Type="http://schemas.openxmlformats.org/officeDocument/2006/relationships/notesMaster" Target="/ppt/notesMasters/notesMaster1.xml" Id="Rcf421bbd247c47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44c5a413414873" /><Relationship Type="http://schemas.openxmlformats.org/officeDocument/2006/relationships/notesMaster" Target="/ppt/notesMasters/notesMaster1.xml" Id="Rd5e28166d98546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aab25362854a47" /><Relationship Type="http://schemas.openxmlformats.org/officeDocument/2006/relationships/notesMaster" Target="/ppt/notesMasters/notesMaster1.xml" Id="Rce14e88f790f4e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1a169b08a14c55" /><Relationship Type="http://schemas.openxmlformats.org/officeDocument/2006/relationships/notesMaster" Target="/ppt/notesMasters/notesMaster1.xml" Id="R9998b9f435a948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4bad8417aa421c" /><Relationship Type="http://schemas.openxmlformats.org/officeDocument/2006/relationships/notesMaster" Target="/ppt/notesMasters/notesMaster1.xml" Id="R627e40648a1f48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ec2e18f1d44b05" /><Relationship Type="http://schemas.openxmlformats.org/officeDocument/2006/relationships/notesMaster" Target="/ppt/notesMasters/notesMaster1.xml" Id="Rae2745a1e5d547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eec98e182544e6" /><Relationship Type="http://schemas.openxmlformats.org/officeDocument/2006/relationships/notesMaster" Target="/ppt/notesMasters/notesMaster1.xml" Id="R93d2a2c68e1f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a11757ddc24de3" /><Relationship Type="http://schemas.openxmlformats.org/officeDocument/2006/relationships/notesMaster" Target="/ppt/notesMasters/notesMaster1.xml" Id="R8e1bc9065b9245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5c6afbdacc4b5b" /><Relationship Type="http://schemas.openxmlformats.org/officeDocument/2006/relationships/notesMaster" Target="/ppt/notesMasters/notesMaster1.xml" Id="R7d1c6ef3c852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2ef800a7b4c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ddef634711e4b58" /><Relationship Type="http://schemas.openxmlformats.org/officeDocument/2006/relationships/slideLayout" Target="/ppt/slideLayouts/slideLayout2.xml" Id="R5655a7cc6c794f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5a7cc6c794f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f8a26eba94940" /><Relationship Type="http://schemas.openxmlformats.org/officeDocument/2006/relationships/notesSlide" Target="/ppt/notesSlides/notesSlide1.xml" Id="R301b234ebcc049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b84d2d00e43b5" /><Relationship Type="http://schemas.openxmlformats.org/officeDocument/2006/relationships/notesSlide" Target="/ppt/notesSlides/notesSlide2.xml" Id="R725e792d1b894b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5c034e053547ff" /><Relationship Type="http://schemas.openxmlformats.org/officeDocument/2006/relationships/notesSlide" Target="/ppt/notesSlides/notesSlide3.xml" Id="R366676f9324044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b9cbc098e443db" /><Relationship Type="http://schemas.openxmlformats.org/officeDocument/2006/relationships/notesSlide" Target="/ppt/notesSlides/notesSlide4.xml" Id="R765e57dbc8514b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b743f36074773" /><Relationship Type="http://schemas.openxmlformats.org/officeDocument/2006/relationships/notesSlide" Target="/ppt/notesSlides/notesSlide5.xml" Id="Rdd742b636bec48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a582df7d9b4a3e" /><Relationship Type="http://schemas.openxmlformats.org/officeDocument/2006/relationships/notesSlide" Target="/ppt/notesSlides/notesSlide6.xml" Id="Rd93910870ca343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5e0c601ab342b9" /><Relationship Type="http://schemas.openxmlformats.org/officeDocument/2006/relationships/notesSlide" Target="/ppt/notesSlides/notesSlide7.xml" Id="R8f2a41db5a3845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ff597bee0a4244" /><Relationship Type="http://schemas.openxmlformats.org/officeDocument/2006/relationships/notesSlide" Target="/ppt/notesSlides/notesSlide8.xml" Id="Rb5fc8af2465245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59a5ae23424235" /><Relationship Type="http://schemas.openxmlformats.org/officeDocument/2006/relationships/notesSlide" Target="/ppt/notesSlides/notesSlide9.xml" Id="R10303f48a6b146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325c445bc54548" /><Relationship Type="http://schemas.openxmlformats.org/officeDocument/2006/relationships/notesSlide" Target="/ppt/notesSlides/notesSlide10.xml" Id="Rf7b8a5a2d21b49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21a87e5854916" /><Relationship Type="http://schemas.openxmlformats.org/officeDocument/2006/relationships/notesSlide" Target="/ppt/notesSlides/notesSlide11.xml" Id="Red7ed5c820de4c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7E319-0FEF-4486-A5AD-94F31803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B1AC2-17E5-4594-838C-3766581A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B847F-2359-4EF0-880E-5E5B39CC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DETR 网络架构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2CD1D-A40B-400A-90B7-74EF1119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从观测张量到路径参数估计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466BE-1C42-446C-A93E-ECF6EEF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输入观测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2N_rx x N_sc x N_obs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C9B99-5154-45F5-90E4-CF3318B3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19475"/>
            <a:ext cx="609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CAB6D-0A7B-4B33-A457-C08EA921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局部特征 + 通道投影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C3C4F-8CEB-402D-A656-43700B7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19475"/>
            <a:ext cx="609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21B9A-2C62-4936-8A74-212F2D7C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480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CDB4DB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 / Decoder attention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85785-0F7C-48D4-8039-5C77CCB9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19475"/>
            <a:ext cx="609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5A8CE-4DBC-4316-8F79-CF3BF814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53DA-AF09-4968-ABEE-67B3BA6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19475"/>
            <a:ext cx="609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BA2AA-CD5D-4BEF-809D-63F9CB87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524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输出参数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theta, alpha, path_prob, mix_lambda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1C7E4-C66D-4010-8B6F-3F4D36B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展示策略：先看浅层数据流，再展开 CNN stem、attention 和各参数 head；G head 当前不作为使用路径展开。</a:t>
            </a:r>
          </a:p>
        </p:txBody>
      </p:sp>
    </p:spTree>
    <p:extLst>
      <p:ext uri="{BB962C8B-B14F-4D97-AF65-F5344CB8AC3E}">
        <p14:creationId xmlns:p14="http://schemas.microsoft.com/office/powerpoint/2010/main" val="1698713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25A52-695E-4E64-8AE5-F109E346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9E0BB-4D26-4287-A863-04C570D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9B765-D67A-40F9-8D30-290F298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主干视图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8247E-EB28-43FD-A75E-6D049CE1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整体浅层数据流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E9ADF-9655-4CB5-B10D-3225EF3F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07ECB-93A9-4906-A6C3-D60A34CA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x + 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4ED15-31D3-4836-BA98-320FC0A8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57475"/>
            <a:ext cx="1619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397DA-FB91-43F8-81C6-BA8ECF9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x: B x 2N_rx x N_sc x N_obs</a:t>
            </a:r>
          </a:p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y: training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5EA6A-C118-4BF2-9B29-B3F55E60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CNN stem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局部特征 + 通道投影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8FC7D-F7DD-4E16-AA45-1868C14F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57475"/>
            <a:ext cx="1619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9CFD3-3E77-4E14-8E0D-E11ED8C8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813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fmap: B x d_model x N_sc x N_obs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60F9B-CE72-44D4-AE9A-F8A0A51A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Token + Pos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二维 grid -&gt; token 序列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4F6E6-A160-4670-88C4-BA9772D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57475"/>
            <a:ext cx="1619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6F036-EEC9-4BEE-8FCF-91E9C56B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813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fseq: B x T x d_model</a:t>
            </a:r>
          </a:p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 = N_sc x N_obs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970A7-2A90-4BE0-AC00-EBD24005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DB4DB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self-attn over 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33BE0-BF63-494C-A32F-029FF3A5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57475"/>
            <a:ext cx="1619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53AC0-C171-445B-820F-DB5AC7FD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memory: B x T x d_model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C38EB-6956-4B08-A4B8-EEC5A83F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DB4DB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 queries attend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A51EB-937B-4674-8D12-C12E5E7D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57475"/>
            <a:ext cx="1619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35173-3500-4324-89EB-FC814A96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813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decoded: B x q x d_model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1E2DC-4E1D-4D71-A3AB-3872F2CD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Heads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 / obj / mu / rho / delta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523C8-8A6C-4DE8-A61F-71A9DD4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57475"/>
            <a:ext cx="1619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C8BCE-7FB8-4F9C-B206-0A8F8978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813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candidates: B x 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76C68-BE21-4932-A17B-3672E6B0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+ Gauge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 L_eff 条路径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254F4-93E9-41E3-86D0-A85D9F4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57475"/>
            <a:ext cx="161925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D38DA-21A1-4D80-90E0-98B6A432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81350"/>
            <a:ext cx="971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selected: B x L_eff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350F9-1810-42BD-AE76-4B08D6E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66950"/>
            <a:ext cx="1219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Outputs</a:t>
            </a:r>
          </a:p>
          <a:p xmlns:a="http://schemas.openxmlformats.org/drawingml/2006/main">
            <a:pPr algn="ctr">
              <a:def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+ scores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F05AB-9534-46DB-A633-5CC83EF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257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19050">
            <a:solidFill>
              <a:srgbClr val="9AA3AF"/>
            </a:solidFill>
            <a:prstDash val="dash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 / gains_all</a:t>
            </a:r>
          </a:p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后续不使用，本稿不展开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FDD7F-E9CA-4517-A7FF-6F93D801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CED8B8-1095-4160-B622-F6C47C1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611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浅层流动只保留当前使用路径，避免把不使用的 G 分支误讲成核心输出。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98CB4-4FC8-45BF-898C-21EE0034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0AF5E-3866-4266-9563-720F90CF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611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连接处标注该步骤的输入/输出维度：grid 表示进入 token 表示，再回到 L_eff 条路径参数。</a:t>
            </a:r>
          </a:p>
        </p:txBody>
      </p:sp>
    </p:spTree>
    <p:extLst>
      <p:ext uri="{BB962C8B-B14F-4D97-AF65-F5344CB8AC3E}">
        <p14:creationId xmlns:p14="http://schemas.microsoft.com/office/powerpoint/2010/main" val="2025706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D5F6E-5472-4872-9AB6-9F83526C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B1AAC-8FA6-4148-96C6-3AD02BB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443E9-D497-44E4-BC7C-AE71475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符号和物理口径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25067-2548-4EBE-B30E-A75F16E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输入与配置参数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901A1-B2C7-4F9E-BFF0-82E4BEC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235FE-6AE9-49A6-99F0-B4D0D846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x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2N_rx x N_sc x N_obs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4AB6E-DD09-40B0-9C2E-8BF61E00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D509D-6C44-4119-8CCE-0D8E86BB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30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B: batch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8CE7A-E889-4AA3-A111-54810119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DDD6A-BF0D-4D0F-BB6B-240920A0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30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2N_rx: 每个接收端复数观测拆成实部/虚部通道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CBC39-D3FC-47EC-812B-02007731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E9684-627C-458D-A341-97903ABD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430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N_obs: 子载波/观测符号二维网格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26B89-0823-408A-B640-44065073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A5EE1-4E2E-4E8F-9F1D-232BACE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30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shape check 不匹配时抛出 ValueError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9F399-3A36-4D92-B97D-69B34B0A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43F56-F6EB-4AAA-9A02-98CDE77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4782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符号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3CEBF-EBB9-4FEB-8309-5DE949EA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0020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AF8C6-5C43-41A5-91BE-F8B4F22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164782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192E8-6229-44B0-A59D-622FB7AD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4BD65-A29C-434B-BFAD-2E7E5927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4782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维度角色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9E033-4D0D-43DD-836F-BC3DA63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155FA-1CC7-4006-ACE1-05BC344A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8597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N_rx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DD622-D33C-4B26-90AF-37C4190E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3835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6B233-4E86-4E42-8394-EFE9E4D0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208597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接收端数量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3F578-F809-45D4-B648-0E0B3A2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DFAD6-68B3-4087-9797-293F30B8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8597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输入通道和 delta_rx 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DFD2E-8549-4899-9739-A8CA7A2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64EB4-4A27-4EED-978C-DBB42247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2412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N_tx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80B60-DDF3-4451-A18A-65015B85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47650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C48732-6FC5-4A3A-844E-B6609ACF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252412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发送端数量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5D696A-390B-44BD-ADBD-DFBE226A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B713A-CB71-4058-A49A-B5ABCAA3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2412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保留为配置符号，本稿不展开 G 分支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6CFB6-5251-4DEC-AB56-1B2D731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1465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81914-1F56-4271-BCBA-686DC329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6227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N_sc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FC72C-2877-41C4-9202-E15486F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91465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BB6C66-3160-471E-904B-E18ABB58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296227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子载波数量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F8C1AB-C168-44BA-B0D1-C49CE2C4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CB0705-23E6-44E0-AFE8-7B998A1F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6227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高度 / pos_k 长度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D37294-C1F9-465E-BF6C-4FD1530D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FF045A-1790-4848-A991-3EAADD4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042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N_obs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E063DB-A45C-4519-A053-9464F00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35280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97672C-926D-4E46-83C9-0D3E9CBE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340042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observedSymbols 长度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749508-071D-4E2F-9109-EC4AAE9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738D20-D68D-468C-90FA-CE279426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0042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grid 宽度 / pos_n 长度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A1B554-9AAF-4947-A0D2-B5F7846E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EB0301-5A4A-403C-A545-E0F89286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3857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L_eff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761431-AB72-46E6-942E-F63B95F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79095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099936-985E-4827-A12E-5A6DA10F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383857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25761D-1BA6-4FA2-995F-54A1FA8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A8EE9D-18E9-4B12-8A70-739BD08E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3857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top-k 输出路径数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8FD796-8E2C-4506-8E6B-B217B9FA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2910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073329-A265-49A1-B480-FACE4DF0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7672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d_model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3595CB-2169-4115-881D-C863DE5D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22910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C5CDB0-E03C-40E4-B2B6-DD6A6971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427672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Transformer 隐空间维度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E06D93-8668-4D29-A3A7-54914105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87F716-980A-4455-AAD5-DE2BDF6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7672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CNN stem 输出通道和 token 宽度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14FC90-6117-4354-A29C-B1084C70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67250"/>
            <a:ext cx="113157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9FA473-228C-4362-AE55-E27A2605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14875"/>
            <a:ext cx="97917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q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E885EB-74EB-4C65-A987-DB7A673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67250"/>
            <a:ext cx="264033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74B838-130E-40E7-9B38-0BBCE89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4714875"/>
            <a:ext cx="24879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query 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52EFE5-D306-461C-9F29-2F0BED4B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672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D5254C-CE92-433F-80F7-294FE5BA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14875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max(L_eff, detrNumQueries)</a:t>
            </a:r>
          </a:p>
        </p:txBody>
      </p:sp>
    </p:spTree>
    <p:extLst>
      <p:ext uri="{BB962C8B-B14F-4D97-AF65-F5344CB8AC3E}">
        <p14:creationId xmlns:p14="http://schemas.microsoft.com/office/powerpoint/2010/main" val="203259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7C40C-40A5-4679-A405-7430F81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DC981-4C21-4515-BD40-9E5E58D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15A5F-7892-469C-B855-3ADB4C58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从二维观测网格到序列 token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F5A87-6D38-40B5-BCF1-7DB76397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Tensor Layout 与 Tokenization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D69A1-1819-4A80-86C3-79CD370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3976E-88FD-4E71-B702-5BC02DC4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x N_sc x N_obs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484D8-1488-4641-A017-0020AE6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permute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N_sc x N_obs x d_model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AD795-3629-4F0E-8709-C42E5EB3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2857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to tokens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 = N_sc x N_obs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fseq: B x T x d_model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FFF1A-1595-4B8D-B5F2-73E7E549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FD449-D7EF-4B4B-9AA9-03713BC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38375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50F40-27DC-4400-A389-9BF839B5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4ACC9-7005-4373-88B2-FF3F1C4A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65B6C-38FB-4142-A957-6667488C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81966-C7BB-4819-B51B-C7AA2536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B4345-18B5-4BEB-ACED-A264C0AD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17BA1-2502-474B-BB75-68EAADC6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56CEB-C14C-442A-8423-210E9C91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8C2AF-2A99-41A1-9F37-3BB384CC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A534E-0B6C-4757-B0EA-46B197F1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51DB5-D612-4FB3-94F6-0F409CF0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A72F4-5D3D-45FA-810E-5629CC26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D1180-B4AD-49B5-9357-DCCEA4A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19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E3003-0F1B-43DF-BAA7-A15008A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0FDC2-488C-4506-872F-164F4CE0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0B7A4-755A-46FE-8971-4C45FC45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05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EFAF9-F9A1-4BCB-A2F6-52DA243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05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D37175-EE73-4DD9-8FD7-43547CF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05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3631B-1AC1-4B5D-9F5B-6C58A9D7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05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CEA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7CDF5-81E3-4140-BC70-4455FCD3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3767E-A59B-47AD-83BE-0CF38736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91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35F0D-05CF-43DF-B715-6D3A7C19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91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B5287-43FB-4176-BDA5-4468DD8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91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B680E3-0907-45E6-B523-EA0212BF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91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0767E-ADCA-4F18-A0D5-77FF8777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91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129EEA-50F7-4D31-B511-4B65FAC7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N_sc x N_obs grid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F5720E-9A42-4B6D-8EED-643C73F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12287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A78073-6EEE-4D73-BDC8-417353F9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47F533-019C-41DE-ADB8-5BDFA657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3E53E3-A3C9-4B51-9955-239342AE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5FEC75-550C-4279-8045-A5E8BA59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25C326-AAB4-4B8E-B5B8-502B2893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B190A9-7246-4BEE-A6D6-3ED55411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1553FB-ACEE-4C38-8CF0-EC2CB80D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C9AA35-CB13-401A-9763-6672F07E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FE6C9A-2AAE-48FF-98E5-9F152555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E0CAAE-8CBB-4A6D-A7CE-C668924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243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CF4"/>
          </a:solidFill>
          <a:ln xmlns:a="http://schemas.openxmlformats.org/drawingml/2006/main" w="9525">
            <a:solidFill>
              <a:srgbClr val="7FB5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58BB36-0DE9-450D-A2EE-2796B8AF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10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 tokens, each token width = d_model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5BFA04-082F-46A6-A830-2E90729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00FA3E-456A-48E8-BF4C-7C320DBC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Tokenization 不改变 batch B；只是把二维位置展开成 Transformer 可处理的序列。</a:t>
            </a:r>
          </a:p>
        </p:txBody>
      </p:sp>
    </p:spTree>
    <p:extLst>
      <p:ext uri="{BB962C8B-B14F-4D97-AF65-F5344CB8AC3E}">
        <p14:creationId xmlns:p14="http://schemas.microsoft.com/office/powerpoint/2010/main" val="1481182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4CB61D-08CE-4CDA-8274-07D5E293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89D89-BBD6-427A-AEF5-FB6B5E6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CB138-6397-4F98-9DD4-7A9ED769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局部特征提取与通道投影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4F367-8DA7-4F80-AA28-8F57EF8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CNN Stem 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9AE95-EC00-44BE-B323-37D54694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6D67F-0A42-4A0A-BADB-9847318D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Input channels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2N_rx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0B772-CDBF-4162-B06C-2E6369E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43150"/>
            <a:ext cx="2000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2N_rx -&gt; d_model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EAECB-D6F1-4400-A7D7-6CBABF18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76500"/>
            <a:ext cx="1104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BF187-ED24-46FC-98F0-CBB0581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2133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Conv2d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d_model -&gt; d_model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8BE9-9DF0-47C5-ACB8-D2B5AAD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76500"/>
            <a:ext cx="1200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E08A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7380A-D534-4049-81C0-BD54B2CD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71775"/>
            <a:ext cx="6762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A6A45-029D-4647-B72E-BB048DFB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717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1E1CC-FD07-4FED-A031-D83C8487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71775"/>
            <a:ext cx="428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CFFA2-2714-4137-B912-5D315E7F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71775"/>
            <a:ext cx="438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DDFAA-CBB3-4B2F-922F-AD7DEF01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空间网格保持：N_sc x N_obs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33949-F494-4BB2-BD66-3E690226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输出维度：B x d_model x N_sc x N_obs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9CA01-0C30-45B8-AA5E-84F9484E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ABCB3-1732-4D35-9586-D97859FF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840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第一层把复数接收通道映射到模型维度。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590AB-46F1-4196-B2F1-862A0216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BFD08-8AF1-408A-844D-7AD15FC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67300"/>
            <a:ext cx="840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第二层在 d_model 通道空间内继续提取局部模式。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70AF0-6597-4CD7-9750-095CA26C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95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B4E33-7AF0-4A9E-84C4-9267005B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840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CNN stem 不展平 grid，为后续二维位置编码保留 N_sc 与 N_obs 结构。</a:t>
            </a:r>
          </a:p>
        </p:txBody>
      </p:sp>
    </p:spTree>
    <p:extLst>
      <p:ext uri="{BB962C8B-B14F-4D97-AF65-F5344CB8AC3E}">
        <p14:creationId xmlns:p14="http://schemas.microsoft.com/office/powerpoint/2010/main" val="1265540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1BD3B-D13C-4ABC-A7AA-F4966EC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69A42-BF07-4628-834B-D714893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82704-6824-4EDC-97DF-0B1A804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 grid 坐标注入 token 序列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59A89-9D29-4A18-BAF3-C3E3854E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二维位置编码与 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B826F-FB45-4BE0-ACBB-C8E11686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BB343-DC6E-411A-B46B-2F2C920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pos_k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d_model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CCF28-8162-438F-ABB2-9C14E548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pos_n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N_obs x d_model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BAB66-E30D-484B-89ED-9D090CD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431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broadcast add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N_sc x N_obs x d_model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603B9-C797-43C6-89FF-C88B6335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reshape + unsqueeze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pos: 1 x T x d_model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28DD2-7EB7-4D3E-92AD-5A20079F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encoder_input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17B62-3C85-4309-8830-BA9FF09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DB4DB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Transformer Encoder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self attention over T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9C908-7799-4626-A3D3-E79FCAEE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1752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2B46F-C996-4768-A9F3-145E91BC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57425"/>
            <a:ext cx="752475" cy="3714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5DDCF-CA79-4B9A-8538-9D2E5120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14650"/>
            <a:ext cx="752475" cy="3714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FA177-C4E6-41EB-AA8C-79A28D24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05100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200DE-F60E-47AE-95F1-B1357C7D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1447800" cy="857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CC837-0E9E-4116-A4B9-E69CCCD7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81500"/>
            <a:ext cx="8477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EDA5D-3834-43F2-B159-81085745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1524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4EA9C-6622-4ACE-9FC0-729C748C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43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3B41E-6412-4295-BBA8-2927439A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95850"/>
            <a:ext cx="3829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位置编码是 learnable parameter；这里没有使用 _sincos_pos。</a:t>
            </a:r>
          </a:p>
        </p:txBody>
      </p:sp>
    </p:spTree>
    <p:extLst>
      <p:ext uri="{BB962C8B-B14F-4D97-AF65-F5344CB8AC3E}">
        <p14:creationId xmlns:p14="http://schemas.microsoft.com/office/powerpoint/2010/main" val="1878707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AB7B7-9CFD-4F7F-A1F2-FB66606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4A2D9-C7DB-4D4F-9295-E011E4BA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16348-4CBD-45D2-98D0-3CA17F4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 memory 中查询候选路径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E5AD0-8012-4996-A58F-A44F4FD5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Learnable Queries 与 Decoder Attention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E7E72-EFEB-4D3D-929D-CB3A1A05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36619-F4D2-45E3-9018-C985E3DF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query parameters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 x d_model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F24EF-F5BC-4336-B486-4599E553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266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unsqueeze + expand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queries: B x q x d_model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1FD1C-7B67-430E-9191-73246637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52400" cy="533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3C6D7-8ED4-44F2-99CE-49C76E07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T x d_model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B23D9-832D-47EB-A9DB-F925EBE2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724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CDB4DB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Decoder self-attention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exchange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8C64E-7E5C-4CFC-8BBF-3DF02D8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2857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CDB4DB"/>
          </a:solidFill>
          <a:ln xmlns:a="http://schemas.openxmlformats.org/drawingml/2006/main" w="19050">
            <a:solidFill>
              <a:srgbClr val="6D28D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Cross-attention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queries attend encoder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C6761-FF07-4972-B3EF-696CFAD5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3805B-0C8E-4065-B6F6-CDAB55F2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95675"/>
            <a:ext cx="1085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F2AB8-7524-4779-A7C3-EC1D3854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943100" cy="9144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1DDB8-3E9F-46CB-A87C-F9D6F4C6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4381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DF1BD-77FA-43C8-80F2-CBC79ECC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15240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DDAAE-D9E1-41DB-ABA1-82BF5F5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q 是候选路径槽位数；每个槽位最终会通过 heads 预测路径相关参数。</a:t>
            </a:r>
          </a:p>
        </p:txBody>
      </p:sp>
    </p:spTree>
    <p:extLst>
      <p:ext uri="{BB962C8B-B14F-4D97-AF65-F5344CB8AC3E}">
        <p14:creationId xmlns:p14="http://schemas.microsoft.com/office/powerpoint/2010/main" val="566610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CD711-34E3-4530-AF6D-18118E10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F790E-AD44-4447-9B9F-F7C70FDD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17D2D-34B6-4359-8DCF-F3B271F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decoded -&gt; alpha / objectness / rho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EAD06-B521-496F-BEC8-0FCAB5FD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路径存在性与基础参数 Heads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586F9-9328-435F-89DB-E82E9F3A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565DF-4243-4550-994F-2AA2536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8C371-17A3-4272-9897-595EA9E5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alpha_head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softplus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CD155-1084-4204-8ACB-DBBA8D6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F17FA-EF3D-4C7A-921A-A016257B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1123950" cy="9620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3A677-974B-4FC9-9477-86B4B82E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1333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C7492-FB45-4C01-8893-70DC494E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4800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obj_head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A1569-3A2A-47F4-922A-876AFD7B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279AB-66D7-44A2-B758-C76100D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71825"/>
            <a:ext cx="1123950" cy="2762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82C69-0C7F-40DE-A754-6431848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1333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DF3CA-308D-47CD-BED1-6B29C47F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247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rho_head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Linear d_model -&gt; 1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+ sigmoid +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3B3EA-A99E-49E0-BA19-0E35ECE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75371-54DD-4D6F-BF2C-2C8BC835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71825"/>
            <a:ext cx="1123950" cy="15144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9EFA2-DB39-4CD0-97A3-9E4F147E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1333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7C394-8C84-41EA-96F1-03B88B0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C638B-EEC6-4259-93CB-A0EDAAC7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0"/>
            <a:ext cx="859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alpha_all 表示路径幅度/权重的非负预测。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43496-194E-4BDA-B707-81E1ED3B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05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7CEB5-6C5B-4464-A524-7629AB71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859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path_prob_all 表示候选 query 成为有效路径的概率。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B3115-61A9-4198-A267-C82B05BD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29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F0241-5E4B-4A35-B1CD-83C76DD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859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rho_raw_all 是路径位置参数 rho 的 query 级预测。</a:t>
            </a:r>
          </a:p>
        </p:txBody>
      </p:sp>
    </p:spTree>
    <p:extLst>
      <p:ext uri="{BB962C8B-B14F-4D97-AF65-F5344CB8AC3E}">
        <p14:creationId xmlns:p14="http://schemas.microsoft.com/office/powerpoint/2010/main" val="572660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581F3-8681-4C82-87F8-FC28609F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B6976-F6BF-46AF-8EE5-7DF601F2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F98FD-64F9-4F92-8C32-037AFDE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free / scaled /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72234-0C1E-4E05-9994-3C062A8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mu Head 三种模式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FC8FA-186C-43C5-992D-16034E38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FA293-3651-4BD6-ABA5-A8B7211E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716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decoded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d_model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EAF97-A1E4-40AA-BD0D-B79A9881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5158D-8181-4587-9476-7069D2C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squeeze -&gt; B x q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+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52563-9893-46FA-AD09-90475A2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66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236DD-DF50-4BD6-8200-F8443F4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76450"/>
            <a:ext cx="3981450" cy="5905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34939-495F-4B27-98DC-6FF66588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2905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F0890-575A-47BE-AFA5-5D329A86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6689F-FB11-4950-BEEF-7A3F6229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1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sigmoid -&gt; frac B x 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FC2C7-20EF-4A18-9CBB-4F5B3961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266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+ extent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mu_min + frac * extent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2BF5A-72C7-432F-92A6-AE720D46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266700" cy="5905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7A3C-6DDE-4F21-B11E-3C14F5CB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66B8B-4DC9-40F1-8806-D77D7AB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164B1-827A-482A-AC70-4C97268E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mu_head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 x num_mu_bins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softmax over bins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0D69F-4020-4522-BA1C-5CD7CEC3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52900"/>
            <a:ext cx="266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weighted sum with mu_dict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frac B x 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8CBF2-448A-4C4A-8D45-FCC2285F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3448050" cy="5905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5A6077-B1B3-4799-8E99-C4D2DA38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1524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0BCAA-DFD9-419B-A8C9-9B6FAA8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721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cross_path_stats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mean over query dim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521A7-2BB6-4EAD-884C-8A0B0793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7210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C4C4"/>
          </a:solidFill>
          <a:ln xmlns:a="http://schemas.openxmlformats.org/drawingml/2006/main" w="19050">
            <a:solidFill>
              <a:srgbClr val="9B222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s_head MLP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d_model -&gt; B x 1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C4ADA-1A8B-4D3D-8D94-D339339F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483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B8F2A-0FD6-4AB9-B062-011FA9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scaled/grid 共用 extent；free 分支直接给出 mu_raw_all。</a:t>
            </a:r>
          </a:p>
        </p:txBody>
      </p:sp>
    </p:spTree>
    <p:extLst>
      <p:ext uri="{BB962C8B-B14F-4D97-AF65-F5344CB8AC3E}">
        <p14:creationId xmlns:p14="http://schemas.microsoft.com/office/powerpoint/2010/main" val="898534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46296-BFE6-40D4-BF5C-D41327D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56A34-83FF-4B40-8028-06DB329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4E64A-6CAD-48C5-A45B-2CB76917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 q 个候选槽位到 L_eff 条有效路径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8EEF5-C964-470A-A310-25F6E11A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Top-k 选择与 Gauge Fix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6BA48-4870-4755-A72E-C376A34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20FC9-EDA0-479E-93BD-5E98BAA4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856AA-331A-4487-9BBF-858E5AB0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619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8B7A5-7C10-49FF-BAE1-1FA0DA50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19300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score = alpha_all * path_prob_all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7AED3-8A54-4AF9-92E8-88EAC05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top-k over query dim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top_idx: B x L_eff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BCCD9-8D33-4FBE-9329-0EAA4497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762000" cy="419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5EDA6-8D10-4237-B7DB-F6EFF239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762000" cy="323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F59D5-3D65-4CD5-9A96-A93BE169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742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1ECE4-380F-4DFE-A13B-E8667F99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mu_raw_all -&gt; mu_raw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5055B-2B6F-42FE-817E-701972E2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38450"/>
            <a:ext cx="5819775" cy="1028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6B749-5319-48BC-9035-C6F8A37C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rho_raw_all -&gt; rho_raw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D4365-57DE-4BF3-B9AD-BF14D1EE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38450"/>
            <a:ext cx="3514725" cy="1028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202FD-A289-4046-9EDD-B7EB542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0525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alpha_all -&gt; alpha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63472-5441-4159-90B2-644D5A26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838450"/>
            <a:ext cx="1209675" cy="1028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1520F-8F32-4FE4-9C1A-B18B6EE8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path_prob_all -&gt; path_prob</a:t>
            </a:r>
          </a:p>
          <a:p xmlns:a="http://schemas.openxmlformats.org/drawingml/2006/main">
            <a:pPr algn="ctr">
              <a:def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F782B-1267-4F4D-BE55-4439F475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1095375" cy="1028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C1A30-8A8C-4B13-A536-9ED6201A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57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gauge_fix_mu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mu0 = max(mu_raw)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mu_rel = mu_raw - mu0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BFE1E-5AF4-4B7A-84C5-4313D403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57800"/>
            <a:ext cx="2571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gauge_fix_rho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rho0 = mean(rho_raw)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rho_rel = rho_raw - rho0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85A41-4DF8-42AF-BC56-B10CB6C9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578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6B26B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delta path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fmap -&gt; pool -&gt; delta_mlp</a:t>
            </a:r>
          </a:p>
          <a:p xmlns:a="http://schemas.openxmlformats.org/drawingml/2006/main">
            <a:pPr algn="ctr">
              <a:def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N_rx -&gt; relative offsets</a:t>
            </a:r>
          </a:p>
        </p:txBody>
      </p:sp>
    </p:spTree>
    <p:extLst>
      <p:ext uri="{BB962C8B-B14F-4D97-AF65-F5344CB8AC3E}">
        <p14:creationId xmlns:p14="http://schemas.microsoft.com/office/powerpoint/2010/main" val="851218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67746-B800-4EEB-BED3-974ED079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3FE13-D9FA-40B4-B8C1-C011593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19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DETR architecture |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5179C-4AF2-4155-945C-959CB3C3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当前使用的 forward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01311-3625-4D1A-8986-2E189C62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11827"/>
                </a:solidFill>
                <a:latin typeface="Microsoft YaHei UI"/>
                <a:ea typeface="Microsoft YaHei UI"/>
                <a:cs typeface="Microsoft YaHei UI"/>
              </a:rPr>
              <a:t>输出接口与讲解收束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F0B13-282D-4811-BD4D-B4E6791A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7DFA9-3E2D-4CFE-8588-FA67E5E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47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B7E4C7"/>
          </a:solidFill>
          <a:ln xmlns:a="http://schemas.openxmlformats.org/drawingml/2006/main" w="19050">
            <a:solidFill>
              <a:srgbClr val="1B433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theta 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A3E00-15CF-4F68-88B4-939EC462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8DF4-2C72-47FE-A921-2BA67ADC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7AB52-6BA3-43AD-BD43-12C91B68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22860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6F3B1-D290-483F-8454-EC5DBC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23336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7A959-5F06-4E0B-9827-CD7DD697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2286000"/>
            <a:ext cx="2575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FF1B1-1923-448F-8BDA-A24E64DC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333625"/>
            <a:ext cx="2423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2837B-0A55-4AC2-BD13-7BB7524A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D5BFA-97AE-4D0E-A98C-146C5A5D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9AB0-49BC-46C8-A2D8-6FC75BD4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27432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DEFC0-3765-4436-B945-797A6BC1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27908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7611D-A5FF-4E07-AC80-7B700A92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2743200"/>
            <a:ext cx="2575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A1F2A-2EB6-4445-8708-DF33B52D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2790825"/>
            <a:ext cx="2423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路径位置参数 mu 的参考量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D8C67-50E8-40CF-AD80-2792D2B3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161F6-97D3-4895-82EB-EDCF40F1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6CEF5-487D-4E2D-9069-39E666BC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32004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640BF-BB7C-4064-BEFF-5F101C8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2480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CF711-DD1A-4B0C-BB68-6D287A36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3200400"/>
            <a:ext cx="2575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A8613-5F36-498D-A12C-3F88AC5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3248025"/>
            <a:ext cx="2423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路径位置参数 rho 的参考量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BC0C2-EA04-4818-80D7-71A6777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CAC9B-6968-4D8D-99A0-EF9634F8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052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delta_rx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E38E5-6A16-44AE-9247-10144B55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36576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CEAAB-E7AE-429E-8791-99C6B762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37052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N_rx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A43D6-C7A7-48CC-B00B-839233C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3657600"/>
            <a:ext cx="2575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733F76-2802-41A5-B462-C30231CD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3705225"/>
            <a:ext cx="2423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接收端相对偏移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75A315-206E-4291-B711-070A74E9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B9D469-7F44-4572-8823-902A57EB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mu_rel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0FCB5-649D-4814-BC4E-584F421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41148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DA7C3E-7433-4308-BBBF-CDB24BF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41624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7F014A-00A7-4795-A6E3-8DE0A49C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4114800"/>
            <a:ext cx="2575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1906E-01A6-458B-9B8F-BFA66F39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4162425"/>
            <a:ext cx="2423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有效路径的相对 mu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7C87BA-1249-4573-BD48-2DD4EECE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38B7AA-0278-4C90-BE79-14665C94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5B6472"/>
                </a:solidFill>
                <a:latin typeface="Aptos Mono"/>
                <a:ea typeface="Aptos Mono"/>
                <a:cs typeface="Aptos Mono"/>
              </a:rPr>
              <a:t>rho_rel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1DE8E0-01F9-44E6-B617-795ED6D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4572000"/>
            <a:ext cx="1188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DB4673-FE20-4CFE-88B9-03782FDC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" y="4619625"/>
            <a:ext cx="10363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682A17-DB02-41CB-B66B-CF974141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690" y="4572000"/>
            <a:ext cx="2575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BE4D98-8C08-4013-908E-76942020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4619625"/>
            <a:ext cx="24231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有效路径的相对 rho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2A9DD4-C121-48B7-8E6C-DA726048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alpha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D158A9-C8FB-40FB-AE2D-01E57EB4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path_prob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 x L_eff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D44B3D-5CDA-4822-839F-15724C89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A9D6E5"/>
          </a:solidFill>
          <a:ln xmlns:a="http://schemas.openxmlformats.org/drawingml/2006/main" w="19050">
            <a:solidFill>
              <a:srgbClr val="014F86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mix_lambda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F73EB9-1973-48D6-8EFE-2677D141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42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19050">
            <a:solidFill>
              <a:srgbClr val="9AA3AF"/>
            </a:solidFill>
            <a:prstDash val="dash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 head / G_hat</a:t>
            </a:r>
          </a:p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当前展示版本不作为使用路径展开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C862FC-DD5E-401E-9AC4-0134F38B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0E6F6A-EA85-48D7-BCE9-47627E4B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649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pack_slope_theta 当前 forward path 未使用，模型返回 dict。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640C19-61A9-42CA-93EF-F3E544D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BDD1B1-ED96-48A7-9E55-3F121C2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649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本稿主线到 theta、alpha、path_prob、mix_lambda 为止。</a:t>
            </a:r>
          </a:p>
        </p:txBody>
      </p:sp>
    </p:spTree>
    <p:extLst>
      <p:ext uri="{BB962C8B-B14F-4D97-AF65-F5344CB8AC3E}">
        <p14:creationId xmlns:p14="http://schemas.microsoft.com/office/powerpoint/2010/main" val="366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2026-05-28T11:14:04.1470000Z</dcterms:created>
  <dcterms:modified xsi:type="dcterms:W3CDTF">2026-05-28T11:14:04.1480000Z</dcterms:modified>
</coreProperties>
</file>