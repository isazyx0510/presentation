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5ab84f616c4586" /><Relationship Type="http://schemas.openxmlformats.org/officeDocument/2006/relationships/extended-properties" Target="/docProps/app.xml" Id="Rf53d8994fa204fcb" /><Relationship Type="http://schemas.openxmlformats.org/officeDocument/2006/relationships/officeDocument" Target="/ppt/presentation.xml" Id="Ra01ecf4807074c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3946884f0e48c9"/>
  </p:sldMasterIdLst>
  <p:notesMasterIdLst>
    <p:notesMasterId xmlns:r="http://schemas.openxmlformats.org/officeDocument/2006/relationships" r:id="Rdec492d87a8e4a27"/>
  </p:notesMasterIdLst>
  <p:sldIdLst>
    <p:sldId xmlns:r="http://schemas.openxmlformats.org/officeDocument/2006/relationships" id="256" r:id="Rd372f38700d44beb"/>
    <p:sldId xmlns:r="http://schemas.openxmlformats.org/officeDocument/2006/relationships" id="257" r:id="Rcd2bc2d9cf7d4e61"/>
    <p:sldId xmlns:r="http://schemas.openxmlformats.org/officeDocument/2006/relationships" id="258" r:id="R8156b1f26c344efd"/>
    <p:sldId xmlns:r="http://schemas.openxmlformats.org/officeDocument/2006/relationships" id="259" r:id="Ra8fcf1034d34490b"/>
    <p:sldId xmlns:r="http://schemas.openxmlformats.org/officeDocument/2006/relationships" id="260" r:id="Ree6f49e6ca024a8b"/>
    <p:sldId xmlns:r="http://schemas.openxmlformats.org/officeDocument/2006/relationships" id="261" r:id="Re8e6a63dc8544ce9"/>
    <p:sldId xmlns:r="http://schemas.openxmlformats.org/officeDocument/2006/relationships" id="262" r:id="R4b6f8c46cc154327"/>
    <p:sldId xmlns:r="http://schemas.openxmlformats.org/officeDocument/2006/relationships" id="263" r:id="Rf63a19d7b97147c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3946884f0e48c9" /><Relationship Type="http://schemas.openxmlformats.org/officeDocument/2006/relationships/theme" Target="/ppt/theme/theme1.xml" Id="Rdf38f2a4dd7e4880" /><Relationship Type="http://schemas.openxmlformats.org/officeDocument/2006/relationships/notesMaster" Target="/ppt/notesMasters/notesMaster1.xml" Id="Rdec492d87a8e4a27" /><Relationship Type="http://schemas.openxmlformats.org/officeDocument/2006/relationships/presProps" Target="/ppt/presProps.xml" Id="Rccd34839edfe44e6" /><Relationship Type="http://schemas.openxmlformats.org/officeDocument/2006/relationships/viewProps" Target="/ppt/viewProps.xml" Id="Ra634fd82670b40e4" /><Relationship Type="http://schemas.openxmlformats.org/officeDocument/2006/relationships/tableStyles" Target="/ppt/tableStyles.xml" Id="R81571f16d7ad4886" /><Relationship Type="http://schemas.openxmlformats.org/officeDocument/2006/relationships/slide" Target="/ppt/slides/slide1.xml" Id="Rd372f38700d44beb" /><Relationship Type="http://schemas.openxmlformats.org/officeDocument/2006/relationships/slide" Target="/ppt/slides/slide2.xml" Id="Rcd2bc2d9cf7d4e61" /><Relationship Type="http://schemas.openxmlformats.org/officeDocument/2006/relationships/slide" Target="/ppt/slides/slide3.xml" Id="R8156b1f26c344efd" /><Relationship Type="http://schemas.openxmlformats.org/officeDocument/2006/relationships/slide" Target="/ppt/slides/slide4.xml" Id="Ra8fcf1034d34490b" /><Relationship Type="http://schemas.openxmlformats.org/officeDocument/2006/relationships/slide" Target="/ppt/slides/slide5.xml" Id="Ree6f49e6ca024a8b" /><Relationship Type="http://schemas.openxmlformats.org/officeDocument/2006/relationships/slide" Target="/ppt/slides/slide6.xml" Id="Re8e6a63dc8544ce9" /><Relationship Type="http://schemas.openxmlformats.org/officeDocument/2006/relationships/slide" Target="/ppt/slides/slide7.xml" Id="R4b6f8c46cc154327" /><Relationship Type="http://schemas.openxmlformats.org/officeDocument/2006/relationships/slide" Target="/ppt/slides/slide8.xml" Id="Rf63a19d7b97147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70d4bf893b747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8b8b44238e43f3" /><Relationship Type="http://schemas.openxmlformats.org/officeDocument/2006/relationships/notesMaster" Target="/ppt/notesMasters/notesMaster1.xml" Id="R2a46f392ddd744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f3327b1adf4f28" /><Relationship Type="http://schemas.openxmlformats.org/officeDocument/2006/relationships/notesMaster" Target="/ppt/notesMasters/notesMaster1.xml" Id="R7af37bc645594e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d2f1f61ac7453a" /><Relationship Type="http://schemas.openxmlformats.org/officeDocument/2006/relationships/notesMaster" Target="/ppt/notesMasters/notesMaster1.xml" Id="R4eb0a44f4d4540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dc4e99acbf4b76" /><Relationship Type="http://schemas.openxmlformats.org/officeDocument/2006/relationships/notesMaster" Target="/ppt/notesMasters/notesMaster1.xml" Id="R273c10e78c5146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cf556eae394798" /><Relationship Type="http://schemas.openxmlformats.org/officeDocument/2006/relationships/notesMaster" Target="/ppt/notesMasters/notesMaster1.xml" Id="R1c9b0110bc264e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b3ae6e22be4643" /><Relationship Type="http://schemas.openxmlformats.org/officeDocument/2006/relationships/notesMaster" Target="/ppt/notesMasters/notesMaster1.xml" Id="R3be87470e2364f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e377dc87ea4c59" /><Relationship Type="http://schemas.openxmlformats.org/officeDocument/2006/relationships/notesMaster" Target="/ppt/notesMasters/notesMaster1.xml" Id="R0067b30ee7ae41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89458936174e25" /><Relationship Type="http://schemas.openxmlformats.org/officeDocument/2006/relationships/notesMaster" Target="/ppt/notesMasters/notesMaster1.xml" Id="Ra353e35f93a34c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35e88eaa5447a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19a6846508f452e" /><Relationship Type="http://schemas.openxmlformats.org/officeDocument/2006/relationships/slideLayout" Target="/ppt/slideLayouts/slideLayout2.xml" Id="R5dd891c6e82147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d891c6e82147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5cd101cc8a48f9" /><Relationship Type="http://schemas.openxmlformats.org/officeDocument/2006/relationships/notesSlide" Target="/ppt/notesSlides/notesSlide1.xml" Id="Recd17cb2a47444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0101c060b543fc" /><Relationship Type="http://schemas.openxmlformats.org/officeDocument/2006/relationships/notesSlide" Target="/ppt/notesSlides/notesSlide2.xml" Id="R45bdf40f8cdd45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c7deb3ec884175" /><Relationship Type="http://schemas.openxmlformats.org/officeDocument/2006/relationships/notesSlide" Target="/ppt/notesSlides/notesSlide3.xml" Id="R347f367d175f46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e46608620a4025" /><Relationship Type="http://schemas.openxmlformats.org/officeDocument/2006/relationships/notesSlide" Target="/ppt/notesSlides/notesSlide4.xml" Id="Rd7a168a36bed4f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da7e89c3584d50" /><Relationship Type="http://schemas.openxmlformats.org/officeDocument/2006/relationships/notesSlide" Target="/ppt/notesSlides/notesSlide5.xml" Id="R42f69c45abdb49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d3b9be26d6436b" /><Relationship Type="http://schemas.openxmlformats.org/officeDocument/2006/relationships/notesSlide" Target="/ppt/notesSlides/notesSlide6.xml" Id="R32aba3c8bc1346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ddd363e39b44b4" /><Relationship Type="http://schemas.openxmlformats.org/officeDocument/2006/relationships/notesSlide" Target="/ppt/notesSlides/notesSlide7.xml" Id="Rb6540420ab394d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d0de3c1df94eef" /><Relationship Type="http://schemas.openxmlformats.org/officeDocument/2006/relationships/notesSlide" Target="/ppt/notesSlides/notesSlide8.xml" Id="R46d56859f1b04e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ED148D-BF91-4FD3-A59F-9931E254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91C9F-E02C-4A1F-9CC3-26B05692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1985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NAFEncoderLSNet |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4A22A-3663-438E-9CA7-013AB832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NAFEncoderLSNet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C8CA4-FC1D-4864-8F25-E5871883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Encoder-only NAF backbone + LS recovery parameter heads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0DDA0-BA1B-48D9-BD45-90A3D783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600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B7E4C7"/>
          </a:solidFill>
          <a:ln xmlns:a="http://schemas.openxmlformats.org/drawingml/2006/main" w="19050">
            <a:solidFill>
              <a:srgbClr val="1B433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Input adapter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 x C_in x N_sc x 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0AC50-4E76-481F-AFBE-A30242FC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09950"/>
            <a:ext cx="4857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476EA-F467-4888-90C5-3D131ED4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28950"/>
            <a:ext cx="1600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E08A"/>
          </a:solidFill>
          <a:ln xmlns:a="http://schemas.openxmlformats.org/drawingml/2006/main" w="19050">
            <a:solidFill>
              <a:srgbClr val="B7791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NAF Encoder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stem + 2 downsamples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81641B-4478-4B5A-AA4B-B7B28D44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09950"/>
            <a:ext cx="4857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B3274-4680-479F-B975-F7453344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28950"/>
            <a:ext cx="1600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Bottleneck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 x 4C x N_sc/4 x T/4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A4CC9-A45E-484C-B882-1682DD4D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09950"/>
            <a:ext cx="4857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01A9C-5F21-4F67-BF0B-F028B8CF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028950"/>
            <a:ext cx="1600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C4C4"/>
          </a:solidFill>
          <a:ln xmlns:a="http://schemas.openxmlformats.org/drawingml/2006/main" w="19050">
            <a:solidFill>
              <a:srgbClr val="9B222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Heads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mu / rho / delta / alpha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2180E-61D0-4F7C-A1BE-CAE6EFB7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409950"/>
            <a:ext cx="4857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EFE10-F29E-45A9-819B-ED28F41D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28950"/>
            <a:ext cx="1600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B7E4C7"/>
          </a:solidFill>
          <a:ln xmlns:a="http://schemas.openxmlformats.org/drawingml/2006/main" w="19050">
            <a:solidFill>
              <a:srgbClr val="1B433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Output contract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theta + alpha + path_prob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F577C3-B159-449D-AC45-FCA46D28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985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Narrative: the model does not predict G_hat. It estimates physical parameters directly from the compressed bottleneck and passes them to recoveryMode='ls_from_packed_theta' for LS recovery.</a:t>
            </a:r>
          </a:p>
        </p:txBody>
      </p:sp>
    </p:spTree>
    <p:extLst>
      <p:ext uri="{BB962C8B-B14F-4D97-AF65-F5344CB8AC3E}">
        <p14:creationId xmlns:p14="http://schemas.microsoft.com/office/powerpoint/2010/main" val="10205062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08A1A5-48DE-4C53-96A2-6A0EEAA0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4242B-F736-4FCA-927A-192B1810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1985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NAFEncoderLSNet |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515D3-E862-4811-81FC-FC8931CA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Initialization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C03D5-6DF2-4B16-8EE4-6E486D60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Configuration Inputs and Physical Ranges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9A84E-FF38-4EE3-8A15-917F1DBC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3A36D-78AF-4D89-8A14-9DEEA80F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49352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6CF4E5-CDCF-4C40-8EB3-957044E8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14475"/>
            <a:ext cx="134112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Variable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98F85-A5B1-42DB-80DC-974679DD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70" y="1466850"/>
            <a:ext cx="16535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7CB19-AF59-43EF-9012-DC4FC44C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570" y="1514475"/>
            <a:ext cx="150114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0E2A6-14F5-4C29-A90D-C1A071DC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910" y="1466850"/>
            <a:ext cx="21869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04FF6-86C5-4FE6-B78C-3AE443B1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110" y="1514475"/>
            <a:ext cx="203454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B6080-FDEE-4E8F-B699-19CE9645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149352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1ECD8-184A-40F7-AD86-46A1E006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28825"/>
            <a:ext cx="134112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53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n_rx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361E0-E69D-4B24-BCB3-169BBEAD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70" y="1981200"/>
            <a:ext cx="16535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7497E-C258-4118-9110-B214191E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570" y="2028825"/>
            <a:ext cx="150114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cfg.N_rx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91E3E7-42DB-456F-AF3D-B9A97772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910" y="1981200"/>
            <a:ext cx="21869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7715F7-BCDE-46E4-8B60-0433B23A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110" y="2028825"/>
            <a:ext cx="203454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Receiver count; determines delta_rx dimensionality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2A6C51-FC88-47D1-96FC-2A043153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149352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18FB2C-84F2-41D2-8889-025FEF12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134112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53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l_eff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CEE9CC-99ED-4B49-9D0E-021935E3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70" y="2495550"/>
            <a:ext cx="16535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414E18-EE6F-4FEB-8211-8F9BB4C1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570" y="2543175"/>
            <a:ext cx="150114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cfg.L_eff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1703DB-93EF-40AF-8884-4E0202EF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910" y="2495550"/>
            <a:ext cx="21869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5708E0-D50A-472F-AA5B-EC2494A5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110" y="2543175"/>
            <a:ext cx="203454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Effective path count; determines per-path head width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2FCC0D-67E0-4D78-8423-6D056998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149352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2682FF-D7F7-4F3A-B1A6-516565AB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57525"/>
            <a:ext cx="134112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53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n_sc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904C2C-49CD-4D4F-BC65-926AC7B8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70" y="3009900"/>
            <a:ext cx="16535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9B7368-285E-419A-9BB4-BFF13B2D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570" y="3057525"/>
            <a:ext cx="150114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cfg.N_sc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B0912E-9913-40A2-9E21-7DA6C023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910" y="3009900"/>
            <a:ext cx="21869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91DFD5-7AF0-46ED-8E03-D3717D77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110" y="3057525"/>
            <a:ext cx="203454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Subcarrier count; sets frequency-axis soft-argmax resolution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F0BFB5-3B74-48AF-83EA-5288C617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49352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8AB57E-64A8-4753-A4DE-F892A0F3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134112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53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in_ch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8AEB9C-76B3-49DC-B720-ACBAF863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70" y="3524250"/>
            <a:ext cx="16535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F4F8D8-7567-4C70-AC53-55ECE956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570" y="3571875"/>
            <a:ext cx="150114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input_adapter_dim(cfg)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392CB0-E45D-436D-AB05-5F5C58D7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910" y="3524250"/>
            <a:ext cx="21869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AE1ED8-B24E-4AD5-8382-59F8DAE5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110" y="3571875"/>
            <a:ext cx="203454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Input channels for the configured observation packing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39BA38-5415-4710-BC18-6B1988BE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149352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250AB7-E17A-4B02-B3AD-111AB56E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134112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53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base_ch / hidden / dropout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E39CA7-1E17-415D-8E88-42C12517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70" y="4038600"/>
            <a:ext cx="16535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C96A0D-1DB9-409F-958F-1307436B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570" y="4086225"/>
            <a:ext cx="150114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cfg or default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61DE3C-B794-4500-81D9-2A99F007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910" y="4038600"/>
            <a:ext cx="21869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8EB1F8-F53F-4538-BF28-DCDF7702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110" y="4086225"/>
            <a:ext cx="203454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Controls encoder width, MLP width, and regularization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5BDA14-1E15-4106-9EAB-0CACD2DC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3830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E08A"/>
          </a:solidFill>
          <a:ln xmlns:a="http://schemas.openxmlformats.org/drawingml/2006/main" w="19050">
            <a:solidFill>
              <a:srgbClr val="B7791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_slope_bounds(bounds, scale, sign)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29E207-BE8B-4B7C-AF12-A2EE4EC8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62200"/>
            <a:ext cx="152400" cy="4191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BF378E-BA62-4E7D-AEDB-E13841B0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3733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mu_min / mu_max</a:t>
            </a:r>
          </a:p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relDelayRangeSec + subcarrierSpacingHz</a:t>
            </a:r>
          </a:p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sign = -1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98C41D-11AC-4C53-9F23-AB311A47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52850"/>
            <a:ext cx="3733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rho_min / rho_max</a:t>
            </a:r>
          </a:p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dopplerRangeHz + ofdmSymbolDuration_s</a:t>
            </a:r>
          </a:p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sign = +1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4D36ED-7D02-44C0-808C-243E6551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48200"/>
            <a:ext cx="3733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delta_bound</a:t>
            </a:r>
          </a:p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maximum absolute slope from rxOffsetRangeSec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26CF8E-F147-4716-B8A8-5161A687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24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684FCB-66DB-499D-9686-440DD6FA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76900"/>
            <a:ext cx="7258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Every head is first bounded to a physically interpretable range, then gauge-fixed.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32CD94-094B-4B5A-8F81-B037F17E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0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E3ED3C9-E43C-4E16-8ED4-A87D1E5E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62650"/>
            <a:ext cx="7258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mu and delta use the negative delay-slope mapping; rho uses the positive Doppler-slope mapping.</a:t>
            </a:r>
          </a:p>
        </p:txBody>
      </p:sp>
    </p:spTree>
    <p:extLst>
      <p:ext uri="{BB962C8B-B14F-4D97-AF65-F5344CB8AC3E}">
        <p14:creationId xmlns:p14="http://schemas.microsoft.com/office/powerpoint/2010/main" val="4798693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512ACA-4576-4C82-93A0-70AF18E9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19382-56F5-454A-9350-9228FE1A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1985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NAFEncoderLSNet |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67136-5F2F-4328-8202-FC400B69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Stem, downsampling, bottleneck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535BF-EE91-4BB8-8D5B-9672BFC1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Encoder Backbone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3B1EF-5580-475B-925F-581360BC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5E035-1668-4345-A186-063B03FA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4859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B7E4C7"/>
          </a:solidFill>
          <a:ln xmlns:a="http://schemas.openxmlformats.org/drawingml/2006/main" w="19050">
            <a:solidFill>
              <a:srgbClr val="1B433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x</a:t>
            </a:r>
          </a:p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 x C_in x N_sc x 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D31B1-06D0-4EA7-8AED-FB140F89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57475"/>
            <a:ext cx="4381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86D55-2AEA-4F5B-8234-839E3A7D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6000"/>
            <a:ext cx="14859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E08A"/>
          </a:solidFill>
          <a:ln xmlns:a="http://schemas.openxmlformats.org/drawingml/2006/main" w="19050">
            <a:solidFill>
              <a:srgbClr val="B7791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stem</a:t>
            </a:r>
          </a:p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Conv2d 1x1</a:t>
            </a:r>
          </a:p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C_in -&gt;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6A3FA-A31B-4C4B-A145-6F92C374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57475"/>
            <a:ext cx="381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02469-D520-4D1E-B74B-3D7AEDAC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86000"/>
            <a:ext cx="14859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E08A"/>
          </a:solidFill>
          <a:ln xmlns:a="http://schemas.openxmlformats.org/drawingml/2006/main" w="19050">
            <a:solidFill>
              <a:srgbClr val="B7791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stage1</a:t>
            </a:r>
          </a:p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NAFBlock x1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4BA9AF-0F19-4620-A896-DD845181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57475"/>
            <a:ext cx="381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AEAA8-6F7B-4C16-A96E-C268776C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86000"/>
            <a:ext cx="14859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down1</a:t>
            </a:r>
          </a:p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Conv3x3 s=2</a:t>
            </a:r>
          </a:p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 -&gt; 2C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F76223-550C-4600-97ED-6F885C75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57475"/>
            <a:ext cx="381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90A169-183D-4C9C-84B9-A585AB64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14859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E08A"/>
          </a:solidFill>
          <a:ln xmlns:a="http://schemas.openxmlformats.org/drawingml/2006/main" w="19050">
            <a:solidFill>
              <a:srgbClr val="B7791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stage2</a:t>
            </a:r>
          </a:p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NAFBlock x2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C28F6-30F7-4527-BB08-6247B0C5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95750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down2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Conv3x3 s=2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2C -&gt; 4C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187EB5-1B74-46F2-895A-728E352B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95750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dropout2d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optional regularization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D7DDB-45AB-44A5-8495-C28D13E1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E08A"/>
          </a:solidFill>
          <a:ln xmlns:a="http://schemas.openxmlformats.org/drawingml/2006/main" w="19050">
            <a:solidFill>
              <a:srgbClr val="B7791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bottleneck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NAFBlock x1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 x 4C x N_sc/4 x T/4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6AA489-B995-4AF9-A36B-BAA3E982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219450"/>
            <a:ext cx="5819775" cy="8191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DC431A-EA64-4694-BF81-7EB454CE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48175"/>
            <a:ext cx="4191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25DD00-541A-416F-9661-1F620D77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48175"/>
            <a:ext cx="4191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E65CE7-D386-4363-85C4-5FF416E4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05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81EC20-3685-42A8-BDFA-FDE29A2C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57850"/>
            <a:ext cx="906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Both stride-2 operations are isotropic: frequency and time are compressed together.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B69452-804B-48E5-BC2F-2442C564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912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E4B2E3-C248-4463-A25C-D1868E3B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43600"/>
            <a:ext cx="906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With the current T=2 input, the time axis typically collapses to one bin after the first downsample, so rho uses an MLP instead of time-axis soft-argmax.</a:t>
            </a:r>
          </a:p>
        </p:txBody>
      </p:sp>
    </p:spTree>
    <p:extLst>
      <p:ext uri="{BB962C8B-B14F-4D97-AF65-F5344CB8AC3E}">
        <p14:creationId xmlns:p14="http://schemas.microsoft.com/office/powerpoint/2010/main" val="7802183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1E4B59-C7FF-47FA-9B0C-2A86E42A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50773-4656-4E2E-829C-290AEEAC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1985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NAFEncoderLSNet |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F7830-ADC2-4397-923A-3EE426F6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Path delay slope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4B3A2-D168-4745-AE93-9F745021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mu Head: Frequency-Axis Soft-Argmax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893F2-ACDF-42EB-83AD-58819F1A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F072D-9B3E-4D42-813A-99B633F3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095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bottleneck feature f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 x 4C x H' x T'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62A39-A45A-4624-BD74-5BF92430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2190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C4C4"/>
          </a:solidFill>
          <a:ln xmlns:a="http://schemas.openxmlformats.org/drawingml/2006/main" w="19050">
            <a:solidFill>
              <a:srgbClr val="9B222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mu_proj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Conv1x1: 4C -&gt; L_eff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2538A-C532-4F2C-828D-ED77BDBD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2190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mean over time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 x L_eff x H'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DFB45-9209-47F3-B3B4-511DB367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66950"/>
            <a:ext cx="2190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6B26B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softmax + grid sum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range: [mu_min, mu_max]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019F1-4D9E-408E-A47E-35B31715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90800"/>
            <a:ext cx="647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39FA0-5682-428B-AE00-4DCF2E37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90800"/>
            <a:ext cx="647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ED03A3-88A3-4065-A75A-EF8E9C9B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90800"/>
            <a:ext cx="552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DB328C-7991-46CD-8C39-EC79D59A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243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mu_abs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 x L_eff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DE093-3587-4505-8588-F4B38B91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24350"/>
            <a:ext cx="2286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6B26B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gauge_fix_mu(mu_abs)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E99797-FA4F-427F-9EB1-0D47B764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24350"/>
            <a:ext cx="2190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B7E4C7"/>
          </a:solidFill>
          <a:ln xmlns:a="http://schemas.openxmlformats.org/drawingml/2006/main" w="19050">
            <a:solidFill>
              <a:srgbClr val="1B433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mu0, mu_rel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reference + relative paths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5D167F-C011-48DE-8338-B0FE621B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05150"/>
            <a:ext cx="6286500" cy="11620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FF4BDB-F1E3-4E92-99F3-C03BEC37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581525"/>
            <a:ext cx="666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4E3259-D767-48A9-A1E2-514238FB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81525"/>
            <a:ext cx="666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AA33F7-CD96-4843-BC1D-D63F17B1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8165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Core idea: each path forms a probability distribution over the compressed frequency axis H'. The expected value maps the discrete location to continuous mu_abs.</a:t>
            </a:r>
          </a:p>
        </p:txBody>
      </p:sp>
    </p:spTree>
    <p:extLst>
      <p:ext uri="{BB962C8B-B14F-4D97-AF65-F5344CB8AC3E}">
        <p14:creationId xmlns:p14="http://schemas.microsoft.com/office/powerpoint/2010/main" val="13446002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E7BD7C-2126-41D4-AF00-72892AE3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33360-B6F3-49C3-825D-389D29AF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1985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NAFEncoderLSNet |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6A18B-37C3-4661-80F2-B987BA99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Global pooled bottleneck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A2B2B-9859-4724-AFC0-E643950E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rho / delta / alpha Heads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741FA-2D81-4433-A5AA-7C530DE3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56B76-21EC-4BBE-B37C-53B032BC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409700"/>
            <a:ext cx="2381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f.mean(dim=(2,3))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pooled: B x 4C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D8093-4511-4037-988B-7416701F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C4C4"/>
          </a:solidFill>
          <a:ln xmlns:a="http://schemas.openxmlformats.org/drawingml/2006/main" w="19050">
            <a:solidFill>
              <a:srgbClr val="9B222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rho_head</a:t>
            </a:r>
          </a:p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Linear 4C -&gt; hidden -&gt; L_eff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ED5B0E-CF90-4D8C-B236-D47B4C6B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43350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sigmoid scale</a:t>
            </a:r>
          </a:p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rho_min + extent * sigmoid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2BF77-E197-49D9-9BC5-60F7DA0B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05400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6B26B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gauge_fix_rho</a:t>
            </a:r>
          </a:p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rho0, rho_rel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DEF1E-1A83-4EDD-853A-97ED857B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52650"/>
            <a:ext cx="3743325" cy="5715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C6419B-6672-4D13-A389-11794D34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1524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44C5E-2CBF-48EA-863A-B7FF7757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1524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EF747-C9E5-4BEB-86BA-0CCB3E6E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81300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C4C4"/>
          </a:solidFill>
          <a:ln xmlns:a="http://schemas.openxmlformats.org/drawingml/2006/main" w="19050">
            <a:solidFill>
              <a:srgbClr val="9B222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delta_head</a:t>
            </a:r>
          </a:p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Linear 4C -&gt; hidden -&gt; N_rx-1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7CFBD-98D1-4CA6-A961-EC7C633C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43350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tanh scale</a:t>
            </a:r>
          </a:p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[-delta_bound, delta_bound]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0EB50-DC6E-49BA-B021-46883A57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05400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6B26B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prepend zero + gauge_fix_delta</a:t>
            </a:r>
          </a:p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delta_rx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6D1DD-ADC8-49A1-A793-18876AE1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52650"/>
            <a:ext cx="352425" cy="5715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055E53-936D-40B8-B135-79EA794F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00450"/>
            <a:ext cx="1524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594784-52D5-488E-8543-907CCD9D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762500"/>
            <a:ext cx="1524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C3FB1F-BB33-48A4-BA64-CEE2159E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81300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C4C4"/>
          </a:solidFill>
          <a:ln xmlns:a="http://schemas.openxmlformats.org/drawingml/2006/main" w="19050">
            <a:solidFill>
              <a:srgbClr val="9B222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alpha_head</a:t>
            </a:r>
          </a:p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Linear 4C -&gt; hidden -&gt; L_eff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9FAA1E-988A-4942-8814-2CA1295E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43350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softplus</a:t>
            </a:r>
          </a:p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positive path strength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5294DC-B301-4732-9953-09E92E08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05400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B7E4C7"/>
          </a:solidFill>
          <a:ln xmlns:a="http://schemas.openxmlformats.org/drawingml/2006/main" w="19050">
            <a:solidFill>
              <a:srgbClr val="1B433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alpha</a:t>
            </a:r>
          </a:p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 x L_eff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8E4329-21ED-40F9-A97D-44A449C6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152650"/>
            <a:ext cx="3038475" cy="5715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9C85C7-E091-46E7-8F3E-1222CCA9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00450"/>
            <a:ext cx="1524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BC448E-AB6B-4C51-8CB5-CB7C5F81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62500"/>
            <a:ext cx="1524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44B355-A262-4790-B105-CE515C05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rho uses a globally pooled MLP because the current T=2 setting collapses the bottleneck time axis to a single bin; alpha uses softplus to stay non-negative.</a:t>
            </a:r>
          </a:p>
        </p:txBody>
      </p:sp>
    </p:spTree>
    <p:extLst>
      <p:ext uri="{BB962C8B-B14F-4D97-AF65-F5344CB8AC3E}">
        <p14:creationId xmlns:p14="http://schemas.microsoft.com/office/powerpoint/2010/main" val="610178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930047-133B-4E16-A302-D861E91C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93327-F11D-4289-A0BA-2F51243E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1985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NAFEncoderLSNet |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FFD5D-9522-4032-9F24-1FF4641F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Optional existence probability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905C6-531A-44E0-A4A3-B076A0A4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path_prob Head and Compatibility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41A93-7B71-4042-9BCC-DADF0F1C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30335-A86A-4B44-B90D-1646125E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71650"/>
            <a:ext cx="2476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E08A"/>
          </a:solidFill>
          <a:ln xmlns:a="http://schemas.openxmlformats.org/drawingml/2006/main" w="19050">
            <a:solidFill>
              <a:srgbClr val="B7791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cfg.usePathProbHead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321D7-6B18-427F-AB38-3CC5BA86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466850"/>
            <a:ext cx="3143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C4C4"/>
          </a:solidFill>
          <a:ln xmlns:a="http://schemas.openxmlformats.org/drawingml/2006/main" w="19050">
            <a:solidFill>
              <a:srgbClr val="9B222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True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path_prob_head MLP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4C -&gt; hidden -&gt; L_eff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D0E184-DE5F-429C-B6B3-3C880964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95600"/>
            <a:ext cx="3143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False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ones(B, L_eff)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D229C-02EB-42C0-A6DC-3E359309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09800"/>
            <a:ext cx="200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B7E4C7"/>
          </a:solidFill>
          <a:ln xmlns:a="http://schemas.openxmlformats.org/drawingml/2006/main" w="19050">
            <a:solidFill>
              <a:srgbClr val="1B433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path_prob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 x L_eff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3DC9A-F501-42BC-9D4B-A16BEBB2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24050"/>
            <a:ext cx="933450" cy="2190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44764-9EF7-4825-A92B-C91CFAAF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43125"/>
            <a:ext cx="933450" cy="11144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45A10-3337-47CA-A8EF-E1C9375A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24050"/>
            <a:ext cx="952500" cy="5715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113D0-300E-4386-8066-B46C5ACF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24150"/>
            <a:ext cx="952500" cy="5334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AC51F-EC15-4B46-86B9-C54F4B17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43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FCEDE9-18D8-4130-AD07-031CE912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95800"/>
            <a:ext cx="878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Default-off behavior preserves old checkpoint loading: there are no path_prob_head weights and no missing-key mismatch.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2ED964-FDFD-4CE0-A4DF-600DC32B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24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5F3613-C3D4-4B83-8C23-341C3D91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76800"/>
            <a:ext cx="878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When enabled, each path learns an additional existence probability constrained to [0, 1] by sigmoid.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1F3DC-F26E-48C9-B9D5-4C8BD447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05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1A2FF8-CF30-43E9-B052-751328A8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57800"/>
            <a:ext cx="878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When disabled, the behavior matches the legacy path: all L_eff paths are treated as present.</a:t>
            </a:r>
          </a:p>
        </p:txBody>
      </p:sp>
    </p:spTree>
    <p:extLst>
      <p:ext uri="{BB962C8B-B14F-4D97-AF65-F5344CB8AC3E}">
        <p14:creationId xmlns:p14="http://schemas.microsoft.com/office/powerpoint/2010/main" val="18363720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BF0674-5B0C-4123-BC39-6E8281AD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31D42-8CDC-4E04-804A-C95CBCBF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1985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NAFEncoderLSNet |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475E8-64D6-4D65-ADB0-DAF0EDEF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Runtime data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9D7B8-E1C4-48E8-84D1-D48AF454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Forward Pass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8D0D1-3300-4E2B-A050-BD2A7ACD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DEB22-67D1-47D3-A433-41D1C524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B7E4C7"/>
          </a:solidFill>
          <a:ln xmlns:a="http://schemas.openxmlformats.org/drawingml/2006/main" w="19050">
            <a:solidFill>
              <a:srgbClr val="1B433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shape check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x.ndim ==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AE240-BB4C-4EAB-ABE6-D726F54D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43125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13E00-A43F-45A4-8613-7AFEDC83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238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E08A"/>
          </a:solidFill>
          <a:ln xmlns:a="http://schemas.openxmlformats.org/drawingml/2006/main" w="19050">
            <a:solidFill>
              <a:srgbClr val="B7791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encode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stem -&gt; stage1 -&gt; down1 -&gt; stage2 -&gt; down2 -&gt; bottleneck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365726-9C0B-46B0-8F30-FF5F3678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43125"/>
            <a:ext cx="609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E7F80-2816-4BA4-9041-BEC5C62F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pooled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mean over H', T'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F18F2-ECF7-461C-9C99-898A2CAD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43125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675519-6359-4DB5-8761-1FD9DB9E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C4C4"/>
          </a:solidFill>
          <a:ln xmlns:a="http://schemas.openxmlformats.org/drawingml/2006/main" w="19050">
            <a:solidFill>
              <a:srgbClr val="9B222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parameter heads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mu, rho, delta, alpha, path_prob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8EFBE-7870-4C80-B4D0-0449CF3E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71900"/>
            <a:ext cx="3429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B26B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theta dict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mu0 / rho0 / delta_rx / mu_rel / rho_rel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18DFBA-7521-4628-9FF3-CDAEB23D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5760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B7E4C7"/>
          </a:solidFill>
          <a:ln xmlns:a="http://schemas.openxmlformats.org/drawingml/2006/main" w="19050">
            <a:solidFill>
              <a:srgbClr val="1B433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alpha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path strengths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A5229-0046-41A4-AA16-0A52109A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4820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B7E4C7"/>
          </a:solidFill>
          <a:ln xmlns:a="http://schemas.openxmlformats.org/drawingml/2006/main" w="19050">
            <a:solidFill>
              <a:srgbClr val="1B433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path_prob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existence scores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BCCEE0-6E8A-40A6-96BE-CE183E58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5105400" cy="10477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36D9CC-0E39-4605-802A-8D66B73B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67000"/>
            <a:ext cx="1600200" cy="9334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DCEF0C-7919-44B4-9F38-278E7176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67000"/>
            <a:ext cx="1600200" cy="19240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45361F-3601-4331-9C82-728CD305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674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return value matches the detr_path_dict modelOutputMode contract; forward does not output G_hat.</a:t>
            </a:r>
          </a:p>
        </p:txBody>
      </p:sp>
    </p:spTree>
    <p:extLst>
      <p:ext uri="{BB962C8B-B14F-4D97-AF65-F5344CB8AC3E}">
        <p14:creationId xmlns:p14="http://schemas.microsoft.com/office/powerpoint/2010/main" val="1372059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53CF6B-74B0-4E30-995D-739B6A28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81459-1898-4353-84E5-EF48437F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1985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NAFEncoderLSNet |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07194-9829-488A-9A08-5A26EB9A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Closing 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9AD41-C93E-4210-A89D-3104E45C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Output Interface and LS Recovery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F8158-B264-421D-99EF-1229F2FC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0EFB1-1476-4CDA-8A74-FE619841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16535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37F43C-254F-4D8F-89DA-A3062149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14475"/>
            <a:ext cx="150114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Field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4E4F1-C455-416A-B688-C3FF303E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2690" y="1466850"/>
            <a:ext cx="12992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1D9F2-30A7-4472-813B-D49E5668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8890" y="1514475"/>
            <a:ext cx="114681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Shape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5676F-BA7C-4C9F-B2AF-1D7F3B73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46685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8B375-1D41-4CEC-802A-2A557655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514475"/>
            <a:ext cx="2800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265DE-E240-470B-BF7F-7F3BB204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16535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333F6-9892-4773-86EF-1C6F3423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71675"/>
            <a:ext cx="150114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theta.mu0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DDEFB-240E-4C56-A534-455112F0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2690" y="1924050"/>
            <a:ext cx="12992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75A617-1ECD-43B3-8A5F-4DCE0A93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8890" y="1971675"/>
            <a:ext cx="114681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 x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12E325-371E-4393-94B9-2AD3E8AB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2405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FDDA58-516E-475C-8EB5-9D1D8DB2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71675"/>
            <a:ext cx="2800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Reference term for mu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FAE93F-C4D3-4EAD-860B-053C86AC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6535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DAB6FA-2671-4AE2-BA67-63DA9032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150114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theta.rho0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C9EAFD-333F-430D-A868-78194173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2690" y="2381250"/>
            <a:ext cx="12992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92BE74-D973-4082-BF38-3E33E2E9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8890" y="2428875"/>
            <a:ext cx="114681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 x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A477B9-2916-488A-AF94-108A39D4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8125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7AE56F-5CA2-4F7F-85C5-9E55BA1F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28875"/>
            <a:ext cx="2800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Reference term for rho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3AB072-AA78-42FD-AB17-3E02F847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6535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908A58-A8E2-4DE3-A193-7E2EBD26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6075"/>
            <a:ext cx="150114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theta.delta_rx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2D1606-C7E6-44B4-8081-34FBDAD1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2690" y="2838450"/>
            <a:ext cx="12992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D20447-99B1-4B0A-80A7-880B6E6A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8890" y="2886075"/>
            <a:ext cx="114681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 x N_rx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F2F788-70B4-4CC6-BED8-D472336A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3845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1CF466-4043-4D50-A701-290BC572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86075"/>
            <a:ext cx="2800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Receiver-side relative offset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C11186-FFCD-44A6-95D4-4F9AAA5C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16535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C96CC7-4E6F-4914-89DD-65554858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43275"/>
            <a:ext cx="150114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theta.mu_rel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993FD5-6FF1-4509-ADFF-F5030C3E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2690" y="3295650"/>
            <a:ext cx="12992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CFD914-2F30-409B-972D-3FD27797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8890" y="3343275"/>
            <a:ext cx="114681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 x L_eff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75E163-0FB5-44C5-B4AA-2A590D04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9565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A811F1-88BA-4889-97B8-97C78694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43275"/>
            <a:ext cx="2800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Relative delay slope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45462B-24A5-45B3-961F-6E03583D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16535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9DB47A-A47E-4B98-9E17-7584F37D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00475"/>
            <a:ext cx="150114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theta.rho_rel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C4702E-273E-4BAA-BFB2-ECAE5281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2690" y="3752850"/>
            <a:ext cx="12992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F1376F-1869-4201-8F9F-AD246E60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8890" y="3800475"/>
            <a:ext cx="114681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 x L_eff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C48E1D-2CD5-4806-A7AA-610FAB95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5285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AAF6A5-BC51-4950-8EDF-C9476754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00475"/>
            <a:ext cx="2800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Relative Doppler slope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DC25B2-A105-44E7-B469-B901122F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16535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912D56-1F46-4744-A859-6CEBB94C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57675"/>
            <a:ext cx="150114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alpha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C4B6AD-11A6-42E9-ACAF-4982033B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2690" y="4210050"/>
            <a:ext cx="12992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5BE1A1-9CE0-42C9-B45C-9912737F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8890" y="4257675"/>
            <a:ext cx="114681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 x L_eff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3F694E-56E1-4294-9CCD-30B0C82C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1005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4FFD75-010E-4CD9-954C-BCB4B6F6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257675"/>
            <a:ext cx="2800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Non-negative path strength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4D2127A-2E55-4394-9B13-44E09942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16535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CC2357E-9F16-48E8-A870-37EA3C95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14875"/>
            <a:ext cx="150114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path_prob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56C551-F49B-444A-8EF3-5A229586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2690" y="4667250"/>
            <a:ext cx="12992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0A83316-8861-4E78-9730-98E4669F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8890" y="4714875"/>
            <a:ext cx="114681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 x L_eff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FDECC5-D212-44DF-8E6D-C6A05A18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6725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19AE611-B9F1-4D01-B7A9-6F257057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14875"/>
            <a:ext cx="2800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Path existence probability or all-ones legacy fallback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12DF4A-8F7D-4CB5-9DF7-AE9EA738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43100"/>
            <a:ext cx="2857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E08A"/>
          </a:solidFill>
          <a:ln xmlns:a="http://schemas.openxmlformats.org/drawingml/2006/main" w="19050">
            <a:solidFill>
              <a:srgbClr val="B7791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recoveryMode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'ls_from_packed_theta'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108989C-79FD-478A-A1CF-49255726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00400"/>
            <a:ext cx="2857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EF1F5"/>
          </a:solidFill>
          <a:ln xmlns:a="http://schemas.openxmlformats.org/drawingml/2006/main" w="19050">
            <a:solidFill>
              <a:srgbClr val="9AA3AF"/>
            </a:solidFill>
            <a:prstDash val="dash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No G_hat branch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encoder estimates physical theta only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418E5E6-279E-4F0F-9D37-1B447F20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57700"/>
            <a:ext cx="2857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6B26B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LS recovery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uses packed theta downstream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9BE0158-607F-491C-A185-ADCBC89D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24150"/>
            <a:ext cx="152400" cy="4191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52E358-FB8F-4665-8988-79351E24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81450"/>
            <a:ext cx="152400" cy="4191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1AB5B0D-0160-47E3-A8FE-BF979133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76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83C53CA-6249-4DA8-A160-6264E931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29300"/>
            <a:ext cx="763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Use this slide to close the code walkthrough: the network estimates physical parameters, while LS handles recovery.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B07A505-E5B8-4D12-8A7E-5EFF0345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62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A94B4E3-6D94-4721-A2D4-88E79D76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763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main downstream interface is gauge-fixed theta together with alpha and path_prob.</a:t>
            </a:r>
          </a:p>
        </p:txBody>
      </p:sp>
    </p:spTree>
    <p:extLst>
      <p:ext uri="{BB962C8B-B14F-4D97-AF65-F5344CB8AC3E}">
        <p14:creationId xmlns:p14="http://schemas.microsoft.com/office/powerpoint/2010/main" val="18677801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2026-06-01T07:56:13.2310000Z</dcterms:created>
  <dcterms:modified xsi:type="dcterms:W3CDTF">2026-06-01T07:56:13.2310000Z</dcterms:modified>
</coreProperties>
</file>