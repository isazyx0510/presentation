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29c076250f64320" /><Relationship Type="http://schemas.openxmlformats.org/officeDocument/2006/relationships/extended-properties" Target="/docProps/app.xml" Id="Ra917b3f4266444f2" /><Relationship Type="http://schemas.openxmlformats.org/officeDocument/2006/relationships/officeDocument" Target="/ppt/presentation.xml" Id="R79b9d5bc99c14a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7b2235203204e81"/>
  </p:sldMasterIdLst>
  <p:notesMasterIdLst>
    <p:notesMasterId xmlns:r="http://schemas.openxmlformats.org/officeDocument/2006/relationships" r:id="Rddcd9c7ff16c4026"/>
  </p:notesMasterIdLst>
  <p:sldIdLst>
    <p:sldId xmlns:r="http://schemas.openxmlformats.org/officeDocument/2006/relationships" id="256" r:id="R529f27239f3049a9"/>
    <p:sldId xmlns:r="http://schemas.openxmlformats.org/officeDocument/2006/relationships" id="257" r:id="R64631c2ce93b4018"/>
    <p:sldId xmlns:r="http://schemas.openxmlformats.org/officeDocument/2006/relationships" id="258" r:id="R9f8730ee885c414e"/>
    <p:sldId xmlns:r="http://schemas.openxmlformats.org/officeDocument/2006/relationships" id="259" r:id="R1e314f11249b4b0e"/>
    <p:sldId xmlns:r="http://schemas.openxmlformats.org/officeDocument/2006/relationships" id="260" r:id="R6036454b7e0d4b71"/>
    <p:sldId xmlns:r="http://schemas.openxmlformats.org/officeDocument/2006/relationships" id="261" r:id="R4840cf186af2424d"/>
    <p:sldId xmlns:r="http://schemas.openxmlformats.org/officeDocument/2006/relationships" id="262" r:id="R6f83c0f12cd44a25"/>
    <p:sldId xmlns:r="http://schemas.openxmlformats.org/officeDocument/2006/relationships" id="263" r:id="R68bbe1c6c3be4ab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b2235203204e81" /><Relationship Type="http://schemas.openxmlformats.org/officeDocument/2006/relationships/theme" Target="/ppt/theme/theme1.xml" Id="Rcf7dfb9f5fc6456c" /><Relationship Type="http://schemas.openxmlformats.org/officeDocument/2006/relationships/notesMaster" Target="/ppt/notesMasters/notesMaster1.xml" Id="Rddcd9c7ff16c4026" /><Relationship Type="http://schemas.openxmlformats.org/officeDocument/2006/relationships/presProps" Target="/ppt/presProps.xml" Id="R50cea4f8d2dc4cc7" /><Relationship Type="http://schemas.openxmlformats.org/officeDocument/2006/relationships/viewProps" Target="/ppt/viewProps.xml" Id="Rcef996e708d448e7" /><Relationship Type="http://schemas.openxmlformats.org/officeDocument/2006/relationships/tableStyles" Target="/ppt/tableStyles.xml" Id="Raea51436720c407b" /><Relationship Type="http://schemas.openxmlformats.org/officeDocument/2006/relationships/slide" Target="/ppt/slides/slide1.xml" Id="R529f27239f3049a9" /><Relationship Type="http://schemas.openxmlformats.org/officeDocument/2006/relationships/slide" Target="/ppt/slides/slide2.xml" Id="R64631c2ce93b4018" /><Relationship Type="http://schemas.openxmlformats.org/officeDocument/2006/relationships/slide" Target="/ppt/slides/slide3.xml" Id="R9f8730ee885c414e" /><Relationship Type="http://schemas.openxmlformats.org/officeDocument/2006/relationships/slide" Target="/ppt/slides/slide4.xml" Id="R1e314f11249b4b0e" /><Relationship Type="http://schemas.openxmlformats.org/officeDocument/2006/relationships/slide" Target="/ppt/slides/slide5.xml" Id="R6036454b7e0d4b71" /><Relationship Type="http://schemas.openxmlformats.org/officeDocument/2006/relationships/slide" Target="/ppt/slides/slide6.xml" Id="R4840cf186af2424d" /><Relationship Type="http://schemas.openxmlformats.org/officeDocument/2006/relationships/slide" Target="/ppt/slides/slide7.xml" Id="R6f83c0f12cd44a25" /><Relationship Type="http://schemas.openxmlformats.org/officeDocument/2006/relationships/slide" Target="/ppt/slides/slide8.xml" Id="R68bbe1c6c3be4a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a761458441a046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bc8bbba2045453a" /><Relationship Type="http://schemas.openxmlformats.org/officeDocument/2006/relationships/notesMaster" Target="/ppt/notesMasters/notesMaster1.xml" Id="Raedb1550a7d14c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c96ab0029cf4008" /><Relationship Type="http://schemas.openxmlformats.org/officeDocument/2006/relationships/notesMaster" Target="/ppt/notesMasters/notesMaster1.xml" Id="Rcc913ebf71204c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af303fd005e4c82" /><Relationship Type="http://schemas.openxmlformats.org/officeDocument/2006/relationships/notesMaster" Target="/ppt/notesMasters/notesMaster1.xml" Id="Rac8d1f037fa745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ac68c4cfc84868" /><Relationship Type="http://schemas.openxmlformats.org/officeDocument/2006/relationships/notesMaster" Target="/ppt/notesMasters/notesMaster1.xml" Id="R918d0e7e18d7423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6dab5f64f1a4c3e" /><Relationship Type="http://schemas.openxmlformats.org/officeDocument/2006/relationships/notesMaster" Target="/ppt/notesMasters/notesMaster1.xml" Id="Rbb300c09a5dc499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350d4cfd88c4d22" /><Relationship Type="http://schemas.openxmlformats.org/officeDocument/2006/relationships/notesMaster" Target="/ppt/notesMasters/notesMaster1.xml" Id="R40ba28cd508d4d4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25bdb89d2f439f" /><Relationship Type="http://schemas.openxmlformats.org/officeDocument/2006/relationships/notesMaster" Target="/ppt/notesMasters/notesMaster1.xml" Id="R66fe2f627db043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e404d743d904ace" /><Relationship Type="http://schemas.openxmlformats.org/officeDocument/2006/relationships/notesMaster" Target="/ppt/notesMasters/notesMaster1.xml" Id="R99b3244ed79f44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75e98ce77a4fa2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4e419cfd81f411f" /><Relationship Type="http://schemas.openxmlformats.org/officeDocument/2006/relationships/slideLayout" Target="/ppt/slideLayouts/slideLayout2.xml" Id="R0d02ad3ebfbf408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02ad3ebfbf40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ef30e2bc3f34fac" /><Relationship Type="http://schemas.openxmlformats.org/officeDocument/2006/relationships/notesSlide" Target="/ppt/notesSlides/notesSlide1.xml" Id="Rf9ca3a3f92084c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d19180053449b4" /><Relationship Type="http://schemas.openxmlformats.org/officeDocument/2006/relationships/notesSlide" Target="/ppt/notesSlides/notesSlide2.xml" Id="R60ea3ae64a624b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916933bf1b041b4" /><Relationship Type="http://schemas.openxmlformats.org/officeDocument/2006/relationships/notesSlide" Target="/ppt/notesSlides/notesSlide3.xml" Id="R262272daef3c42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f9c6162d7c4d8d" /><Relationship Type="http://schemas.openxmlformats.org/officeDocument/2006/relationships/notesSlide" Target="/ppt/notesSlides/notesSlide4.xml" Id="R852a97d8e46143d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4af36cbf234a40" /><Relationship Type="http://schemas.openxmlformats.org/officeDocument/2006/relationships/notesSlide" Target="/ppt/notesSlides/notesSlide5.xml" Id="Re9a8499ca3e84c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621617cd5a41db" /><Relationship Type="http://schemas.openxmlformats.org/officeDocument/2006/relationships/notesSlide" Target="/ppt/notesSlides/notesSlide6.xml" Id="R4b1eca43068646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5a08ecf9a445a4" /><Relationship Type="http://schemas.openxmlformats.org/officeDocument/2006/relationships/notesSlide" Target="/ppt/notesSlides/notesSlide7.xml" Id="R35e5f6a96df34ff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07fe0d781b4dbe" /><Relationship Type="http://schemas.openxmlformats.org/officeDocument/2006/relationships/notesSlide" Target="/ppt/notesSlides/notesSlide8.xml" Id="R6369f89da6ec4a6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32EC1C-66E0-4ED9-A12E-6ACB442F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F2FBF1-B38E-4988-8BB1-A6805BA15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41985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NAFEncoderLSNet |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80E372-333A-4FD9-8BB7-9AF7FE19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6858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000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rPr>
              <a:t>NAFEncoderLSNet 架构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7F9ED1-AECE-4311-A3D7-BD2A928F3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7429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Encoder-only NAF backbone + LS recovery parameter heads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C8F08B-FA70-4B66-AEC5-C29EADDB6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1600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B7E4C7"/>
          </a:solidFill>
          <a:ln xmlns:a="http://schemas.openxmlformats.org/drawingml/2006/main" w="19050">
            <a:solidFill>
              <a:srgbClr val="1B4332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Input adapter</a:t>
            </a:r>
          </a:p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 x C_in x N_sc x 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2E8CC-38D2-43A2-A9C8-D2442F02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409950"/>
            <a:ext cx="485775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40F50-6598-4AFF-8E8F-5C4159AE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028950"/>
            <a:ext cx="1600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E08A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NAF Encoder</a:t>
            </a:r>
          </a:p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stem + 2 downsamples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4FEE05-3DCF-45E7-A504-15C6ECF8D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09950"/>
            <a:ext cx="485775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421C37-D13A-4D8F-8D17-B94CAD48A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28950"/>
            <a:ext cx="1600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Bottleneck</a:t>
            </a:r>
          </a:p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 x 4C x N_sc/4 x T/4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FEE0E-457E-455E-A2E8-FAFC0ADB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409950"/>
            <a:ext cx="485775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E46B67-79E8-4B0C-9FEA-766491AB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028950"/>
            <a:ext cx="1600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8C4C4"/>
          </a:solidFill>
          <a:ln xmlns:a="http://schemas.openxmlformats.org/drawingml/2006/main" w="19050">
            <a:solidFill>
              <a:srgbClr val="9B222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Heads</a:t>
            </a:r>
          </a:p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mu / rho / delta / alpha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980E7F-19B9-4B6D-80EC-A10C4BE2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409950"/>
            <a:ext cx="485775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4748A1-0916-4565-B293-0CFC958B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028950"/>
            <a:ext cx="160020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B7E4C7"/>
          </a:solidFill>
          <a:ln xmlns:a="http://schemas.openxmlformats.org/drawingml/2006/main" w="19050">
            <a:solidFill>
              <a:srgbClr val="1B4332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Output contract</a:t>
            </a:r>
          </a:p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theta + alpha + path_prob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903033-5134-4132-B6C1-3F42E998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985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讲述主线：不预测 G_hat，而是从压缩后的 bottleneck 直接估计物理参数，并交给 recoveryMode='ls_from_packed_theta' 做 LS 恢复。</a:t>
            </a:r>
          </a:p>
        </p:txBody>
      </p:sp>
    </p:spTree>
    <p:extLst>
      <p:ext uri="{BB962C8B-B14F-4D97-AF65-F5344CB8AC3E}">
        <p14:creationId xmlns:p14="http://schemas.microsoft.com/office/powerpoint/2010/main" val="20593748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DEF2BA-9261-4DAA-9D19-4C7190C75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54B7C0-3731-4B68-90A7-03C3DACC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41985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NAFEncoderLSNet |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44CCA6-6F6E-4575-8DC6-F562FCED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Initialization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70A91C-2267-4BD7-AA84-351DB211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rPr>
              <a:t>配置入口与物理范围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AA89A34-71F0-433D-B64A-2E57DA7F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0C62CF-7A3B-4F1F-BDF0-0D9A17A4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66850"/>
            <a:ext cx="149352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6A3293-8A6D-4C2C-8628-B12D2A36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14475"/>
            <a:ext cx="134112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变量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B5AB93F-D945-43A6-8BA3-3AA3FDD05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370" y="1466850"/>
            <a:ext cx="165354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F52A53-2937-4C5B-A0E3-B1C9CD17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570" y="1514475"/>
            <a:ext cx="150114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来源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C89182-A66F-4292-B7DA-7670085E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1910" y="1466850"/>
            <a:ext cx="218694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FE7739-6B2E-49A1-9569-C68F94920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110" y="1514475"/>
            <a:ext cx="203454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用途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3136D8-330F-449D-99A4-378454DC8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81200"/>
            <a:ext cx="149352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488747-FC39-4E22-9AFB-02A724F9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28825"/>
            <a:ext cx="134112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Aptos Mono"/>
                <a:ea typeface="Aptos Mono"/>
                <a:cs typeface="Aptos Mono"/>
              </a:defRPr>
            </a:pPr>
            <a:r>
              <a:rPr sz="953" b="0">
                <a:solidFill>
                  <a:srgbClr val="5B6472"/>
                </a:solidFill>
                <a:latin typeface="Aptos Mono"/>
                <a:ea typeface="Aptos Mono"/>
                <a:cs typeface="Aptos Mono"/>
              </a:rPr>
              <a:t>n_rx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3A2A0E-3DEF-430E-BA43-3679704C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370" y="1981200"/>
            <a:ext cx="165354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5C6228-CD39-4B90-A87C-E7438076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570" y="2028825"/>
            <a:ext cx="150114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cfg.N_rx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C24950-D256-4697-A16F-D96FDB90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1910" y="1981200"/>
            <a:ext cx="218694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25EEEB-7E4B-454C-AD8C-816D115E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110" y="2028825"/>
            <a:ext cx="203454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接收天线数量，决定 delta_rx 维度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F59DB7-6056-42AB-829B-404113FF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95550"/>
            <a:ext cx="149352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1C12EF-A710-4E9C-9E22-BAD902689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43175"/>
            <a:ext cx="134112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Aptos Mono"/>
                <a:ea typeface="Aptos Mono"/>
                <a:cs typeface="Aptos Mono"/>
              </a:defRPr>
            </a:pPr>
            <a:r>
              <a:rPr sz="953" b="0">
                <a:solidFill>
                  <a:srgbClr val="5B6472"/>
                </a:solidFill>
                <a:latin typeface="Aptos Mono"/>
                <a:ea typeface="Aptos Mono"/>
                <a:cs typeface="Aptos Mono"/>
              </a:rPr>
              <a:t>l_eff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72D621-CDE2-421A-8E63-366738E7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370" y="2495550"/>
            <a:ext cx="165354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35288F-2448-4515-8513-C9BBB341A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570" y="2543175"/>
            <a:ext cx="150114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cfg.L_eff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D42E53-577B-47F4-B2B0-674087C62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1910" y="2495550"/>
            <a:ext cx="218694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72855F-C838-4219-AE7D-75C7868F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110" y="2543175"/>
            <a:ext cx="203454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有效路径数量，决定各 path head 维度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4901D1-947F-495A-8667-F4BCED800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09900"/>
            <a:ext cx="149352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D239A3-D86C-4B2F-A479-9E88C122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57525"/>
            <a:ext cx="134112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Aptos Mono"/>
                <a:ea typeface="Aptos Mono"/>
                <a:cs typeface="Aptos Mono"/>
              </a:defRPr>
            </a:pPr>
            <a:r>
              <a:rPr sz="953" b="0">
                <a:solidFill>
                  <a:srgbClr val="5B6472"/>
                </a:solidFill>
                <a:latin typeface="Aptos Mono"/>
                <a:ea typeface="Aptos Mono"/>
                <a:cs typeface="Aptos Mono"/>
              </a:rPr>
              <a:t>n_sc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FAA887-E159-4A08-9B40-09F4F163E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370" y="3009900"/>
            <a:ext cx="165354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0D69249-0A59-4F32-8C5A-174D7635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570" y="3057525"/>
            <a:ext cx="150114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cfg.N_sc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3FCE6DD-99B4-4289-83B3-007605310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1910" y="3009900"/>
            <a:ext cx="218694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F15592-F5D1-4F09-AAED-383DEC960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110" y="3057525"/>
            <a:ext cx="203454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子载波数量，决定频率轴 soft-argmax 分辨率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FBEAD1-BE51-44DC-BF93-E75C9E15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24250"/>
            <a:ext cx="149352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3DCCC8-8058-43C6-9563-24B70B0E4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71875"/>
            <a:ext cx="134112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Aptos Mono"/>
                <a:ea typeface="Aptos Mono"/>
                <a:cs typeface="Aptos Mono"/>
              </a:defRPr>
            </a:pPr>
            <a:r>
              <a:rPr sz="953" b="0">
                <a:solidFill>
                  <a:srgbClr val="5B6472"/>
                </a:solidFill>
                <a:latin typeface="Aptos Mono"/>
                <a:ea typeface="Aptos Mono"/>
                <a:cs typeface="Aptos Mono"/>
              </a:rPr>
              <a:t>in_ch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DF6503-05A9-4831-94CC-FAE9F5F7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370" y="3524250"/>
            <a:ext cx="165354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A9A212D-4648-4196-850F-249AA723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570" y="3571875"/>
            <a:ext cx="150114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input_adapter_dim(cfg)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4BBF83D-2709-4645-B158-C6F48BBE9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1910" y="3524250"/>
            <a:ext cx="218694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B05AF5-4800-48CF-B580-9F36AEDF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110" y="3571875"/>
            <a:ext cx="203454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输入通道数，适配不同观测打包方式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4E2D491-8D72-4CBC-A5A2-FA7FFFC0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38600"/>
            <a:ext cx="149352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8A20BE-E82C-4E47-8D70-EB69A663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86225"/>
            <a:ext cx="134112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Aptos Mono"/>
                <a:ea typeface="Aptos Mono"/>
                <a:cs typeface="Aptos Mono"/>
              </a:defRPr>
            </a:pPr>
            <a:r>
              <a:rPr sz="953" b="0">
                <a:solidFill>
                  <a:srgbClr val="5B6472"/>
                </a:solidFill>
                <a:latin typeface="Aptos Mono"/>
                <a:ea typeface="Aptos Mono"/>
                <a:cs typeface="Aptos Mono"/>
              </a:rPr>
              <a:t>base_ch / hidden / dropout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ED83687-8ACA-4ADA-9F94-E5A60896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8370" y="4038600"/>
            <a:ext cx="165354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AE68E0-530B-489E-A644-B5A6C5B2E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4570" y="4086225"/>
            <a:ext cx="150114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cfg or default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FE50B60-317A-44B7-B7C5-C296CB1F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1910" y="4038600"/>
            <a:ext cx="218694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F64755D-1591-44FD-9121-EA1D3F21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8110" y="4086225"/>
            <a:ext cx="203454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控制 encoder 宽度、MLP 宽度和正则化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96E9CF-E007-412F-B3AA-F75F9814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38300"/>
            <a:ext cx="3143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E08A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_slope_bounds(bounds, scale, sign)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B35DE5-46E3-49F3-A440-A7055378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152400" cy="4191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B26A0F5-BCA2-4A87-9605-5DDAED73B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0"/>
            <a:ext cx="3733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mu_min / mu_max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relDelayRangeSec + subcarrierSpacingHz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sign = -1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F2B65D7-92F2-410B-8528-33D8B1690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52850"/>
            <a:ext cx="3733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rho_min / rho_max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dopplerRangeHz + ofdmSymbolDuration_s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sign = +1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2593FB2-D577-4CCE-825D-35F690A34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648200"/>
            <a:ext cx="373380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delta_bound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rxOffsetRangeSec 的最大绝对斜率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599E0FF-D0AD-4D17-B960-8255A1D2E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2CE0771-B384-4948-8499-E54E7CE7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76900"/>
            <a:ext cx="7258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所有 head 的输出先被约束到物理可解释范围，再做 gauge fix。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23DBF31-118C-41E0-9728-DA307C84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102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ADB2D99-ED7E-4572-9E66-72DBB5D69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962650"/>
            <a:ext cx="7258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mu 和 delta 使用负号映射延迟斜率，rho 使用正号映射 Doppler 斜率。</a:t>
            </a:r>
          </a:p>
        </p:txBody>
      </p:sp>
    </p:spTree>
    <p:extLst>
      <p:ext uri="{BB962C8B-B14F-4D97-AF65-F5344CB8AC3E}">
        <p14:creationId xmlns:p14="http://schemas.microsoft.com/office/powerpoint/2010/main" val="39817577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41D6DE-4878-4FB5-BDDC-FEE1840BF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459F56-C28D-4F6B-924B-7E726931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41985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NAFEncoderLSNet |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FAF6B-004D-4688-BAAB-FC022B8A0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Stem, downsampling, bottleneck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748D5-D3B5-4BE3-BB99-E6E089CE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rPr>
              <a:t>Encoder 主干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0D88C3-1C74-4732-82E2-850D2E28D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40D23D-98DC-4936-8009-BD1A41F7B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86000"/>
            <a:ext cx="14859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B7E4C7"/>
          </a:solidFill>
          <a:ln xmlns:a="http://schemas.openxmlformats.org/drawingml/2006/main" w="19050">
            <a:solidFill>
              <a:srgbClr val="1B4332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x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 x C_in x N_sc x 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04AC4E-19CA-4183-9F73-ACA1F3566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657475"/>
            <a:ext cx="4381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52E532-F162-40AA-8775-410323C7A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286000"/>
            <a:ext cx="14859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E08A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stem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Conv2d 1x1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C_in -&gt; 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6CD89C-F48A-44A8-8DFD-4318FFACD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657475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39DDA9-AEAC-47EB-8E12-3E29D7ED7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286000"/>
            <a:ext cx="14859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E08A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stage1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NAFBlock x1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EAEA0C-A9C1-430C-B77A-88109D62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57475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231DAB-BC78-4F6C-A2E0-FB1CD0976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286000"/>
            <a:ext cx="14859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down1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Conv3x3 s=2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 -&gt; 2C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202529-883C-49CC-A1A5-F2BA53E07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57475"/>
            <a:ext cx="3810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651FB4-16DF-475C-9655-F25A03C3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86000"/>
            <a:ext cx="14859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FFE08A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stage2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NAFBlock x2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FCEFD1-3243-45C8-9CD2-9E690DB88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095750"/>
            <a:ext cx="1809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down2</a:t>
            </a:r>
          </a:p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Conv3x3 s=2</a:t>
            </a:r>
          </a:p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2C -&gt; 4C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C62362-1AE8-4591-A32D-1E910DCD0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095750"/>
            <a:ext cx="18097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dropout2d</a:t>
            </a:r>
          </a:p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optional regularization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34EDE5-491E-4C6B-AF05-ECEB3475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238125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FFE08A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bottleneck</a:t>
            </a:r>
          </a:p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NAFBlock x1</a:t>
            </a:r>
          </a:p>
          <a:p xmlns:a="http://schemas.openxmlformats.org/drawingml/2006/main">
            <a:pPr algn="ctr">
              <a:def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 x 4C x N_sc/4 x T/4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49E51C-C0B3-4ED6-A09A-80BDB3603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3219450"/>
            <a:ext cx="5819775" cy="81915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64748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9DF087-CFAB-4FD3-A014-1C389B8CF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4448175"/>
            <a:ext cx="4191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B1DA83-B208-4861-9789-9985F79E1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448175"/>
            <a:ext cx="4191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83CC64-E81E-47E5-AD8C-FE8F01B0C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054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8E566D-5869-423E-9ECE-F11EB4D1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657850"/>
            <a:ext cx="906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两次 stride=2 是各向同性下采样，频率轴和时间轴同时压缩。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6E1C65-6945-4A21-BFCD-5011E3B5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912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DDE75A-980E-49A3-A32A-5DAB09A5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943600"/>
            <a:ext cx="9067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当 T=2 时，第一次下采样后时间轴通常已经变成 1，因此 rho 不走时间 soft-argmax。</a:t>
            </a:r>
          </a:p>
        </p:txBody>
      </p:sp>
    </p:spTree>
    <p:extLst>
      <p:ext uri="{BB962C8B-B14F-4D97-AF65-F5344CB8AC3E}">
        <p14:creationId xmlns:p14="http://schemas.microsoft.com/office/powerpoint/2010/main" val="5107089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CD0BC1-D476-490F-893C-B2201CE2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886E20-2423-4049-BAB2-018672E04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41985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NAFEncoderLSNet |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6726D-26CA-4F1C-91EA-4FC2A624E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Path delay slope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ACC22F-680F-40E7-B737-C8392EA9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rPr>
              <a:t>mu Head: 频率轴 Soft-Argmax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6BEB2D-F6D1-4A51-846D-14269FD5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F6FEFD-CE64-4C9A-A4B3-3085D306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209550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bottleneck feature f</a:t>
            </a:r>
          </a:p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 x 4C x H' x T'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084E2-9FB8-4308-AFB0-F9C8071D7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266950"/>
            <a:ext cx="21907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8C4C4"/>
          </a:solidFill>
          <a:ln xmlns:a="http://schemas.openxmlformats.org/drawingml/2006/main" w="19050">
            <a:solidFill>
              <a:srgbClr val="9B222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mu_proj</a:t>
            </a:r>
          </a:p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Conv1x1: 4C -&gt; L_eff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8DDA1C-8A78-4C7C-AD31-E5EAE0C33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66950"/>
            <a:ext cx="21907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mean over time</a:t>
            </a:r>
          </a:p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 x L_eff x H'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F6D11E-3630-4918-BB9B-69289029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66950"/>
            <a:ext cx="21907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6B26B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softmax + grid sum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range: [mu_min, mu_max]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1DC9B3-E848-41F4-B086-09DCB372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590800"/>
            <a:ext cx="647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A2F05F-647F-436C-93CF-EC509D19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590800"/>
            <a:ext cx="6477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96D1D-897A-4998-B23D-CEBD7C10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590800"/>
            <a:ext cx="5524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8CBE50-983E-4EEA-BA97-C38B6076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324350"/>
            <a:ext cx="1809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mu_abs</a:t>
            </a:r>
          </a:p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 x L_eff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88AA82-5568-4FE5-AAA1-8AC4C3AB4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286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6B26B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gauge_fix_mu(mu_abs)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9198357-7573-442F-9724-5087FAC2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24350"/>
            <a:ext cx="2190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B7E4C7"/>
          </a:solidFill>
          <a:ln xmlns:a="http://schemas.openxmlformats.org/drawingml/2006/main" w="19050">
            <a:solidFill>
              <a:srgbClr val="1B4332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mu0, mu_rel</a:t>
            </a:r>
          </a:p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reference + relative paths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ADCAA4-F3EE-4BC6-BF48-B513A13FD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105150"/>
            <a:ext cx="6286500" cy="116205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64748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86A2B1-A32B-41F0-B842-9904F067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581525"/>
            <a:ext cx="6667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64B664-F505-4005-9558-FE104377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581525"/>
            <a:ext cx="6667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CB27B4-E8E2-4190-9F90-E3C1FF80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核心思想：每条 path 在压缩频率轴 H' 上形成一个概率分布，用期望值把离散位置映射为连续的 mu_abs。</a:t>
            </a:r>
          </a:p>
        </p:txBody>
      </p:sp>
    </p:spTree>
    <p:extLst>
      <p:ext uri="{BB962C8B-B14F-4D97-AF65-F5344CB8AC3E}">
        <p14:creationId xmlns:p14="http://schemas.microsoft.com/office/powerpoint/2010/main" val="57778491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3DFED1-CD64-4FF1-8CA1-C06A3211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DB0C11-0E14-433F-A4AE-A02754417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41985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NAFEncoderLSNet |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D697C0-7311-4709-86DA-BE3CC3B2A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Global pooled bottleneck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9B062-E0AB-41D2-9897-99686DE6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rPr>
              <a:t>rho / delta / alpha Heads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B479F1-0BAB-4B58-A37E-FE862EDC3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8926B5-D6BC-48AF-9DAE-31E5C3B5F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09700"/>
            <a:ext cx="2381250" cy="704850"/>
          </a:xfrm>
          <a:prstGeom xmlns:a="http://schemas.openxmlformats.org/drawingml/2006/main" prst="roundRect">
            <a:avLst>
              <a:gd name="adj" fmla="val 10811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f.mean(dim=(2,3))</a:t>
            </a:r>
          </a:p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pooled: B x 4C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EBC41-89FB-4914-9A01-C46ED9DC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8130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C4C4"/>
          </a:solidFill>
          <a:ln xmlns:a="http://schemas.openxmlformats.org/drawingml/2006/main" w="19050">
            <a:solidFill>
              <a:srgbClr val="9B222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rho_head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Linear 4C -&gt; hidden -&gt; L_eff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FDF3C5-301F-4DE7-928E-9A4090B05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9433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sigmoid scale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rho_min + extent * sigmoid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B96AE1-9B31-4D2E-B64C-C4B981605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0540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6B26B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gauge_fix_rho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rho0, rho_rel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BCBFA-C9B8-4EDA-BDDB-17090F95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152650"/>
            <a:ext cx="3743325" cy="5715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64748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5BB097-DB4A-4406-BF5A-CA984A64E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600450"/>
            <a:ext cx="1524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9B2FEC-5B9F-4ED0-ABBC-6F6E15395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762500"/>
            <a:ext cx="1524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FD4C34-55D9-430A-B6DA-DEAAC3A9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8130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C4C4"/>
          </a:solidFill>
          <a:ln xmlns:a="http://schemas.openxmlformats.org/drawingml/2006/main" w="19050">
            <a:solidFill>
              <a:srgbClr val="9B222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delta_head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Linear 4C -&gt; hidden -&gt; N_rx-1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DAA0A2-21FB-4369-9F36-E182A883D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433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tanh scale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[-delta_bound, delta_bound]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681FC3-DC17-4C23-88AE-D6D23A0B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10540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6B26B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prepend zero + gauge_fix_delta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delta_rx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9044B2-3902-4140-A787-8F977ED9F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52650"/>
            <a:ext cx="352425" cy="5715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64748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148855-DDF2-43DE-98B4-3CFD65AFB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600450"/>
            <a:ext cx="1524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89FD12-5ECE-4341-B350-EB5617D97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762500"/>
            <a:ext cx="1524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337626-A302-4AE2-BC89-A4FA4D0D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8130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8C4C4"/>
          </a:solidFill>
          <a:ln xmlns:a="http://schemas.openxmlformats.org/drawingml/2006/main" w="19050">
            <a:solidFill>
              <a:srgbClr val="9B222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alpha_head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Linear 4C -&gt; hidden -&gt; L_eff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3A263D-F0AB-49B8-AA2A-9EF0DF74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4335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softplus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positive path strength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4F6781-A8C5-417B-9FA1-597FE4A1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105400"/>
            <a:ext cx="24765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B7E4C7"/>
          </a:solidFill>
          <a:ln xmlns:a="http://schemas.openxmlformats.org/drawingml/2006/main" w="19050">
            <a:solidFill>
              <a:srgbClr val="1B4332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alpha</a:t>
            </a:r>
          </a:p>
          <a:p xmlns:a="http://schemas.openxmlformats.org/drawingml/2006/main">
            <a:pPr algn="ctr">
              <a:def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 x L_eff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F516CE-C870-4803-BD71-76D29C2EF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2152650"/>
            <a:ext cx="3038475" cy="57150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64748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FC07A58-E6F0-4CF5-A4DB-9F700AB0B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600450"/>
            <a:ext cx="1524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35BB18-56BF-445B-A6A2-50C02848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62500"/>
            <a:ext cx="1524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FB982A-BED6-4150-B761-88B4F256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952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rho 选择全局池化 MLP，是因为当前 T=2 时 bottleneck 时间轴会坍缩为单点；alpha 用 softplus 保证非负。</a:t>
            </a:r>
          </a:p>
        </p:txBody>
      </p:sp>
    </p:spTree>
    <p:extLst>
      <p:ext uri="{BB962C8B-B14F-4D97-AF65-F5344CB8AC3E}">
        <p14:creationId xmlns:p14="http://schemas.microsoft.com/office/powerpoint/2010/main" val="39040367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A7EC1B-19A9-450F-8FF3-BD3988B6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81D6CC-98D3-4C39-9DCE-A6FFE1F3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41985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NAFEncoderLSNet | 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27BA2C-E3DE-462B-975C-C348878B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Optional existence probability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29E4DA-47A4-438E-A881-202428D24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rPr>
              <a:t>path_prob Head 与兼容性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987598-B952-4542-BF89-1F554585A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3FC260-D12F-47D5-81AE-F9DE9CD11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71650"/>
            <a:ext cx="2476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E08A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cfg.usePathProbHead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76AFC-1429-4B66-960A-B21F2665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466850"/>
            <a:ext cx="3143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8C4C4"/>
          </a:solidFill>
          <a:ln xmlns:a="http://schemas.openxmlformats.org/drawingml/2006/main" w="19050">
            <a:solidFill>
              <a:srgbClr val="9B222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True</a:t>
            </a:r>
          </a:p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path_prob_head MLP</a:t>
            </a:r>
          </a:p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4C -&gt; hidden -&gt; L_eff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967892-8CBA-4E47-A447-3963E397B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95600"/>
            <a:ext cx="3143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False</a:t>
            </a:r>
          </a:p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ones(B, L_eff)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DEA88E-1550-4A5E-B933-651FC0D5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209800"/>
            <a:ext cx="20002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B7E4C7"/>
          </a:solidFill>
          <a:ln xmlns:a="http://schemas.openxmlformats.org/drawingml/2006/main" w="19050">
            <a:solidFill>
              <a:srgbClr val="1B4332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path_prob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B x L_eff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EECC91-3CEF-49C0-8B22-1C8C2CF20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1924050"/>
            <a:ext cx="933450" cy="219075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7B8BB3-1CA2-469B-B3F4-E1CBEA8F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143125"/>
            <a:ext cx="933450" cy="1114425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2F6D63-FE31-475A-8C2D-F1C930B2D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924050"/>
            <a:ext cx="952500" cy="5715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7AACF-6CA0-47DA-B58C-29438D62F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952500" cy="533400"/>
          </a:xfrm>
          <a:prstGeom xmlns:a="http://schemas.openxmlformats.org/drawingml/2006/main" prst="line">
            <a:avLst/>
          </a:prstGeom>
          <a:ln xmlns:a="http://schemas.openxmlformats.org/drawingml/2006/main" w="19050">
            <a:solidFill>
              <a:srgbClr val="3341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DB0817-8465-477E-92C6-9736EA0E6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434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57C31B-0325-4139-A178-F97C9F25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95800"/>
            <a:ext cx="878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默认关闭时保持旧 checkpoint 可加载：模型没有 path_prob_head 权重，也不会出现 missing key。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3497F7-457B-4B18-B8A6-42B94561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244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9EE848-483C-43C1-92BA-34F17800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876800"/>
            <a:ext cx="878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开启时每条 path 额外学习一个存在概率，经过 sigmoid 限制在 0 到 1。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D458C9-B8AB-4644-B855-1C4F36FAA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3054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45F818-A32B-4D68-AF61-C6B97DD2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257800"/>
            <a:ext cx="8782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关闭时等价于 legacy 行为：所有 L_eff 条 path 都被认为存在。</a:t>
            </a:r>
          </a:p>
        </p:txBody>
      </p:sp>
    </p:spTree>
    <p:extLst>
      <p:ext uri="{BB962C8B-B14F-4D97-AF65-F5344CB8AC3E}">
        <p14:creationId xmlns:p14="http://schemas.microsoft.com/office/powerpoint/2010/main" val="5066033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71F035A-BA1C-467A-8893-749D8BBE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30AAAF-0CC5-4A64-9244-8F8FA1708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41985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NAFEncoderLSNet | 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9AD65F-D428-4916-8082-75BF9449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Runtime data 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F29AAB-54D1-40CF-A733-9214B2978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rPr>
              <a:t>Forward Pass 汇总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627255-B278-4156-BF5D-6EF3E0A5E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EB90B9-9E65-452C-A054-5FB27BB9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B7E4C7"/>
          </a:solidFill>
          <a:ln xmlns:a="http://schemas.openxmlformats.org/drawingml/2006/main" w="19050">
            <a:solidFill>
              <a:srgbClr val="1B4332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shape check</a:t>
            </a:r>
          </a:p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x.ndim == 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9B97D4-4731-4FF4-994D-0B60C3059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143125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E2210-BCBE-4485-9C39-39E588BE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09750"/>
            <a:ext cx="23812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E08A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encode</a:t>
            </a:r>
          </a:p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stem -&gt; stage1 -&gt; down1 -&gt; stage2 -&gt; down2 -&gt; bottleneck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6A242-D223-4D61-B9E1-41B2A6D3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143125"/>
            <a:ext cx="609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1D65EB-13F4-4F56-8332-960450E0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0975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A9D6E5"/>
          </a:solidFill>
          <a:ln xmlns:a="http://schemas.openxmlformats.org/drawingml/2006/main" w="19050">
            <a:solidFill>
              <a:srgbClr val="014F8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pooled</a:t>
            </a:r>
          </a:p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mean over H', T'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EFAC69-C1B2-4C42-B0B0-FA8A1D90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143125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5B2CC4-1161-4AC2-AE38-9F1BA787A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09750"/>
            <a:ext cx="1809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8C4C4"/>
          </a:solidFill>
          <a:ln xmlns:a="http://schemas.openxmlformats.org/drawingml/2006/main" w="19050">
            <a:solidFill>
              <a:srgbClr val="9B2226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parameter heads</a:t>
            </a:r>
          </a:p>
          <a:p xmlns:a="http://schemas.openxmlformats.org/drawingml/2006/main">
            <a:pPr algn="ctr">
              <a:def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mu, rho, delta, alpha, path_prob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EB0941-A5DA-4514-B034-F3AA1FC6A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771900"/>
            <a:ext cx="342900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B26B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theta dict</a:t>
            </a:r>
          </a:p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mu0 / rho0 / delta_rx / mu_rel / rho_rel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0A21D5-7E92-4548-9EE2-3772BABE2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57600"/>
            <a:ext cx="1809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B7E4C7"/>
          </a:solidFill>
          <a:ln xmlns:a="http://schemas.openxmlformats.org/drawingml/2006/main" w="19050">
            <a:solidFill>
              <a:srgbClr val="1B4332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alpha</a:t>
            </a:r>
          </a:p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path strengths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26BF13-0C48-4CDB-8978-FDC418EEE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48200"/>
            <a:ext cx="18097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B7E4C7"/>
          </a:solidFill>
          <a:ln xmlns:a="http://schemas.openxmlformats.org/drawingml/2006/main" w="19050">
            <a:solidFill>
              <a:srgbClr val="1B4332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path_prob</a:t>
            </a:r>
          </a:p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existence scores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F0EE3E-B4C8-4083-9E58-0EBB5478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5105400" cy="104775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64748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C8EC11-18CC-43CD-9ADC-46768C72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67000"/>
            <a:ext cx="1600200" cy="93345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64748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974873-FE3D-406D-80EE-DFAFE4F21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67000"/>
            <a:ext cx="1600200" cy="1924050"/>
          </a:xfrm>
          <a:prstGeom xmlns:a="http://schemas.openxmlformats.org/drawingml/2006/main" prst="line">
            <a:avLst/>
          </a:prstGeom>
          <a:ln xmlns:a="http://schemas.openxmlformats.org/drawingml/2006/main" w="14288">
            <a:solidFill>
              <a:srgbClr val="64748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180D78-56DA-47B3-BB9D-83BECAE4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67400"/>
            <a:ext cx="933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返回值严格匹配 detr_path_dict 的 modelOutputMode contract；forward 不输出 G_hat。</a:t>
            </a:r>
          </a:p>
        </p:txBody>
      </p:sp>
    </p:spTree>
    <p:extLst>
      <p:ext uri="{BB962C8B-B14F-4D97-AF65-F5344CB8AC3E}">
        <p14:creationId xmlns:p14="http://schemas.microsoft.com/office/powerpoint/2010/main" val="5964885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7307D2C-9BE5-4C5F-A48E-58118D546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C"/>
          </a:solidFill>
          <a:ln xmlns:a="http://schemas.openxmlformats.org/drawingml/2006/main" w="0">
            <a:solidFill>
              <a:srgbClr val="F7F9FC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B54615-FC14-4B74-A52F-E0E0EADBA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419850"/>
            <a:ext cx="16954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NAFEncoderLSNet | 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9292B5-7395-43FE-8914-68AC5F50D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Closing 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7E2ED-F795-4627-8F45-4B2921B99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325" b="1">
                <a:solidFill>
                  <a:srgbClr val="111827"/>
                </a:solidFill>
                <a:latin typeface="Microsoft YaHei UI"/>
                <a:ea typeface="Microsoft YaHei UI"/>
                <a:cs typeface="Microsoft YaHei UI"/>
              </a:rPr>
              <a:t>输出接口与 LS Recovery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FCAB6E-04BD-42AA-894D-C72A98EDE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23950"/>
            <a:ext cx="1066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167781-2A63-44AE-90CE-D9981D9EF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466850"/>
            <a:ext cx="16535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24413-78B2-4203-A6EC-749C2BD22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514475"/>
            <a:ext cx="150114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Field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E85BF-C7C2-4682-88D3-A905C19F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2690" y="1466850"/>
            <a:ext cx="129921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7F67C-A49A-4F09-B57A-C94D36866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8890" y="1514475"/>
            <a:ext cx="114681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Shape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54870C-9D1F-409C-947C-F0CD84922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4668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8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9C8363-80B8-418E-937A-4FE24D161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514475"/>
            <a:ext cx="2800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Meaning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3F6CF7-2A2F-4527-AE2C-BDCF54239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24050"/>
            <a:ext cx="16535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831637-E5DA-44CD-8044-17189EDC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971675"/>
            <a:ext cx="150114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rPr>
              <a:t>theta.mu0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52FF8C-57E6-40DF-BECA-A3C99500B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2690" y="1924050"/>
            <a:ext cx="129921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2DEB16-A778-45B4-8969-0E14C6CFC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8890" y="1971675"/>
            <a:ext cx="114681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B x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2B1A6C-D017-4CC6-9A15-6FA19F1E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19240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35D828-ADBE-48BC-A09C-7FA31458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71675"/>
            <a:ext cx="2800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mu 的参考项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EABD8C-3C35-47E6-A6F9-A704D482E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16535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BCBA9D-1492-4F15-859F-AAD06A01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28875"/>
            <a:ext cx="150114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rPr>
              <a:t>theta.rho0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1EAC07-AE8B-42EF-984B-0B366150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2690" y="2381250"/>
            <a:ext cx="129921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68101C-C47C-4D6F-904F-3AA4CB07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8890" y="2428875"/>
            <a:ext cx="114681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B x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A96A4B-E59F-4E96-A0D6-7D22717C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812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0103F2-378E-4594-8C08-77C60BB59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428875"/>
            <a:ext cx="2800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rho 的参考项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D740932-2A4C-4BD7-85A6-3579ACEB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38450"/>
            <a:ext cx="16535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4C9921-DE85-4A56-A774-C17A1600A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86075"/>
            <a:ext cx="150114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rPr>
              <a:t>theta.delta_rx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28BE87-B959-456F-8EA2-7BA54A319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2690" y="2838450"/>
            <a:ext cx="129921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FB0EDC-A179-47B8-8EF5-4F4FEA4A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8890" y="2886075"/>
            <a:ext cx="114681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B x N_rx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7228B6-300C-4544-A56B-387BCC17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8384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B9F944-1799-4B56-9D13-FE076049F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886075"/>
            <a:ext cx="2800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接收端相对 offset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1DB4255-408A-4EA0-9FCD-EA8C2FA9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95650"/>
            <a:ext cx="16535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8AD633-69CC-467A-957E-939A2BC7D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343275"/>
            <a:ext cx="150114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rPr>
              <a:t>theta.mu_rel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CAC5E2-059A-4C08-AD83-2D99B9EF2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2690" y="3295650"/>
            <a:ext cx="129921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A7CA327-ACE5-409E-8560-CC761649D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8890" y="3343275"/>
            <a:ext cx="114681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B x L_eff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9F9DAA-2FAD-4940-A223-CD128E14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956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877AEB-C574-4A1F-A2A4-CA75032AE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43275"/>
            <a:ext cx="2800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相对 delay slope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12BE13E-13A9-4830-B603-3234991EE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16535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FB32F82-01C7-4959-8A08-772BEC69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00475"/>
            <a:ext cx="150114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rPr>
              <a:t>theta.rho_rel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4C58A7-EA73-45C0-8B34-231CBA703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2690" y="3752850"/>
            <a:ext cx="129921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57AD2D-FE53-40EE-84F5-AA59BDFE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8890" y="3800475"/>
            <a:ext cx="114681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B x L_eff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CE83F58-D7C7-4939-B118-EC3693E0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7528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CA5AD8-A879-474B-8D16-250F83536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800475"/>
            <a:ext cx="2800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相对 Doppler slope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4C5D78-DDE1-4C71-BD12-7416468F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10050"/>
            <a:ext cx="16535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431C832-E323-4A98-93C1-16B999E17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57675"/>
            <a:ext cx="150114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rPr>
              <a:t>alpha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BA92F1B-3C9D-44DF-B659-DF004BDA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2690" y="4210050"/>
            <a:ext cx="129921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C199E09-1BC3-4027-BACA-D43B7A98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8890" y="4257675"/>
            <a:ext cx="114681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B x L_eff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D75FD0C-BF73-4A02-90C6-447617850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2100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B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D35E43-8BD3-4D36-BCB0-5A444B3D5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257675"/>
            <a:ext cx="2800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非负路径强度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99E6FEE-0932-4877-95CA-359482E9F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667250"/>
            <a:ext cx="165354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C1C7137-576C-4744-B8AD-2219AA67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14875"/>
            <a:ext cx="150114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5B6472"/>
                </a:solidFill>
                <a:latin typeface="Aptos Mono"/>
                <a:ea typeface="Aptos Mono"/>
                <a:cs typeface="Aptos Mono"/>
              </a:rPr>
              <a:t>path_prob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6E73346-B45F-4FD6-957B-8C1B2B98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2690" y="4667250"/>
            <a:ext cx="129921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4B6E976-E9BC-407F-B1C6-CB455A72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8890" y="4714875"/>
            <a:ext cx="114681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B x L_eff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957D19-2291-46A4-9148-E503ECA6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46672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6EAF0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04B24BD-2FE1-4550-B065-A939167CE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714875"/>
            <a:ext cx="28003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路径存在概率或全 1 legacy fallback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B01F984-C783-4D10-B694-3FDA4FEB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943100"/>
            <a:ext cx="2857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E08A"/>
          </a:solidFill>
          <a:ln xmlns:a="http://schemas.openxmlformats.org/drawingml/2006/main" w="19050">
            <a:solidFill>
              <a:srgbClr val="B7791F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recoveryMode</a:t>
            </a:r>
          </a:p>
          <a:p xmlns:a="http://schemas.openxmlformats.org/drawingml/2006/main">
            <a:pPr algn="ctr">
              <a:def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'ls_from_packed_theta'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563C26F-8B8F-431F-A3D6-DEDB2BC1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3200400"/>
            <a:ext cx="2857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EF1F5"/>
          </a:solidFill>
          <a:ln xmlns:a="http://schemas.openxmlformats.org/drawingml/2006/main" w="19050">
            <a:solidFill>
              <a:srgbClr val="9AA3AF"/>
            </a:solidFill>
            <a:prstDash val="dash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No G_hat branch</a:t>
            </a:r>
          </a:p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encoder estimates physical theta only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8F2CEA-3287-4F7F-8C9F-EBA4CAE0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457700"/>
            <a:ext cx="2857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6B26B"/>
          </a:solidFill>
          <a:ln xmlns:a="http://schemas.openxmlformats.org/drawingml/2006/main" w="19050">
            <a:solidFill>
              <a:srgbClr val="B45309"/>
            </a:solidFill>
            <a:prstDash val="solid"/>
          </a:ln>
        </p:spPr>
        <p:txBody>
          <a:bodyPr xmlns:a="http://schemas.openxmlformats.org/drawingml/2006/main" lIns="95250" tIns="57150" rIns="95250" bIns="5715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LS recovery</a:t>
            </a:r>
          </a:p>
          <a:p xmlns:a="http://schemas.openxmlformats.org/drawingml/2006/main">
            <a:pPr algn="ctr">
              <a:def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11827"/>
                </a:solidFill>
                <a:latin typeface="Microsoft YaHei"/>
                <a:ea typeface="Microsoft YaHei"/>
                <a:cs typeface="Microsoft YaHei"/>
              </a:rPr>
              <a:t>uses packed theta downstream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AAFB143-E1D4-4E5A-A88B-65CF3CC73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24150"/>
            <a:ext cx="152400" cy="4191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3BEEAD9-02BB-41C8-863C-0BD6D631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981450"/>
            <a:ext cx="152400" cy="4191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solidFill>
              <a:srgbClr val="334155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5430586-5916-4113-807A-9733AD012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7692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E894827-21EF-4AD2-BE45-5DE3F9DAE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829300"/>
            <a:ext cx="763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这页可作为代码讲解的收束：网络负责物理参数估计，恢复步骤交给 LS。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F69AD8E-59A8-4070-AF8C-CD3CB6EF5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162675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2EB9894-04AC-4F2A-9DEA-A6B7A4536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15050"/>
            <a:ext cx="76390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19050" tIns="19050" rIns="19050" bIns="19050" anchor="t"/>
          <a:lstStyle xmlns:a="http://schemas.openxmlformats.org/drawingml/2006/main"/>
          <a:p xmlns:a="http://schemas.openxmlformats.org/drawingml/2006/main">
            <a:pPr algn="l">
              <a:defRPr sz="1088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5B6472"/>
                </a:solidFill>
                <a:latin typeface="Microsoft YaHei"/>
                <a:ea typeface="Microsoft YaHei"/>
                <a:cs typeface="Microsoft YaHei"/>
              </a:rPr>
              <a:t>重点强调 gauge-fixed theta 与 alpha/path_prob 是后续恢复的接口。</a:t>
            </a:r>
          </a:p>
        </p:txBody>
      </p:sp>
    </p:spTree>
    <p:extLst>
      <p:ext uri="{BB962C8B-B14F-4D97-AF65-F5344CB8AC3E}">
        <p14:creationId xmlns:p14="http://schemas.microsoft.com/office/powerpoint/2010/main" val="12397222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2026-05-29T14:26:58.0380000Z</dcterms:created>
  <dcterms:modified xsi:type="dcterms:W3CDTF">2026-05-29T14:26:58.0380000Z</dcterms:modified>
</coreProperties>
</file>